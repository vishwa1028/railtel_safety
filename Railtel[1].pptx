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60" r:id="rId1"/>
  </p:sldMasterIdLst>
  <p:notesMasterIdLst>
    <p:notesMasterId r:id="rId24"/>
  </p:notesMasterIdLst>
  <p:handoutMasterIdLst>
    <p:handoutMasterId r:id="rId25"/>
  </p:handoutMasterIdLst>
  <p:sldIdLst>
    <p:sldId id="315" r:id="rId2"/>
    <p:sldId id="323" r:id="rId3"/>
    <p:sldId id="335" r:id="rId4"/>
    <p:sldId id="332" r:id="rId5"/>
    <p:sldId id="360" r:id="rId6"/>
    <p:sldId id="361" r:id="rId7"/>
    <p:sldId id="362" r:id="rId8"/>
    <p:sldId id="364" r:id="rId9"/>
    <p:sldId id="363" r:id="rId10"/>
    <p:sldId id="328" r:id="rId11"/>
    <p:sldId id="377" r:id="rId12"/>
    <p:sldId id="365" r:id="rId13"/>
    <p:sldId id="330" r:id="rId14"/>
    <p:sldId id="366" r:id="rId15"/>
    <p:sldId id="367" r:id="rId16"/>
    <p:sldId id="369" r:id="rId17"/>
    <p:sldId id="370" r:id="rId18"/>
    <p:sldId id="371" r:id="rId19"/>
    <p:sldId id="375" r:id="rId20"/>
    <p:sldId id="372" r:id="rId21"/>
    <p:sldId id="373" r:id="rId22"/>
    <p:sldId id="376"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71F1F"/>
    <a:srgbClr val="F45A2A"/>
    <a:srgbClr val="C39BE1"/>
    <a:srgbClr val="85DFFF"/>
    <a:srgbClr val="FAA4F0"/>
    <a:srgbClr val="DB0BC2"/>
    <a:srgbClr val="FFBDBD"/>
    <a:srgbClr val="00B0F0"/>
    <a:srgbClr val="633B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8CD979-2DAA-4DCC-A5B0-94EACBD79FC8}" v="46" dt="2025-06-10T13:29:42.98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94444" autoAdjust="0"/>
  </p:normalViewPr>
  <p:slideViewPr>
    <p:cSldViewPr snapToGrid="0">
      <p:cViewPr varScale="1">
        <p:scale>
          <a:sx n="97" d="100"/>
          <a:sy n="97" d="100"/>
        </p:scale>
        <p:origin x="134" y="8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5" d="100"/>
          <a:sy n="55" d="100"/>
        </p:scale>
        <p:origin x="2880"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F839A57-8F1B-4771-8FDE-C5ED84E784B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6A9F3EE0-8EE5-4D16-9665-BB38B54A7D6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9B3EC63-DE96-40D9-A8C4-41552D27326F}" type="datetimeFigureOut">
              <a:rPr lang="en-IN" smtClean="0"/>
              <a:t>10-06-2025</a:t>
            </a:fld>
            <a:endParaRPr lang="en-IN"/>
          </a:p>
        </p:txBody>
      </p:sp>
      <p:sp>
        <p:nvSpPr>
          <p:cNvPr id="4" name="Footer Placeholder 3">
            <a:extLst>
              <a:ext uri="{FF2B5EF4-FFF2-40B4-BE49-F238E27FC236}">
                <a16:creationId xmlns:a16="http://schemas.microsoft.com/office/drawing/2014/main" id="{5169D972-A5E3-4F61-9E4F-3A71EFBA02B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1137DC22-0A1E-49A7-9DA5-265B56EAB1F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3D31B81-46EF-41DB-AB36-FF830E658FC8}" type="slidenum">
              <a:rPr lang="en-IN" smtClean="0"/>
              <a:t>‹#›</a:t>
            </a:fld>
            <a:endParaRPr lang="en-IN"/>
          </a:p>
        </p:txBody>
      </p:sp>
    </p:spTree>
    <p:extLst>
      <p:ext uri="{BB962C8B-B14F-4D97-AF65-F5344CB8AC3E}">
        <p14:creationId xmlns:p14="http://schemas.microsoft.com/office/powerpoint/2010/main" val="41989069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2F1193-CFEC-4502-81BF-8A583D7E65D5}" type="datetimeFigureOut">
              <a:rPr lang="en-IN" smtClean="0"/>
              <a:t>10-06-2025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9ADDA7-76AB-46DB-9BDB-7537D70BDADC}" type="slidenum">
              <a:rPr lang="en-IN" smtClean="0"/>
              <a:t>‹#›</a:t>
            </a:fld>
            <a:endParaRPr lang="en-IN"/>
          </a:p>
        </p:txBody>
      </p:sp>
    </p:spTree>
    <p:extLst>
      <p:ext uri="{BB962C8B-B14F-4D97-AF65-F5344CB8AC3E}">
        <p14:creationId xmlns:p14="http://schemas.microsoft.com/office/powerpoint/2010/main" val="29257136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E890A751-91A0-4E1C-89F5-BFF21E9B4F7C}" type="datetime1">
              <a:rPr lang="en-IN" smtClean="0"/>
              <a:t>10-06-2025</a:t>
            </a:fld>
            <a:endParaRPr lang="en-IN" dirty="0"/>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r>
              <a:rPr lang="en-IN" dirty="0"/>
              <a:t>3</a:t>
            </a:r>
          </a:p>
        </p:txBody>
      </p:sp>
    </p:spTree>
    <p:extLst>
      <p:ext uri="{BB962C8B-B14F-4D97-AF65-F5344CB8AC3E}">
        <p14:creationId xmlns:p14="http://schemas.microsoft.com/office/powerpoint/2010/main" val="145720908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tint val="95000"/>
            <a:satMod val="170000"/>
            <a:alpha val="17000"/>
          </a:schemeClr>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B868546-2A17-43E8-893A-5D82751037C7}"/>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E890A751-91A0-4E1C-89F5-BFF21E9B4F7C}" type="datetime1">
              <a:rPr lang="en-IN" smtClean="0"/>
              <a:t>10-06-2025</a:t>
            </a:fld>
            <a:endParaRPr lang="en-IN" dirty="0"/>
          </a:p>
        </p:txBody>
      </p:sp>
      <p:sp>
        <p:nvSpPr>
          <p:cNvPr id="5" name="Footer Placeholder 4">
            <a:extLst>
              <a:ext uri="{FF2B5EF4-FFF2-40B4-BE49-F238E27FC236}">
                <a16:creationId xmlns:a16="http://schemas.microsoft.com/office/drawing/2014/main" id="{3F760A89-C827-4C91-940F-A7B18FC95204}"/>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957500A-ECDD-49C8-B36F-8B2B3926B79F}"/>
              </a:ext>
            </a:extLst>
          </p:cNvPr>
          <p:cNvSpPr>
            <a:spLocks noGrp="1"/>
          </p:cNvSpPr>
          <p:nvPr>
            <p:ph type="sldNum" sz="quarter" idx="4"/>
          </p:nvPr>
        </p:nvSpPr>
        <p:spPr>
          <a:xfrm>
            <a:off x="8610600" y="6356352"/>
            <a:ext cx="3024554" cy="365125"/>
          </a:xfrm>
          <a:prstGeom prst="rect">
            <a:avLst/>
          </a:prstGeom>
        </p:spPr>
        <p:txBody>
          <a:bodyPr vert="horz" lIns="91440" tIns="45720" rIns="91440" bIns="45720" rtlCol="0" anchor="ctr"/>
          <a:lstStyle>
            <a:lvl1pPr algn="r">
              <a:defRPr sz="1800" b="1">
                <a:solidFill>
                  <a:schemeClr val="tx1">
                    <a:tint val="75000"/>
                  </a:schemeClr>
                </a:solidFill>
                <a:latin typeface="Times New Roman" panose="02020603050405020304" pitchFamily="18" charset="0"/>
                <a:cs typeface="Times New Roman" panose="02020603050405020304" pitchFamily="18" charset="0"/>
              </a:defRPr>
            </a:lvl1pPr>
          </a:lstStyle>
          <a:p>
            <a:r>
              <a:rPr lang="en-IN" dirty="0"/>
              <a:t>1</a:t>
            </a:r>
          </a:p>
        </p:txBody>
      </p:sp>
      <p:sp>
        <p:nvSpPr>
          <p:cNvPr id="7" name="Rectangle 6">
            <a:extLst>
              <a:ext uri="{FF2B5EF4-FFF2-40B4-BE49-F238E27FC236}">
                <a16:creationId xmlns:a16="http://schemas.microsoft.com/office/drawing/2014/main" id="{3382A9C5-A027-406B-9F4B-FF5BEDEBB86E}"/>
              </a:ext>
            </a:extLst>
          </p:cNvPr>
          <p:cNvSpPr/>
          <p:nvPr userDrawn="1"/>
        </p:nvSpPr>
        <p:spPr>
          <a:xfrm>
            <a:off x="0" y="871156"/>
            <a:ext cx="3024555" cy="85449"/>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sp>
        <p:nvSpPr>
          <p:cNvPr id="12" name="Rectangle 11">
            <a:extLst>
              <a:ext uri="{FF2B5EF4-FFF2-40B4-BE49-F238E27FC236}">
                <a16:creationId xmlns:a16="http://schemas.microsoft.com/office/drawing/2014/main" id="{292653F7-6720-4183-9734-18E9ED32013A}"/>
              </a:ext>
            </a:extLst>
          </p:cNvPr>
          <p:cNvSpPr/>
          <p:nvPr userDrawn="1"/>
        </p:nvSpPr>
        <p:spPr>
          <a:xfrm>
            <a:off x="3071445" y="871155"/>
            <a:ext cx="3024555" cy="85449"/>
          </a:xfrm>
          <a:prstGeom prst="rect">
            <a:avLst/>
          </a:prstGeom>
          <a:solidFill>
            <a:srgbClr val="DB0BC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sp>
        <p:nvSpPr>
          <p:cNvPr id="13" name="Rectangle 12">
            <a:extLst>
              <a:ext uri="{FF2B5EF4-FFF2-40B4-BE49-F238E27FC236}">
                <a16:creationId xmlns:a16="http://schemas.microsoft.com/office/drawing/2014/main" id="{5C80812F-6E6F-4ACC-ADF1-BC1D72123F2E}"/>
              </a:ext>
            </a:extLst>
          </p:cNvPr>
          <p:cNvSpPr/>
          <p:nvPr userDrawn="1"/>
        </p:nvSpPr>
        <p:spPr>
          <a:xfrm>
            <a:off x="6142892" y="867519"/>
            <a:ext cx="3024555" cy="85449"/>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sp>
        <p:nvSpPr>
          <p:cNvPr id="14" name="Rectangle 13">
            <a:extLst>
              <a:ext uri="{FF2B5EF4-FFF2-40B4-BE49-F238E27FC236}">
                <a16:creationId xmlns:a16="http://schemas.microsoft.com/office/drawing/2014/main" id="{DEAB7AE4-BADD-4589-A456-BAD53341639D}"/>
              </a:ext>
            </a:extLst>
          </p:cNvPr>
          <p:cNvSpPr/>
          <p:nvPr userDrawn="1"/>
        </p:nvSpPr>
        <p:spPr>
          <a:xfrm>
            <a:off x="9261229" y="867519"/>
            <a:ext cx="2930771" cy="85449"/>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pic>
        <p:nvPicPr>
          <p:cNvPr id="18" name="Picture 17" descr="A picture containing clipart&#10;&#10;Description automatically generated">
            <a:extLst>
              <a:ext uri="{FF2B5EF4-FFF2-40B4-BE49-F238E27FC236}">
                <a16:creationId xmlns:a16="http://schemas.microsoft.com/office/drawing/2014/main" id="{D8723518-3E13-449A-93CC-E5BD2584CED5}"/>
              </a:ext>
            </a:extLst>
          </p:cNvPr>
          <p:cNvPicPr>
            <a:picLocks noChangeAspect="1"/>
          </p:cNvPicPr>
          <p:nvPr userDrawn="1"/>
        </p:nvPicPr>
        <p:blipFill>
          <a:blip r:embed="rId3">
            <a:alphaModFix amt="7000"/>
            <a:extLst>
              <a:ext uri="{28A0092B-C50C-407E-A947-70E740481C1C}">
                <a14:useLocalDpi xmlns:a14="http://schemas.microsoft.com/office/drawing/2010/main" val="0"/>
              </a:ext>
            </a:extLst>
          </a:blip>
          <a:stretch>
            <a:fillRect/>
          </a:stretch>
        </p:blipFill>
        <p:spPr>
          <a:xfrm>
            <a:off x="0" y="952968"/>
            <a:ext cx="12192000" cy="5407020"/>
          </a:xfrm>
          <a:prstGeom prst="rect">
            <a:avLst/>
          </a:prstGeom>
        </p:spPr>
      </p:pic>
      <p:sp>
        <p:nvSpPr>
          <p:cNvPr id="19" name="Rectangle 18">
            <a:extLst>
              <a:ext uri="{FF2B5EF4-FFF2-40B4-BE49-F238E27FC236}">
                <a16:creationId xmlns:a16="http://schemas.microsoft.com/office/drawing/2014/main" id="{3AC507D3-154D-40AE-8574-6953A71E6677}"/>
              </a:ext>
            </a:extLst>
          </p:cNvPr>
          <p:cNvSpPr/>
          <p:nvPr userDrawn="1"/>
        </p:nvSpPr>
        <p:spPr>
          <a:xfrm>
            <a:off x="0" y="6226361"/>
            <a:ext cx="3024555" cy="85449"/>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sp>
        <p:nvSpPr>
          <p:cNvPr id="20" name="Rectangle 19">
            <a:extLst>
              <a:ext uri="{FF2B5EF4-FFF2-40B4-BE49-F238E27FC236}">
                <a16:creationId xmlns:a16="http://schemas.microsoft.com/office/drawing/2014/main" id="{6C807768-55DB-47EA-98AF-D55C2AE3A98E}"/>
              </a:ext>
            </a:extLst>
          </p:cNvPr>
          <p:cNvSpPr/>
          <p:nvPr userDrawn="1"/>
        </p:nvSpPr>
        <p:spPr>
          <a:xfrm>
            <a:off x="3071445" y="6226360"/>
            <a:ext cx="3024555" cy="85449"/>
          </a:xfrm>
          <a:prstGeom prst="rect">
            <a:avLst/>
          </a:prstGeom>
          <a:solidFill>
            <a:srgbClr val="DB0BC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sp>
        <p:nvSpPr>
          <p:cNvPr id="21" name="Rectangle 20">
            <a:extLst>
              <a:ext uri="{FF2B5EF4-FFF2-40B4-BE49-F238E27FC236}">
                <a16:creationId xmlns:a16="http://schemas.microsoft.com/office/drawing/2014/main" id="{9470C754-4808-4989-A6C0-CAF3BDDAEE7D}"/>
              </a:ext>
            </a:extLst>
          </p:cNvPr>
          <p:cNvSpPr/>
          <p:nvPr userDrawn="1"/>
        </p:nvSpPr>
        <p:spPr>
          <a:xfrm>
            <a:off x="6142892" y="6222724"/>
            <a:ext cx="3024555" cy="85449"/>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sp>
        <p:nvSpPr>
          <p:cNvPr id="22" name="Rectangle 21">
            <a:extLst>
              <a:ext uri="{FF2B5EF4-FFF2-40B4-BE49-F238E27FC236}">
                <a16:creationId xmlns:a16="http://schemas.microsoft.com/office/drawing/2014/main" id="{3E758F92-3EA2-4573-B595-EFE85AD7637B}"/>
              </a:ext>
            </a:extLst>
          </p:cNvPr>
          <p:cNvSpPr/>
          <p:nvPr userDrawn="1"/>
        </p:nvSpPr>
        <p:spPr>
          <a:xfrm>
            <a:off x="9261229" y="6222724"/>
            <a:ext cx="2930771" cy="85449"/>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sp>
        <p:nvSpPr>
          <p:cNvPr id="2" name="Title Placeholder 1">
            <a:extLst>
              <a:ext uri="{FF2B5EF4-FFF2-40B4-BE49-F238E27FC236}">
                <a16:creationId xmlns:a16="http://schemas.microsoft.com/office/drawing/2014/main" id="{787C9109-13FC-4D33-996C-06B3268D0A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4B8859E-9986-4AE6-AFD4-811B8C3907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pic>
        <p:nvPicPr>
          <p:cNvPr id="8" name="Picture 7"/>
          <p:cNvPicPr>
            <a:picLocks noChangeAspect="1"/>
          </p:cNvPicPr>
          <p:nvPr userDrawn="1"/>
        </p:nvPicPr>
        <p:blipFill rotWithShape="1">
          <a:blip r:embed="rId4" cstate="hqprint">
            <a:extLst>
              <a:ext uri="{28A0092B-C50C-407E-A947-70E740481C1C}">
                <a14:useLocalDpi xmlns:a14="http://schemas.microsoft.com/office/drawing/2010/main" val="0"/>
              </a:ext>
            </a:extLst>
          </a:blip>
          <a:srcRect r="48875"/>
          <a:stretch/>
        </p:blipFill>
        <p:spPr>
          <a:xfrm>
            <a:off x="0" y="11874"/>
            <a:ext cx="1580606" cy="865383"/>
          </a:xfrm>
          <a:prstGeom prst="rect">
            <a:avLst/>
          </a:prstGeom>
        </p:spPr>
      </p:pic>
    </p:spTree>
    <p:extLst>
      <p:ext uri="{BB962C8B-B14F-4D97-AF65-F5344CB8AC3E}">
        <p14:creationId xmlns:p14="http://schemas.microsoft.com/office/powerpoint/2010/main" val="2650301979"/>
      </p:ext>
    </p:extLst>
  </p:cSld>
  <p:clrMap bg1="lt1" tx1="dk1" bg2="lt2" tx2="dk2" accent1="accent1" accent2="accent2" accent3="accent3" accent4="accent4" accent5="accent5" accent6="accent6" hlink="hlink" folHlink="folHlink"/>
  <p:sldLayoutIdLst>
    <p:sldLayoutId id="2147483673" r:id="rId1"/>
  </p:sldLayoutIdLst>
  <p:hf hdr="0" ft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1EC488E-2112-449C-82ED-2F8973D63DB0}"/>
              </a:ext>
            </a:extLst>
          </p:cNvPr>
          <p:cNvSpPr/>
          <p:nvPr/>
        </p:nvSpPr>
        <p:spPr>
          <a:xfrm>
            <a:off x="861337" y="1095632"/>
            <a:ext cx="10680510" cy="647534"/>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RAILTEL SAFETY SOLUTIONS  </a:t>
            </a:r>
          </a:p>
        </p:txBody>
      </p:sp>
      <p:sp>
        <p:nvSpPr>
          <p:cNvPr id="7" name="TextBox 11">
            <a:extLst>
              <a:ext uri="{FF2B5EF4-FFF2-40B4-BE49-F238E27FC236}">
                <a16:creationId xmlns:a16="http://schemas.microsoft.com/office/drawing/2014/main" id="{53F3C65C-26EF-4733-8244-182591EDE138}"/>
              </a:ext>
            </a:extLst>
          </p:cNvPr>
          <p:cNvSpPr txBox="1"/>
          <p:nvPr/>
        </p:nvSpPr>
        <p:spPr>
          <a:xfrm>
            <a:off x="2613660" y="2148104"/>
            <a:ext cx="6964680" cy="1323439"/>
          </a:xfrm>
          <a:prstGeom prst="rect">
            <a:avLst/>
          </a:prstGeom>
          <a:noFill/>
        </p:spPr>
        <p:txBody>
          <a:bodyPr wrap="square">
            <a:spAutoFit/>
          </a:bodyPr>
          <a:lstStyle>
            <a:defPPr>
              <a:defRPr lang="en-GB"/>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lgn="ctr" defTabSz="457200" eaLnBrk="1">
              <a:buClr>
                <a:srgbClr val="000000"/>
              </a:buClr>
              <a:buSzPct val="45000"/>
              <a:buFont typeface="StarSymbol" charset="0"/>
              <a:buNone/>
              <a:defRPr/>
            </a:pPr>
            <a:r>
              <a:rPr lang="en-US" altLang="en-US" sz="2000" kern="0" dirty="0">
                <a:solidFill>
                  <a:srgbClr val="000000"/>
                </a:solidFill>
                <a:latin typeface="Times New Roman"/>
              </a:rPr>
              <a:t>Presented by    </a:t>
            </a:r>
          </a:p>
          <a:p>
            <a:pPr algn="ctr" defTabSz="457200" eaLnBrk="1">
              <a:buClr>
                <a:srgbClr val="000000"/>
              </a:buClr>
              <a:buSzPct val="45000"/>
              <a:buFont typeface="StarSymbol" charset="0"/>
              <a:buNone/>
              <a:defRPr/>
            </a:pPr>
            <a:r>
              <a:rPr lang="en-US" altLang="en-US" sz="2000" b="1" kern="0" dirty="0">
                <a:solidFill>
                  <a:srgbClr val="000000"/>
                </a:solidFill>
                <a:latin typeface="Times New Roman"/>
              </a:rPr>
              <a:t>1. </a:t>
            </a:r>
            <a:r>
              <a:rPr lang="en-US" altLang="en-US" sz="2000" b="1" kern="0" dirty="0" err="1">
                <a:solidFill>
                  <a:srgbClr val="000000"/>
                </a:solidFill>
                <a:latin typeface="Times New Roman"/>
              </a:rPr>
              <a:t>S.Vishwatma</a:t>
            </a:r>
            <a:r>
              <a:rPr lang="en-US" altLang="en-US" sz="2000" b="1" kern="0" dirty="0">
                <a:solidFill>
                  <a:srgbClr val="000000"/>
                </a:solidFill>
                <a:latin typeface="Times New Roman"/>
              </a:rPr>
              <a:t>		 	     245521748120 </a:t>
            </a:r>
          </a:p>
          <a:p>
            <a:pPr algn="ctr" defTabSz="457200" eaLnBrk="1">
              <a:buClr>
                <a:srgbClr val="000000"/>
              </a:buClr>
              <a:buSzPct val="45000"/>
              <a:buFont typeface="StarSymbol" charset="0"/>
              <a:buNone/>
              <a:defRPr/>
            </a:pPr>
            <a:endParaRPr lang="en-US" altLang="en-US" sz="2000" b="1" kern="0" dirty="0">
              <a:solidFill>
                <a:srgbClr val="000000"/>
              </a:solidFill>
              <a:latin typeface="Times New Roman"/>
            </a:endParaRPr>
          </a:p>
          <a:p>
            <a:pPr algn="ctr" defTabSz="457200" eaLnBrk="1">
              <a:buClr>
                <a:srgbClr val="000000"/>
              </a:buClr>
              <a:buSzPct val="45000"/>
              <a:buFont typeface="StarSymbol" charset="0"/>
              <a:buNone/>
              <a:defRPr/>
            </a:pPr>
            <a:endParaRPr lang="en-US" altLang="en-US" sz="2000" kern="0" dirty="0">
              <a:solidFill>
                <a:srgbClr val="000000"/>
              </a:solidFill>
              <a:latin typeface="Times New Roman"/>
            </a:endParaRPr>
          </a:p>
        </p:txBody>
      </p:sp>
      <p:sp>
        <p:nvSpPr>
          <p:cNvPr id="9" name="Rectangle 8">
            <a:extLst>
              <a:ext uri="{FF2B5EF4-FFF2-40B4-BE49-F238E27FC236}">
                <a16:creationId xmlns:a16="http://schemas.microsoft.com/office/drawing/2014/main" id="{ED00D75F-54A1-4A1C-9A6A-A1F8799C97A0}"/>
              </a:ext>
            </a:extLst>
          </p:cNvPr>
          <p:cNvSpPr>
            <a:spLocks noChangeArrowheads="1"/>
          </p:cNvSpPr>
          <p:nvPr/>
        </p:nvSpPr>
        <p:spPr bwMode="auto">
          <a:xfrm>
            <a:off x="1380452" y="4087096"/>
            <a:ext cx="9642281"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GB"/>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lgn="ctr"/>
            <a:r>
              <a:rPr lang="en-IN" altLang="en-US" sz="2000" dirty="0"/>
              <a:t>Under the supervision of</a:t>
            </a:r>
          </a:p>
          <a:p>
            <a:pPr algn="ctr"/>
            <a:r>
              <a:rPr lang="en-IN" altLang="en-US" sz="2000" b="1" dirty="0">
                <a:solidFill>
                  <a:srgbClr val="FF0000"/>
                </a:solidFill>
              </a:rPr>
              <a:t>Mrs </a:t>
            </a:r>
            <a:r>
              <a:rPr lang="en-IN" altLang="en-US" sz="2000" b="1" dirty="0" err="1">
                <a:solidFill>
                  <a:srgbClr val="FF0000"/>
                </a:solidFill>
              </a:rPr>
              <a:t>P.Naresh</a:t>
            </a:r>
            <a:endParaRPr lang="en-IN" altLang="en-US" sz="2000" b="1" dirty="0">
              <a:solidFill>
                <a:srgbClr val="FF0000"/>
              </a:solidFill>
            </a:endParaRPr>
          </a:p>
          <a:p>
            <a:pPr algn="ctr"/>
            <a:r>
              <a:rPr lang="en-IN" altLang="en-US" sz="2000" dirty="0"/>
              <a:t>Assistant  Professor, CSE(AI&amp;ML)</a:t>
            </a:r>
          </a:p>
          <a:p>
            <a:pPr algn="ctr"/>
            <a:r>
              <a:rPr lang="en-IN" altLang="en-US" sz="2000" dirty="0"/>
              <a:t>Keshav Memorial Engineering College, Hyderabad </a:t>
            </a:r>
          </a:p>
        </p:txBody>
      </p:sp>
    </p:spTree>
    <p:extLst>
      <p:ext uri="{BB962C8B-B14F-4D97-AF65-F5344CB8AC3E}">
        <p14:creationId xmlns:p14="http://schemas.microsoft.com/office/powerpoint/2010/main" val="30859089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7523" y="1148287"/>
            <a:ext cx="10656277" cy="735141"/>
          </a:xfrm>
        </p:spPr>
        <p:txBody>
          <a:bodyPr>
            <a:normAutofit/>
          </a:bodyPr>
          <a:lstStyle/>
          <a:p>
            <a:r>
              <a:rPr lang="en-IN" b="1" dirty="0">
                <a:latin typeface="Times New Roman" panose="02020603050405020304" pitchFamily="18" charset="0"/>
                <a:cs typeface="Times New Roman" panose="02020603050405020304" pitchFamily="18" charset="0"/>
              </a:rPr>
              <a:t>1. Introduction</a:t>
            </a:r>
          </a:p>
        </p:txBody>
      </p:sp>
      <p:sp>
        <p:nvSpPr>
          <p:cNvPr id="10" name="TextBox 9">
            <a:extLst>
              <a:ext uri="{FF2B5EF4-FFF2-40B4-BE49-F238E27FC236}">
                <a16:creationId xmlns:a16="http://schemas.microsoft.com/office/drawing/2014/main" id="{5321F805-BB45-7AD4-05CD-38D3B9A099BB}"/>
              </a:ext>
            </a:extLst>
          </p:cNvPr>
          <p:cNvSpPr txBox="1"/>
          <p:nvPr/>
        </p:nvSpPr>
        <p:spPr>
          <a:xfrm>
            <a:off x="697523" y="2086394"/>
            <a:ext cx="10340591" cy="2308324"/>
          </a:xfrm>
          <a:prstGeom prst="rect">
            <a:avLst/>
          </a:prstGeom>
          <a:noFill/>
        </p:spPr>
        <p:txBody>
          <a:bodyPr wrap="square" anchor="b">
            <a:spAutoFit/>
          </a:bodyPr>
          <a:lstStyle/>
          <a:p>
            <a:pPr algn="just"/>
            <a:r>
              <a:rPr lang="en-US" dirty="0">
                <a:latin typeface="Times New Roman" panose="02020603050405020304" pitchFamily="18" charset="0"/>
                <a:cs typeface="Times New Roman" panose="02020603050405020304" pitchFamily="18" charset="0"/>
              </a:rPr>
              <a:t>RailTel Safety Solutions is a cutting-edge system designed to keep railways safer by monitoring tracks in real-time using IoT, AI, and Lidar technologies. With trains at risk from obstacles and track flaws that can lead to accidents or delays, this project tackles a pressing challenge. By automating detection and response, it not only prevents disasters but also keeps operations running smoothly. It’s about giving railway workers and passengers peace of mind while boosting efficiency. This innovation could transform how we ensure safe train travel, making journeys more reliable for everyone. Using advanced sensors and smart analytics, it catches issues early, saving lives and costs. Its scalable design means it can protect rail networks worldwide. Plus, it’s built to work in tough conditions, ensuring safety no matter the weather.</a:t>
            </a:r>
            <a:endParaRPr lang="en-US"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39892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9BD4E-8FA9-D04E-FF65-AD5C5179C8CB}"/>
              </a:ext>
            </a:extLst>
          </p:cNvPr>
          <p:cNvSpPr>
            <a:spLocks noGrp="1"/>
          </p:cNvSpPr>
          <p:nvPr>
            <p:ph type="title"/>
          </p:nvPr>
        </p:nvSpPr>
        <p:spPr>
          <a:xfrm>
            <a:off x="838200" y="1203651"/>
            <a:ext cx="10515600" cy="690464"/>
          </a:xfrm>
        </p:spPr>
        <p:txBody>
          <a:bodyPr/>
          <a:lstStyle/>
          <a:p>
            <a:r>
              <a:rPr lang="en-IN" b="1" dirty="0">
                <a:latin typeface="Times New Roman" panose="02020603050405020304" pitchFamily="18" charset="0"/>
                <a:cs typeface="Times New Roman" panose="02020603050405020304" pitchFamily="18" charset="0"/>
              </a:rPr>
              <a:t>2. Motivation</a:t>
            </a:r>
          </a:p>
        </p:txBody>
      </p:sp>
      <p:sp>
        <p:nvSpPr>
          <p:cNvPr id="3" name="Date Placeholder 2">
            <a:extLst>
              <a:ext uri="{FF2B5EF4-FFF2-40B4-BE49-F238E27FC236}">
                <a16:creationId xmlns:a16="http://schemas.microsoft.com/office/drawing/2014/main" id="{B026A510-0771-1BB7-5D60-8AD1C14D044F}"/>
              </a:ext>
            </a:extLst>
          </p:cNvPr>
          <p:cNvSpPr>
            <a:spLocks noGrp="1"/>
          </p:cNvSpPr>
          <p:nvPr>
            <p:ph type="dt" sz="half" idx="10"/>
          </p:nvPr>
        </p:nvSpPr>
        <p:spPr/>
        <p:txBody>
          <a:bodyPr/>
          <a:lstStyle/>
          <a:p>
            <a:fld id="{E890A751-91A0-4E1C-89F5-BFF21E9B4F7C}" type="datetime1">
              <a:rPr lang="en-IN" smtClean="0"/>
              <a:t>10-06-2025</a:t>
            </a:fld>
            <a:endParaRPr lang="en-IN" dirty="0"/>
          </a:p>
        </p:txBody>
      </p:sp>
      <p:sp>
        <p:nvSpPr>
          <p:cNvPr id="4" name="Slide Number Placeholder 3">
            <a:extLst>
              <a:ext uri="{FF2B5EF4-FFF2-40B4-BE49-F238E27FC236}">
                <a16:creationId xmlns:a16="http://schemas.microsoft.com/office/drawing/2014/main" id="{841F9353-1EA4-ED06-BEE4-523DC9609A01}"/>
              </a:ext>
            </a:extLst>
          </p:cNvPr>
          <p:cNvSpPr>
            <a:spLocks noGrp="1"/>
          </p:cNvSpPr>
          <p:nvPr>
            <p:ph type="sldNum" sz="quarter" idx="12"/>
          </p:nvPr>
        </p:nvSpPr>
        <p:spPr/>
        <p:txBody>
          <a:bodyPr/>
          <a:lstStyle/>
          <a:p>
            <a:r>
              <a:rPr lang="en-IN"/>
              <a:t>3</a:t>
            </a:r>
            <a:endParaRPr lang="en-IN" dirty="0"/>
          </a:p>
        </p:txBody>
      </p:sp>
      <p:sp>
        <p:nvSpPr>
          <p:cNvPr id="6" name="TextBox 5">
            <a:extLst>
              <a:ext uri="{FF2B5EF4-FFF2-40B4-BE49-F238E27FC236}">
                <a16:creationId xmlns:a16="http://schemas.microsoft.com/office/drawing/2014/main" id="{8F4042A8-D26E-3DCA-773B-543C74E3DDB8}"/>
              </a:ext>
            </a:extLst>
          </p:cNvPr>
          <p:cNvSpPr txBox="1"/>
          <p:nvPr/>
        </p:nvSpPr>
        <p:spPr>
          <a:xfrm>
            <a:off x="838200" y="2097557"/>
            <a:ext cx="10647784" cy="2308324"/>
          </a:xfrm>
          <a:prstGeom prst="rect">
            <a:avLst/>
          </a:prstGeom>
          <a:noFill/>
        </p:spPr>
        <p:txBody>
          <a:bodyPr wrap="square" anchor="ctr">
            <a:spAutoFit/>
          </a:bodyPr>
          <a:lstStyle/>
          <a:p>
            <a:pPr algn="just"/>
            <a:r>
              <a:rPr lang="en-US" dirty="0">
                <a:latin typeface="Times New Roman" panose="02020603050405020304" pitchFamily="18" charset="0"/>
                <a:cs typeface="Times New Roman" panose="02020603050405020304" pitchFamily="18" charset="0"/>
              </a:rPr>
              <a:t>We developed RailTel Safety Solutions to tackle the alarming rate of railway accidents caused by the limitations of manual track inspections, which are slow and error-prone. By leveraging IoT, AI, and Lidar, this intelligent system proactively detects obstacles and defects in real-time, preventing disasters and saving lives. It enhances passenger confidence, reduces costly disruptions, and ensures reliable rail operations. Scalable for global networks, it’s designed to work in tough conditions, making train travel safer and more efficient worldwide. With advanced sensor fusion and predictive analytics, it catches issues early, minimizing risks. Its energy-efficient design, using solar-powered sensors, supports sustainable deployment. This project is our commitment to modernizing railway safety for everyone, creating a future where rail travel is secure and dependable.</a:t>
            </a:r>
            <a:endParaRPr lang="en-US"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397304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78984-4420-B026-DA92-4FFABE71733C}"/>
              </a:ext>
            </a:extLst>
          </p:cNvPr>
          <p:cNvSpPr>
            <a:spLocks noGrp="1"/>
          </p:cNvSpPr>
          <p:nvPr>
            <p:ph type="title"/>
          </p:nvPr>
        </p:nvSpPr>
        <p:spPr>
          <a:xfrm>
            <a:off x="838200" y="1306285"/>
            <a:ext cx="10515600" cy="662474"/>
          </a:xfrm>
        </p:spPr>
        <p:txBody>
          <a:bodyPr>
            <a:normAutofit/>
          </a:bodyPr>
          <a:lstStyle/>
          <a:p>
            <a:r>
              <a:rPr lang="en-IN" sz="3200" b="1" dirty="0">
                <a:latin typeface="Times New Roman" panose="02020603050405020304" pitchFamily="18" charset="0"/>
                <a:cs typeface="Times New Roman" panose="02020603050405020304" pitchFamily="18" charset="0"/>
              </a:rPr>
              <a:t>3. Problem Statement</a:t>
            </a:r>
          </a:p>
        </p:txBody>
      </p:sp>
      <p:sp>
        <p:nvSpPr>
          <p:cNvPr id="3" name="Date Placeholder 2">
            <a:extLst>
              <a:ext uri="{FF2B5EF4-FFF2-40B4-BE49-F238E27FC236}">
                <a16:creationId xmlns:a16="http://schemas.microsoft.com/office/drawing/2014/main" id="{C2504570-A782-6264-39C2-167B71839380}"/>
              </a:ext>
            </a:extLst>
          </p:cNvPr>
          <p:cNvSpPr>
            <a:spLocks noGrp="1"/>
          </p:cNvSpPr>
          <p:nvPr>
            <p:ph type="dt" sz="half" idx="10"/>
          </p:nvPr>
        </p:nvSpPr>
        <p:spPr/>
        <p:txBody>
          <a:bodyPr/>
          <a:lstStyle/>
          <a:p>
            <a:fld id="{E890A751-91A0-4E1C-89F5-BFF21E9B4F7C}" type="datetime1">
              <a:rPr lang="en-IN" smtClean="0"/>
              <a:t>10-06-2025</a:t>
            </a:fld>
            <a:endParaRPr lang="en-IN" dirty="0"/>
          </a:p>
        </p:txBody>
      </p:sp>
      <p:sp>
        <p:nvSpPr>
          <p:cNvPr id="4" name="Slide Number Placeholder 3">
            <a:extLst>
              <a:ext uri="{FF2B5EF4-FFF2-40B4-BE49-F238E27FC236}">
                <a16:creationId xmlns:a16="http://schemas.microsoft.com/office/drawing/2014/main" id="{43FF9EB2-8807-66ED-CB08-E621FF61C71A}"/>
              </a:ext>
            </a:extLst>
          </p:cNvPr>
          <p:cNvSpPr>
            <a:spLocks noGrp="1"/>
          </p:cNvSpPr>
          <p:nvPr>
            <p:ph type="sldNum" sz="quarter" idx="12"/>
          </p:nvPr>
        </p:nvSpPr>
        <p:spPr/>
        <p:txBody>
          <a:bodyPr/>
          <a:lstStyle/>
          <a:p>
            <a:r>
              <a:rPr lang="en-IN"/>
              <a:t>3</a:t>
            </a:r>
            <a:endParaRPr lang="en-IN" dirty="0"/>
          </a:p>
        </p:txBody>
      </p:sp>
      <p:sp>
        <p:nvSpPr>
          <p:cNvPr id="6" name="TextBox 5">
            <a:extLst>
              <a:ext uri="{FF2B5EF4-FFF2-40B4-BE49-F238E27FC236}">
                <a16:creationId xmlns:a16="http://schemas.microsoft.com/office/drawing/2014/main" id="{4BC80687-C5EC-E237-433A-FC51669DE351}"/>
              </a:ext>
            </a:extLst>
          </p:cNvPr>
          <p:cNvSpPr txBox="1"/>
          <p:nvPr/>
        </p:nvSpPr>
        <p:spPr>
          <a:xfrm>
            <a:off x="838199" y="2136338"/>
            <a:ext cx="10386527" cy="2308324"/>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RailTel Safety Solutions addresses the critical issue of railway accidents caused by inefficient, error-prone manual inspections that fail to detect obstacles and track cracks in real-time. By integrating IoT, AI, and Lidar, the system aims to detect these hazards instantly, using hybrid sensors for comprehensive monitoring. It leverages AI for predictive maintenance and automated decision-making, ensuring proactive safety measures. Real-time alerts are enabled via GSM/Wi-Fi/5G, keeping stakeholders informed swiftly. Designed to be scalable and energy-efficient with solar-powered sensors, the system supports global railway networks and operates reliably in diverse conditions. This innovative approach modernizes railway safety, reducing risks and enhancing operational reliability for safer train travel worldwide.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30668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B7354-1DA4-493A-2EBE-6BF947ED489B}"/>
              </a:ext>
            </a:extLst>
          </p:cNvPr>
          <p:cNvSpPr>
            <a:spLocks noGrp="1"/>
          </p:cNvSpPr>
          <p:nvPr>
            <p:ph type="title"/>
          </p:nvPr>
        </p:nvSpPr>
        <p:spPr>
          <a:xfrm>
            <a:off x="721895" y="1170581"/>
            <a:ext cx="10619464" cy="580345"/>
          </a:xfrm>
        </p:spPr>
        <p:txBody>
          <a:bodyPr/>
          <a:lstStyle/>
          <a:p>
            <a:r>
              <a:rPr lang="en-IN" b="1" dirty="0">
                <a:latin typeface="Times New Roman" panose="02020603050405020304" pitchFamily="18" charset="0"/>
                <a:cs typeface="Times New Roman" panose="02020603050405020304" pitchFamily="18" charset="0"/>
              </a:rPr>
              <a:t>4. Literature Survey</a:t>
            </a:r>
          </a:p>
        </p:txBody>
      </p:sp>
      <p:sp>
        <p:nvSpPr>
          <p:cNvPr id="3" name="Date Placeholder 2">
            <a:extLst>
              <a:ext uri="{FF2B5EF4-FFF2-40B4-BE49-F238E27FC236}">
                <a16:creationId xmlns:a16="http://schemas.microsoft.com/office/drawing/2014/main" id="{71676358-F848-8207-42CC-4FE6CEA0AC0E}"/>
              </a:ext>
            </a:extLst>
          </p:cNvPr>
          <p:cNvSpPr>
            <a:spLocks noGrp="1"/>
          </p:cNvSpPr>
          <p:nvPr>
            <p:ph type="dt" sz="half" idx="10"/>
          </p:nvPr>
        </p:nvSpPr>
        <p:spPr/>
        <p:txBody>
          <a:bodyPr/>
          <a:lstStyle/>
          <a:p>
            <a:fld id="{E890A751-91A0-4E1C-89F5-BFF21E9B4F7C}" type="datetime1">
              <a:rPr lang="en-IN" smtClean="0"/>
              <a:t>10-06-2025</a:t>
            </a:fld>
            <a:endParaRPr lang="en-IN" dirty="0"/>
          </a:p>
        </p:txBody>
      </p:sp>
      <p:sp>
        <p:nvSpPr>
          <p:cNvPr id="4" name="Slide Number Placeholder 3">
            <a:extLst>
              <a:ext uri="{FF2B5EF4-FFF2-40B4-BE49-F238E27FC236}">
                <a16:creationId xmlns:a16="http://schemas.microsoft.com/office/drawing/2014/main" id="{36380ABE-C866-505A-18CF-905D5E3AD140}"/>
              </a:ext>
            </a:extLst>
          </p:cNvPr>
          <p:cNvSpPr>
            <a:spLocks noGrp="1"/>
          </p:cNvSpPr>
          <p:nvPr>
            <p:ph type="sldNum" sz="quarter" idx="12"/>
          </p:nvPr>
        </p:nvSpPr>
        <p:spPr/>
        <p:txBody>
          <a:bodyPr/>
          <a:lstStyle/>
          <a:p>
            <a:r>
              <a:rPr lang="en-IN"/>
              <a:t>3</a:t>
            </a:r>
            <a:endParaRPr lang="en-IN" dirty="0"/>
          </a:p>
        </p:txBody>
      </p:sp>
      <p:sp>
        <p:nvSpPr>
          <p:cNvPr id="7" name="TextBox 6">
            <a:extLst>
              <a:ext uri="{FF2B5EF4-FFF2-40B4-BE49-F238E27FC236}">
                <a16:creationId xmlns:a16="http://schemas.microsoft.com/office/drawing/2014/main" id="{ABAE9E44-4836-75CF-A891-3ED8DA6B99F0}"/>
              </a:ext>
            </a:extLst>
          </p:cNvPr>
          <p:cNvSpPr txBox="1"/>
          <p:nvPr/>
        </p:nvSpPr>
        <p:spPr>
          <a:xfrm>
            <a:off x="716640" y="1750926"/>
            <a:ext cx="11245516" cy="4247317"/>
          </a:xfrm>
          <a:prstGeom prst="rect">
            <a:avLst/>
          </a:prstGeom>
          <a:noFill/>
        </p:spPr>
        <p:txBody>
          <a:bodyPr wrap="square">
            <a:spAutoFit/>
          </a:bodyPr>
          <a:lstStyle/>
          <a:p>
            <a:pPr marL="342900" indent="-342900" algn="just">
              <a:buFont typeface="+mj-lt"/>
              <a:buAutoNum type="arabicPeriod"/>
            </a:pPr>
            <a:r>
              <a:rPr lang="en-US" i="0" dirty="0">
                <a:solidFill>
                  <a:srgbClr val="374151"/>
                </a:solidFill>
                <a:effectLst/>
                <a:latin typeface="Times New Roman" panose="02020603050405020304" pitchFamily="18" charset="0"/>
                <a:cs typeface="Times New Roman" panose="02020603050405020304" pitchFamily="18" charset="0"/>
              </a:rPr>
              <a:t>The paper ’</a:t>
            </a:r>
            <a:r>
              <a:rPr lang="en-US" i="0" dirty="0">
                <a:solidFill>
                  <a:srgbClr val="111827"/>
                </a:solidFill>
                <a:effectLst/>
                <a:latin typeface="Times New Roman" panose="02020603050405020304" pitchFamily="18" charset="0"/>
                <a:cs typeface="Times New Roman" panose="02020603050405020304" pitchFamily="18" charset="0"/>
              </a:rPr>
              <a:t>Real-Time Obstacle Detection and Avoidance for Railway Vehicles Using Stereo Vision’</a:t>
            </a:r>
            <a:r>
              <a:rPr lang="en-US" i="0" dirty="0">
                <a:solidFill>
                  <a:srgbClr val="374151"/>
                </a:solidFill>
                <a:effectLst/>
                <a:latin typeface="Times New Roman" panose="02020603050405020304" pitchFamily="18" charset="0"/>
                <a:cs typeface="Times New Roman" panose="02020603050405020304" pitchFamily="18" charset="0"/>
              </a:rPr>
              <a:t> explores the use of stereo vision systems for real-time obstacle detection in railway environments. It details the development of algorithms that process images from two cameras to create a depth map, enabling the system to identify and locate obstacles on the track. The research focuses on improving the accuracy and speed of obstacle detection to allow for timely avoidance maneuvers. The system's performance is evaluated under various weather conditions and lighting scenarios to ensure robustness. The findings demonstrate the potential of stereo vision as a reliable and cost-effective solution for enhancing railway safety by preventing collisions with obstacles.</a:t>
            </a:r>
            <a:br>
              <a:rPr lang="en-US" i="0" dirty="0">
                <a:solidFill>
                  <a:srgbClr val="374151"/>
                </a:solidFill>
                <a:effectLst/>
                <a:latin typeface="Times New Roman" panose="02020603050405020304" pitchFamily="18" charset="0"/>
                <a:cs typeface="Times New Roman" panose="02020603050405020304" pitchFamily="18" charset="0"/>
              </a:rPr>
            </a:br>
            <a:endParaRPr lang="en-US" i="0" dirty="0">
              <a:solidFill>
                <a:srgbClr val="374151"/>
              </a:solidFill>
              <a:effectLst/>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i="0" dirty="0">
                <a:solidFill>
                  <a:srgbClr val="374151"/>
                </a:solidFill>
                <a:effectLst/>
                <a:latin typeface="Times New Roman" panose="02020603050405020304" pitchFamily="18" charset="0"/>
                <a:cs typeface="Times New Roman" panose="02020603050405020304" pitchFamily="18" charset="0"/>
              </a:rPr>
              <a:t>The research </a:t>
            </a:r>
            <a:r>
              <a:rPr lang="en-US" i="0" dirty="0">
                <a:solidFill>
                  <a:srgbClr val="111827"/>
                </a:solidFill>
                <a:effectLst/>
                <a:latin typeface="Times New Roman" panose="02020603050405020304" pitchFamily="18" charset="0"/>
                <a:cs typeface="Times New Roman" panose="02020603050405020304" pitchFamily="18" charset="0"/>
              </a:rPr>
              <a:t>“Crack Detection Using Vibration, Visual, and Thermal Sensors: A Sensor Fusion Approach” </a:t>
            </a:r>
            <a:r>
              <a:rPr lang="en-US" i="0" dirty="0">
                <a:solidFill>
                  <a:srgbClr val="374151"/>
                </a:solidFill>
                <a:effectLst/>
                <a:latin typeface="Times New Roman" panose="02020603050405020304" pitchFamily="18" charset="0"/>
                <a:cs typeface="Times New Roman" panose="02020603050405020304" pitchFamily="18" charset="0"/>
              </a:rPr>
              <a:t>investigates a sensor fusion approach for detecting cracks in railway tracks, combining data from vibration, visual, and thermal sensors. The study explores how integrating data from multiple sensor modalities can improve the accuracy and reliability of crack detection compared to using individual sensors. Machine learning algorithms are employed to analyze the fused sensor data and identify patterns indicative of cracks. The system is designed to detect both surface and subsurface cracks, providing a comprehensive assessment of track integrity. The results demonstrate the effectiveness of sensor fusion in enhancing the detection of railway track defects.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66335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13CE46C8-FD62-03D2-9DDB-1BEC1B761B54}"/>
              </a:ext>
            </a:extLst>
          </p:cNvPr>
          <p:cNvSpPr>
            <a:spLocks noGrp="1"/>
          </p:cNvSpPr>
          <p:nvPr>
            <p:ph type="dt" sz="half" idx="10"/>
          </p:nvPr>
        </p:nvSpPr>
        <p:spPr/>
        <p:txBody>
          <a:bodyPr/>
          <a:lstStyle/>
          <a:p>
            <a:fld id="{E890A751-91A0-4E1C-89F5-BFF21E9B4F7C}" type="datetime1">
              <a:rPr lang="en-IN" smtClean="0"/>
              <a:t>10-06-2025</a:t>
            </a:fld>
            <a:endParaRPr lang="en-IN" dirty="0"/>
          </a:p>
        </p:txBody>
      </p:sp>
      <p:sp>
        <p:nvSpPr>
          <p:cNvPr id="4" name="Slide Number Placeholder 3">
            <a:extLst>
              <a:ext uri="{FF2B5EF4-FFF2-40B4-BE49-F238E27FC236}">
                <a16:creationId xmlns:a16="http://schemas.microsoft.com/office/drawing/2014/main" id="{5F95C8DC-1DEF-CC59-7320-B414A3D971BA}"/>
              </a:ext>
            </a:extLst>
          </p:cNvPr>
          <p:cNvSpPr>
            <a:spLocks noGrp="1"/>
          </p:cNvSpPr>
          <p:nvPr>
            <p:ph type="sldNum" sz="quarter" idx="12"/>
          </p:nvPr>
        </p:nvSpPr>
        <p:spPr/>
        <p:txBody>
          <a:bodyPr/>
          <a:lstStyle/>
          <a:p>
            <a:r>
              <a:rPr lang="en-IN"/>
              <a:t>3</a:t>
            </a:r>
            <a:endParaRPr lang="en-IN" dirty="0"/>
          </a:p>
        </p:txBody>
      </p:sp>
      <p:sp>
        <p:nvSpPr>
          <p:cNvPr id="6" name="TextBox 5">
            <a:extLst>
              <a:ext uri="{FF2B5EF4-FFF2-40B4-BE49-F238E27FC236}">
                <a16:creationId xmlns:a16="http://schemas.microsoft.com/office/drawing/2014/main" id="{674B31AA-1E3A-6B9C-CA1D-F6BE10988101}"/>
              </a:ext>
            </a:extLst>
          </p:cNvPr>
          <p:cNvSpPr txBox="1"/>
          <p:nvPr/>
        </p:nvSpPr>
        <p:spPr>
          <a:xfrm>
            <a:off x="642418" y="1303068"/>
            <a:ext cx="10702212" cy="4524315"/>
          </a:xfrm>
          <a:prstGeom prst="rect">
            <a:avLst/>
          </a:prstGeom>
          <a:noFill/>
        </p:spPr>
        <p:txBody>
          <a:bodyPr wrap="square">
            <a:spAutoFit/>
          </a:bodyPr>
          <a:lstStyle/>
          <a:p>
            <a:pPr marL="342900" indent="-342900" algn="just">
              <a:buFont typeface="+mj-lt"/>
              <a:buAutoNum type="arabicPeriod" startAt="3"/>
            </a:pPr>
            <a:r>
              <a:rPr lang="en-US" i="0" dirty="0">
                <a:solidFill>
                  <a:srgbClr val="374151"/>
                </a:solidFill>
                <a:effectLst/>
                <a:latin typeface="Times New Roman" panose="02020603050405020304" pitchFamily="18" charset="0"/>
                <a:cs typeface="Times New Roman" panose="02020603050405020304" pitchFamily="18" charset="0"/>
              </a:rPr>
              <a:t>The paper </a:t>
            </a:r>
            <a:r>
              <a:rPr lang="en-US" i="0" dirty="0">
                <a:solidFill>
                  <a:srgbClr val="111827"/>
                </a:solidFill>
                <a:effectLst/>
                <a:latin typeface="Times New Roman" panose="02020603050405020304" pitchFamily="18" charset="0"/>
                <a:cs typeface="Times New Roman" panose="02020603050405020304" pitchFamily="18" charset="0"/>
              </a:rPr>
              <a:t>“Design and Deployment of a Wireless Sensor Network for Railway Monitoring”</a:t>
            </a:r>
            <a:r>
              <a:rPr lang="en-US" dirty="0">
                <a:solidFill>
                  <a:srgbClr val="374151"/>
                </a:solidFill>
                <a:latin typeface="Times New Roman" panose="02020603050405020304" pitchFamily="18" charset="0"/>
                <a:cs typeface="Times New Roman" panose="02020603050405020304" pitchFamily="18" charset="0"/>
              </a:rPr>
              <a:t> </a:t>
            </a:r>
            <a:r>
              <a:rPr lang="en-US" i="0" dirty="0">
                <a:solidFill>
                  <a:srgbClr val="374151"/>
                </a:solidFill>
                <a:effectLst/>
                <a:latin typeface="Times New Roman" panose="02020603050405020304" pitchFamily="18" charset="0"/>
                <a:cs typeface="Times New Roman" panose="02020603050405020304" pitchFamily="18" charset="0"/>
              </a:rPr>
              <a:t>presents the design and deployment of a wireless sensor network (WSN) for comprehensive railway monitoring. The WSN consists of numerous sensor nodes strategically placed along the railway tracks to collect data on various parameters, such as track stress, temperature, and vibration. The research focuses on optimizing the network architecture, communication protocols, and power management to ensure reliable and long-term operation. The collected data is transmitted wirelessly to a central server for analysis and visualization, enabling real-time monitoring of railway conditions. The study demonstrates the feasibility and benefits of using WSNs for proactive railway maintenance and safety management.</a:t>
            </a:r>
            <a:endParaRPr lang="en-IN" dirty="0">
              <a:latin typeface="Times New Roman" panose="02020603050405020304" pitchFamily="18" charset="0"/>
              <a:cs typeface="Times New Roman" panose="02020603050405020304" pitchFamily="18" charset="0"/>
            </a:endParaRPr>
          </a:p>
          <a:p>
            <a:pPr marL="342900" indent="-342900" algn="just">
              <a:buFont typeface="+mj-lt"/>
              <a:buAutoNum type="arabicPeriod" startAt="3"/>
            </a:pPr>
            <a:r>
              <a:rPr lang="en-US" dirty="0">
                <a:latin typeface="Times New Roman" panose="02020603050405020304" pitchFamily="18" charset="0"/>
                <a:cs typeface="Times New Roman" panose="02020603050405020304" pitchFamily="18" charset="0"/>
              </a:rPr>
              <a:t>T</a:t>
            </a:r>
            <a:r>
              <a:rPr lang="en-US" dirty="0">
                <a:solidFill>
                  <a:srgbClr val="374151"/>
                </a:solidFill>
                <a:latin typeface="Times New Roman" panose="02020603050405020304" pitchFamily="18" charset="0"/>
                <a:cs typeface="Times New Roman" panose="02020603050405020304" pitchFamily="18" charset="0"/>
              </a:rPr>
              <a:t>he</a:t>
            </a:r>
            <a:r>
              <a:rPr lang="en-US" i="0" dirty="0">
                <a:solidFill>
                  <a:srgbClr val="374151"/>
                </a:solidFill>
                <a:effectLst/>
                <a:latin typeface="Times New Roman" panose="02020603050405020304" pitchFamily="18" charset="0"/>
                <a:cs typeface="Times New Roman" panose="02020603050405020304" pitchFamily="18" charset="0"/>
              </a:rPr>
              <a:t> research </a:t>
            </a:r>
            <a:r>
              <a:rPr lang="en-US" i="0" dirty="0">
                <a:solidFill>
                  <a:srgbClr val="111827"/>
                </a:solidFill>
                <a:effectLst/>
                <a:latin typeface="Times New Roman" panose="02020603050405020304" pitchFamily="18" charset="0"/>
                <a:cs typeface="Times New Roman" panose="02020603050405020304" pitchFamily="18" charset="0"/>
              </a:rPr>
              <a:t>“AI-Based Braking Systems for High-Speed Rail Using Predictive Obstacle </a:t>
            </a:r>
            <a:r>
              <a:rPr lang="en-US" i="0" dirty="0" err="1">
                <a:solidFill>
                  <a:srgbClr val="111827"/>
                </a:solidFill>
                <a:effectLst/>
                <a:latin typeface="Times New Roman" panose="02020603050405020304" pitchFamily="18" charset="0"/>
                <a:cs typeface="Times New Roman" panose="02020603050405020304" pitchFamily="18" charset="0"/>
              </a:rPr>
              <a:t>Analysis”</a:t>
            </a:r>
            <a:r>
              <a:rPr lang="en-US" i="0" dirty="0" err="1">
                <a:solidFill>
                  <a:srgbClr val="374151"/>
                </a:solidFill>
                <a:effectLst/>
                <a:latin typeface="Times New Roman" panose="02020603050405020304" pitchFamily="18" charset="0"/>
                <a:cs typeface="Times New Roman" panose="02020603050405020304" pitchFamily="18" charset="0"/>
              </a:rPr>
              <a:t>explores</a:t>
            </a:r>
            <a:r>
              <a:rPr lang="en-US" i="0" dirty="0">
                <a:solidFill>
                  <a:srgbClr val="374151"/>
                </a:solidFill>
                <a:effectLst/>
                <a:latin typeface="Times New Roman" panose="02020603050405020304" pitchFamily="18" charset="0"/>
                <a:cs typeface="Times New Roman" panose="02020603050405020304" pitchFamily="18" charset="0"/>
              </a:rPr>
              <a:t> the development of AI-based braking systems for high-speed rail, utilizing predictive obstacle analysis to enhance safety. The system employs machine learning algorithms to analyze data from various sensors, including radar and cameras, to predict the presence and movement of obstacles on the track. Based on the predicted obstacle trajectory, the braking system can automatically adjust the braking force to avoid collisions. The study focuses on improving the accuracy and speed of obstacle prediction to ensure timely and effective braking. The results demonstrate the potential of AI-based braking systems to significantly enhance the safety of high-speed rail operations.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3223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923316AD-B7D6-69E5-DD9C-79A9CFD639D3}"/>
              </a:ext>
            </a:extLst>
          </p:cNvPr>
          <p:cNvSpPr>
            <a:spLocks noGrp="1"/>
          </p:cNvSpPr>
          <p:nvPr>
            <p:ph type="dt" sz="half" idx="10"/>
          </p:nvPr>
        </p:nvSpPr>
        <p:spPr/>
        <p:txBody>
          <a:bodyPr/>
          <a:lstStyle/>
          <a:p>
            <a:fld id="{E890A751-91A0-4E1C-89F5-BFF21E9B4F7C}" type="datetime1">
              <a:rPr lang="en-IN" smtClean="0"/>
              <a:t>10-06-2025</a:t>
            </a:fld>
            <a:endParaRPr lang="en-IN" dirty="0"/>
          </a:p>
        </p:txBody>
      </p:sp>
      <p:sp>
        <p:nvSpPr>
          <p:cNvPr id="4" name="Slide Number Placeholder 3">
            <a:extLst>
              <a:ext uri="{FF2B5EF4-FFF2-40B4-BE49-F238E27FC236}">
                <a16:creationId xmlns:a16="http://schemas.microsoft.com/office/drawing/2014/main" id="{60EB017F-7C7F-F9EE-5674-AF6ED9234967}"/>
              </a:ext>
            </a:extLst>
          </p:cNvPr>
          <p:cNvSpPr>
            <a:spLocks noGrp="1"/>
          </p:cNvSpPr>
          <p:nvPr>
            <p:ph type="sldNum" sz="quarter" idx="12"/>
          </p:nvPr>
        </p:nvSpPr>
        <p:spPr/>
        <p:txBody>
          <a:bodyPr/>
          <a:lstStyle/>
          <a:p>
            <a:r>
              <a:rPr lang="en-IN"/>
              <a:t>3</a:t>
            </a:r>
            <a:endParaRPr lang="en-IN" dirty="0"/>
          </a:p>
        </p:txBody>
      </p:sp>
      <p:sp>
        <p:nvSpPr>
          <p:cNvPr id="6" name="TextBox 5">
            <a:extLst>
              <a:ext uri="{FF2B5EF4-FFF2-40B4-BE49-F238E27FC236}">
                <a16:creationId xmlns:a16="http://schemas.microsoft.com/office/drawing/2014/main" id="{92200438-784F-60BF-3937-9B2976749B61}"/>
              </a:ext>
            </a:extLst>
          </p:cNvPr>
          <p:cNvSpPr txBox="1"/>
          <p:nvPr/>
        </p:nvSpPr>
        <p:spPr>
          <a:xfrm>
            <a:off x="838200" y="1418253"/>
            <a:ext cx="10255898" cy="2862322"/>
          </a:xfrm>
          <a:prstGeom prst="rect">
            <a:avLst/>
          </a:prstGeom>
          <a:noFill/>
        </p:spPr>
        <p:txBody>
          <a:bodyPr wrap="square">
            <a:spAutoFit/>
          </a:bodyPr>
          <a:lstStyle/>
          <a:p>
            <a:pPr marL="342900" indent="-342900" algn="just">
              <a:buFont typeface="+mj-lt"/>
              <a:buAutoNum type="arabicPeriod" startAt="5"/>
            </a:pPr>
            <a:r>
              <a:rPr lang="en-US" i="0" dirty="0">
                <a:solidFill>
                  <a:srgbClr val="374151"/>
                </a:solidFill>
                <a:effectLst/>
                <a:latin typeface="Times New Roman" panose="02020603050405020304" pitchFamily="18" charset="0"/>
                <a:cs typeface="Times New Roman" panose="02020603050405020304" pitchFamily="18" charset="0"/>
              </a:rPr>
              <a:t>The paper </a:t>
            </a:r>
            <a:r>
              <a:rPr lang="en-US" i="0" dirty="0">
                <a:solidFill>
                  <a:srgbClr val="111827"/>
                </a:solidFill>
                <a:effectLst/>
                <a:latin typeface="Times New Roman" panose="02020603050405020304" pitchFamily="18" charset="0"/>
                <a:cs typeface="Times New Roman" panose="02020603050405020304" pitchFamily="18" charset="0"/>
              </a:rPr>
              <a:t>“GSM-R and IoT-Based Messaging for Rail Safety Systems” </a:t>
            </a:r>
            <a:r>
              <a:rPr lang="en-US" i="0" dirty="0">
                <a:solidFill>
                  <a:srgbClr val="374151"/>
                </a:solidFill>
                <a:effectLst/>
                <a:latin typeface="Times New Roman" panose="02020603050405020304" pitchFamily="18" charset="0"/>
                <a:cs typeface="Times New Roman" panose="02020603050405020304" pitchFamily="18" charset="0"/>
              </a:rPr>
              <a:t>discusses the integration of GSM-R (Global System for Mobile Communications – Railway) and IoT (Internet of Things) technologies for real-time communication and alerts in railway safety systems. The research explores how IoT sensors can collect data on various railway parameters, such as track conditions and train status, and transmit this data to a central server via GSM-R. The system is designed to generate automated alerts and notifications to relevant personnel, such as train drivers and maintenance crews, in response to critical events. The study focuses on ensuring reliable and secure communication between the IoT devices and the central server. The results demonstrate the effectiveness of GSM-R and IoT integration in enhancing railway safety and operational efficiency.</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37134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B2A360C-FCD0-AEBE-A75B-07567440BBA1}"/>
              </a:ext>
            </a:extLst>
          </p:cNvPr>
          <p:cNvSpPr>
            <a:spLocks noGrp="1"/>
          </p:cNvSpPr>
          <p:nvPr>
            <p:ph type="dt" sz="half" idx="10"/>
          </p:nvPr>
        </p:nvSpPr>
        <p:spPr/>
        <p:txBody>
          <a:bodyPr/>
          <a:lstStyle/>
          <a:p>
            <a:fld id="{E890A751-91A0-4E1C-89F5-BFF21E9B4F7C}" type="datetime1">
              <a:rPr lang="en-IN" smtClean="0"/>
              <a:t>10-06-2025</a:t>
            </a:fld>
            <a:endParaRPr lang="en-IN" dirty="0"/>
          </a:p>
        </p:txBody>
      </p:sp>
      <p:sp>
        <p:nvSpPr>
          <p:cNvPr id="4" name="Slide Number Placeholder 3">
            <a:extLst>
              <a:ext uri="{FF2B5EF4-FFF2-40B4-BE49-F238E27FC236}">
                <a16:creationId xmlns:a16="http://schemas.microsoft.com/office/drawing/2014/main" id="{59ADC0B1-91CD-11E3-8EB6-249EF8352287}"/>
              </a:ext>
            </a:extLst>
          </p:cNvPr>
          <p:cNvSpPr>
            <a:spLocks noGrp="1"/>
          </p:cNvSpPr>
          <p:nvPr>
            <p:ph type="sldNum" sz="quarter" idx="12"/>
          </p:nvPr>
        </p:nvSpPr>
        <p:spPr/>
        <p:txBody>
          <a:bodyPr/>
          <a:lstStyle/>
          <a:p>
            <a:r>
              <a:rPr lang="en-IN"/>
              <a:t>3</a:t>
            </a:r>
            <a:endParaRPr lang="en-IN" dirty="0"/>
          </a:p>
        </p:txBody>
      </p:sp>
      <p:graphicFrame>
        <p:nvGraphicFramePr>
          <p:cNvPr id="8" name="Table 7">
            <a:extLst>
              <a:ext uri="{FF2B5EF4-FFF2-40B4-BE49-F238E27FC236}">
                <a16:creationId xmlns:a16="http://schemas.microsoft.com/office/drawing/2014/main" id="{18CE54EF-EBAC-46E1-9A65-968615A674F5}"/>
              </a:ext>
            </a:extLst>
          </p:cNvPr>
          <p:cNvGraphicFramePr>
            <a:graphicFrameLocks noGrp="1"/>
          </p:cNvGraphicFramePr>
          <p:nvPr>
            <p:extLst>
              <p:ext uri="{D42A27DB-BD31-4B8C-83A1-F6EECF244321}">
                <p14:modId xmlns:p14="http://schemas.microsoft.com/office/powerpoint/2010/main" val="2834272023"/>
              </p:ext>
            </p:extLst>
          </p:nvPr>
        </p:nvGraphicFramePr>
        <p:xfrm>
          <a:off x="3926747" y="1253331"/>
          <a:ext cx="4070491" cy="4351337"/>
        </p:xfrm>
        <a:graphic>
          <a:graphicData uri="http://schemas.openxmlformats.org/drawingml/2006/table">
            <a:tbl>
              <a:tblPr/>
              <a:tblGrid>
                <a:gridCol w="924304">
                  <a:extLst>
                    <a:ext uri="{9D8B030D-6E8A-4147-A177-3AD203B41FA5}">
                      <a16:colId xmlns:a16="http://schemas.microsoft.com/office/drawing/2014/main" val="3579234319"/>
                    </a:ext>
                  </a:extLst>
                </a:gridCol>
                <a:gridCol w="817653">
                  <a:extLst>
                    <a:ext uri="{9D8B030D-6E8A-4147-A177-3AD203B41FA5}">
                      <a16:colId xmlns:a16="http://schemas.microsoft.com/office/drawing/2014/main" val="3845086412"/>
                    </a:ext>
                  </a:extLst>
                </a:gridCol>
                <a:gridCol w="1297580">
                  <a:extLst>
                    <a:ext uri="{9D8B030D-6E8A-4147-A177-3AD203B41FA5}">
                      <a16:colId xmlns:a16="http://schemas.microsoft.com/office/drawing/2014/main" val="895163453"/>
                    </a:ext>
                  </a:extLst>
                </a:gridCol>
                <a:gridCol w="1030954">
                  <a:extLst>
                    <a:ext uri="{9D8B030D-6E8A-4147-A177-3AD203B41FA5}">
                      <a16:colId xmlns:a16="http://schemas.microsoft.com/office/drawing/2014/main" val="2942492501"/>
                    </a:ext>
                  </a:extLst>
                </a:gridCol>
              </a:tblGrid>
              <a:tr h="255961">
                <a:tc>
                  <a:txBody>
                    <a:bodyPr/>
                    <a:lstStyle/>
                    <a:p>
                      <a:pPr algn="l" fontAlgn="b"/>
                      <a:r>
                        <a:rPr lang="en-IN" sz="800" b="1" i="0" u="none" strike="noStrike">
                          <a:solidFill>
                            <a:srgbClr val="FFFFFF"/>
                          </a:solidFill>
                          <a:effectLst/>
                          <a:latin typeface="Calibri" panose="020F0502020204030204" pitchFamily="34" charset="0"/>
                        </a:rPr>
                        <a:t>Paper Title</a:t>
                      </a:r>
                    </a:p>
                  </a:txBody>
                  <a:tcPr marL="5333" marR="5333" marT="5333" marB="0" anchor="b">
                    <a:lnL w="6350" cap="flat" cmpd="sng" algn="ctr">
                      <a:solidFill>
                        <a:srgbClr val="C9C9C9"/>
                      </a:solidFill>
                      <a:prstDash val="solid"/>
                      <a:round/>
                      <a:headEnd type="none" w="med" len="med"/>
                      <a:tailEnd type="none" w="med" len="med"/>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A5A5A5"/>
                    </a:solidFill>
                  </a:tcPr>
                </a:tc>
                <a:tc>
                  <a:txBody>
                    <a:bodyPr/>
                    <a:lstStyle/>
                    <a:p>
                      <a:pPr algn="l" fontAlgn="b"/>
                      <a:r>
                        <a:rPr lang="en-IN" sz="800" b="1" i="0" u="none" strike="noStrike">
                          <a:solidFill>
                            <a:srgbClr val="FFFFFF"/>
                          </a:solidFill>
                          <a:effectLst/>
                          <a:latin typeface="Calibri" panose="020F0502020204030204" pitchFamily="34" charset="0"/>
                        </a:rPr>
                        <a:t>Main Focus</a:t>
                      </a:r>
                    </a:p>
                  </a:txBody>
                  <a:tcPr marL="5333" marR="5333" marT="5333" marB="0" anchor="b">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A5A5A5"/>
                    </a:solidFill>
                  </a:tcPr>
                </a:tc>
                <a:tc>
                  <a:txBody>
                    <a:bodyPr/>
                    <a:lstStyle/>
                    <a:p>
                      <a:pPr algn="l" fontAlgn="b"/>
                      <a:r>
                        <a:rPr lang="en-IN" sz="800" b="1" i="0" u="none" strike="noStrike">
                          <a:solidFill>
                            <a:srgbClr val="FFFFFF"/>
                          </a:solidFill>
                          <a:effectLst/>
                          <a:latin typeface="Calibri" panose="020F0502020204030204" pitchFamily="34" charset="0"/>
                        </a:rPr>
                        <a:t>Methods/Technologies Used</a:t>
                      </a:r>
                    </a:p>
                  </a:txBody>
                  <a:tcPr marL="5333" marR="5333" marT="5333" marB="0" anchor="b">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A5A5A5"/>
                    </a:solidFill>
                  </a:tcPr>
                </a:tc>
                <a:tc>
                  <a:txBody>
                    <a:bodyPr/>
                    <a:lstStyle/>
                    <a:p>
                      <a:pPr algn="l" fontAlgn="b"/>
                      <a:r>
                        <a:rPr lang="en-IN" sz="800" b="1" i="0" u="none" strike="noStrike">
                          <a:solidFill>
                            <a:srgbClr val="FFFFFF"/>
                          </a:solidFill>
                          <a:effectLst/>
                          <a:latin typeface="Calibri" panose="020F0502020204030204" pitchFamily="34" charset="0"/>
                        </a:rPr>
                        <a:t>Key Findings/Results</a:t>
                      </a:r>
                    </a:p>
                  </a:txBody>
                  <a:tcPr marL="5333" marR="5333" marT="5333" marB="0" anchor="b">
                    <a:lnL>
                      <a:noFill/>
                    </a:lnL>
                    <a:lnR w="6350" cap="flat" cmpd="sng" algn="ctr">
                      <a:solidFill>
                        <a:srgbClr val="C9C9C9"/>
                      </a:solidFill>
                      <a:prstDash val="solid"/>
                      <a:round/>
                      <a:headEnd type="none" w="med" len="med"/>
                      <a:tailEnd type="none" w="med" len="med"/>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A5A5A5"/>
                    </a:solidFill>
                  </a:tcPr>
                </a:tc>
                <a:extLst>
                  <a:ext uri="{0D108BD9-81ED-4DB2-BD59-A6C34878D82A}">
                    <a16:rowId xmlns:a16="http://schemas.microsoft.com/office/drawing/2014/main" val="1136851565"/>
                  </a:ext>
                </a:extLst>
              </a:tr>
              <a:tr h="767883">
                <a:tc>
                  <a:txBody>
                    <a:bodyPr/>
                    <a:lstStyle/>
                    <a:p>
                      <a:pPr algn="l" fontAlgn="b"/>
                      <a:r>
                        <a:rPr lang="en-US" sz="800" b="0" i="0" u="none" strike="noStrike">
                          <a:solidFill>
                            <a:srgbClr val="000000"/>
                          </a:solidFill>
                          <a:effectLst/>
                          <a:latin typeface="Calibri" panose="020F0502020204030204" pitchFamily="34" charset="0"/>
                        </a:rPr>
                        <a:t>Real-Time Obstacle Detection and Avoidance for Railway Vehicles Using Stereo Vision</a:t>
                      </a:r>
                    </a:p>
                  </a:txBody>
                  <a:tcPr marL="5333" marR="5333" marT="5333" marB="0" anchor="b">
                    <a:lnL w="6350" cap="flat" cmpd="sng" algn="ctr">
                      <a:solidFill>
                        <a:srgbClr val="C9C9C9"/>
                      </a:solidFill>
                      <a:prstDash val="solid"/>
                      <a:round/>
                      <a:headEnd type="none" w="med" len="med"/>
                      <a:tailEnd type="none" w="med" len="med"/>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EDEDED"/>
                    </a:solidFill>
                  </a:tcPr>
                </a:tc>
                <a:tc>
                  <a:txBody>
                    <a:bodyPr/>
                    <a:lstStyle/>
                    <a:p>
                      <a:pPr algn="l" fontAlgn="b"/>
                      <a:r>
                        <a:rPr lang="en-US" sz="800" b="0" i="0" u="none" strike="noStrike">
                          <a:solidFill>
                            <a:srgbClr val="000000"/>
                          </a:solidFill>
                          <a:effectLst/>
                          <a:latin typeface="Calibri" panose="020F0502020204030204" pitchFamily="34" charset="0"/>
                        </a:rPr>
                        <a:t>Real-time obstacle detection in railway environments using stereo vision</a:t>
                      </a:r>
                    </a:p>
                  </a:txBody>
                  <a:tcPr marL="5333" marR="5333" marT="5333" marB="0" anchor="b">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EDEDED"/>
                    </a:solidFill>
                  </a:tcPr>
                </a:tc>
                <a:tc>
                  <a:txBody>
                    <a:bodyPr/>
                    <a:lstStyle/>
                    <a:p>
                      <a:pPr algn="l" fontAlgn="b"/>
                      <a:r>
                        <a:rPr lang="en-IN" sz="800" b="0" i="0" u="none" strike="noStrike">
                          <a:solidFill>
                            <a:srgbClr val="000000"/>
                          </a:solidFill>
                          <a:effectLst/>
                          <a:latin typeface="Calibri" panose="020F0502020204030204" pitchFamily="34" charset="0"/>
                        </a:rPr>
                        <a:t>Stereo vision cameras, depth map generation, image processing algorithms</a:t>
                      </a:r>
                    </a:p>
                  </a:txBody>
                  <a:tcPr marL="5333" marR="5333" marT="5333" marB="0" anchor="b">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EDEDED"/>
                    </a:solidFill>
                  </a:tcPr>
                </a:tc>
                <a:tc>
                  <a:txBody>
                    <a:bodyPr/>
                    <a:lstStyle/>
                    <a:p>
                      <a:pPr algn="l" fontAlgn="b"/>
                      <a:r>
                        <a:rPr lang="en-US" sz="800" b="0" i="0" u="none" strike="noStrike">
                          <a:solidFill>
                            <a:srgbClr val="000000"/>
                          </a:solidFill>
                          <a:effectLst/>
                          <a:latin typeface="Calibri" panose="020F0502020204030204" pitchFamily="34" charset="0"/>
                        </a:rPr>
                        <a:t>Demonstrates stereo visionâ€™s potential as a reliable, cost-effective solution for timely and robust obstacle detection</a:t>
                      </a:r>
                    </a:p>
                  </a:txBody>
                  <a:tcPr marL="5333" marR="5333" marT="5333" marB="0" anchor="b">
                    <a:lnL>
                      <a:noFill/>
                    </a:lnL>
                    <a:lnR w="6350" cap="flat" cmpd="sng" algn="ctr">
                      <a:solidFill>
                        <a:srgbClr val="C9C9C9"/>
                      </a:solidFill>
                      <a:prstDash val="solid"/>
                      <a:round/>
                      <a:headEnd type="none" w="med" len="med"/>
                      <a:tailEnd type="none" w="med" len="med"/>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EDEDED"/>
                    </a:solidFill>
                  </a:tcPr>
                </a:tc>
                <a:extLst>
                  <a:ext uri="{0D108BD9-81ED-4DB2-BD59-A6C34878D82A}">
                    <a16:rowId xmlns:a16="http://schemas.microsoft.com/office/drawing/2014/main" val="1736646078"/>
                  </a:ext>
                </a:extLst>
              </a:tr>
              <a:tr h="767883">
                <a:tc>
                  <a:txBody>
                    <a:bodyPr/>
                    <a:lstStyle/>
                    <a:p>
                      <a:pPr algn="l" fontAlgn="b"/>
                      <a:r>
                        <a:rPr lang="en-US" sz="800" b="0" i="0" u="none" strike="noStrike">
                          <a:solidFill>
                            <a:srgbClr val="000000"/>
                          </a:solidFill>
                          <a:effectLst/>
                          <a:latin typeface="Calibri" panose="020F0502020204030204" pitchFamily="34" charset="0"/>
                        </a:rPr>
                        <a:t>Crack Detection Using Vibration, Visual, and Thermal Sensors: A Sensor Fusion Approach</a:t>
                      </a:r>
                    </a:p>
                  </a:txBody>
                  <a:tcPr marL="5333" marR="5333" marT="5333" marB="0" anchor="b">
                    <a:lnL w="6350" cap="flat" cmpd="sng" algn="ctr">
                      <a:solidFill>
                        <a:srgbClr val="C9C9C9"/>
                      </a:solidFill>
                      <a:prstDash val="solid"/>
                      <a:round/>
                      <a:headEnd type="none" w="med" len="med"/>
                      <a:tailEnd type="none" w="med" len="med"/>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tcPr>
                </a:tc>
                <a:tc>
                  <a:txBody>
                    <a:bodyPr/>
                    <a:lstStyle/>
                    <a:p>
                      <a:pPr algn="l" fontAlgn="b"/>
                      <a:r>
                        <a:rPr lang="en-US" sz="800" b="0" i="0" u="none" strike="noStrike">
                          <a:solidFill>
                            <a:srgbClr val="000000"/>
                          </a:solidFill>
                          <a:effectLst/>
                          <a:latin typeface="Calibri" panose="020F0502020204030204" pitchFamily="34" charset="0"/>
                        </a:rPr>
                        <a:t>Comprehensive crack detection in railway tracks via sensor fusion</a:t>
                      </a:r>
                    </a:p>
                  </a:txBody>
                  <a:tcPr marL="5333" marR="5333" marT="5333" marB="0" anchor="b">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tcPr>
                </a:tc>
                <a:tc>
                  <a:txBody>
                    <a:bodyPr/>
                    <a:lstStyle/>
                    <a:p>
                      <a:pPr algn="l" fontAlgn="b"/>
                      <a:r>
                        <a:rPr lang="en-US" sz="800" b="0" i="0" u="none" strike="noStrike">
                          <a:solidFill>
                            <a:srgbClr val="000000"/>
                          </a:solidFill>
                          <a:effectLst/>
                          <a:latin typeface="Calibri" panose="020F0502020204030204" pitchFamily="34" charset="0"/>
                        </a:rPr>
                        <a:t>Vibration, visual, and thermal sensors; machine learning for data fusion and pattern recognition</a:t>
                      </a:r>
                    </a:p>
                  </a:txBody>
                  <a:tcPr marL="5333" marR="5333" marT="5333" marB="0" anchor="b">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tcPr>
                </a:tc>
                <a:tc>
                  <a:txBody>
                    <a:bodyPr/>
                    <a:lstStyle/>
                    <a:p>
                      <a:pPr algn="l" fontAlgn="b"/>
                      <a:r>
                        <a:rPr lang="en-US" sz="800" b="0" i="0" u="none" strike="noStrike">
                          <a:solidFill>
                            <a:srgbClr val="000000"/>
                          </a:solidFill>
                          <a:effectLst/>
                          <a:latin typeface="Calibri" panose="020F0502020204030204" pitchFamily="34" charset="0"/>
                        </a:rPr>
                        <a:t>Sensor fusion improves accuracy and reliability for both surface and subsurface crack detection</a:t>
                      </a:r>
                    </a:p>
                  </a:txBody>
                  <a:tcPr marL="5333" marR="5333" marT="5333" marB="0" anchor="b">
                    <a:lnL>
                      <a:noFill/>
                    </a:lnL>
                    <a:lnR w="6350" cap="flat" cmpd="sng" algn="ctr">
                      <a:solidFill>
                        <a:srgbClr val="C9C9C9"/>
                      </a:solidFill>
                      <a:prstDash val="solid"/>
                      <a:round/>
                      <a:headEnd type="none" w="med" len="med"/>
                      <a:tailEnd type="none" w="med" len="med"/>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tcPr>
                </a:tc>
                <a:extLst>
                  <a:ext uri="{0D108BD9-81ED-4DB2-BD59-A6C34878D82A}">
                    <a16:rowId xmlns:a16="http://schemas.microsoft.com/office/drawing/2014/main" val="1770510760"/>
                  </a:ext>
                </a:extLst>
              </a:tr>
              <a:tr h="1023844">
                <a:tc>
                  <a:txBody>
                    <a:bodyPr/>
                    <a:lstStyle/>
                    <a:p>
                      <a:pPr algn="l" fontAlgn="b"/>
                      <a:r>
                        <a:rPr lang="en-US" sz="800" b="0" i="0" u="none" strike="noStrike">
                          <a:solidFill>
                            <a:srgbClr val="000000"/>
                          </a:solidFill>
                          <a:effectLst/>
                          <a:latin typeface="Calibri" panose="020F0502020204030204" pitchFamily="34" charset="0"/>
                        </a:rPr>
                        <a:t>Design and Deployment of a Wireless Sensor Network for Railway Monitoring</a:t>
                      </a:r>
                    </a:p>
                  </a:txBody>
                  <a:tcPr marL="5333" marR="5333" marT="5333" marB="0" anchor="b">
                    <a:lnL w="6350" cap="flat" cmpd="sng" algn="ctr">
                      <a:solidFill>
                        <a:srgbClr val="C9C9C9"/>
                      </a:solidFill>
                      <a:prstDash val="solid"/>
                      <a:round/>
                      <a:headEnd type="none" w="med" len="med"/>
                      <a:tailEnd type="none" w="med" len="med"/>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EDEDED"/>
                    </a:solidFill>
                  </a:tcPr>
                </a:tc>
                <a:tc>
                  <a:txBody>
                    <a:bodyPr/>
                    <a:lstStyle/>
                    <a:p>
                      <a:pPr algn="l" fontAlgn="b"/>
                      <a:r>
                        <a:rPr lang="en-US" sz="800" b="0" i="0" u="none" strike="noStrike">
                          <a:solidFill>
                            <a:srgbClr val="000000"/>
                          </a:solidFill>
                          <a:effectLst/>
                          <a:latin typeface="Calibri" panose="020F0502020204030204" pitchFamily="34" charset="0"/>
                        </a:rPr>
                        <a:t>Comprehensive railway monitoring using wireless sensor networks (WSNs)</a:t>
                      </a:r>
                    </a:p>
                  </a:txBody>
                  <a:tcPr marL="5333" marR="5333" marT="5333" marB="0" anchor="b">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EDEDED"/>
                    </a:solidFill>
                  </a:tcPr>
                </a:tc>
                <a:tc>
                  <a:txBody>
                    <a:bodyPr/>
                    <a:lstStyle/>
                    <a:p>
                      <a:pPr algn="l" fontAlgn="b"/>
                      <a:r>
                        <a:rPr lang="en-US" sz="800" b="0" i="0" u="none" strike="noStrike">
                          <a:solidFill>
                            <a:srgbClr val="000000"/>
                          </a:solidFill>
                          <a:effectLst/>
                          <a:latin typeface="Calibri" panose="020F0502020204030204" pitchFamily="34" charset="0"/>
                        </a:rPr>
                        <a:t>Distributed sensor nodes (track stress, temperature, vibration), wireless data transmission, central server</a:t>
                      </a:r>
                    </a:p>
                  </a:txBody>
                  <a:tcPr marL="5333" marR="5333" marT="5333" marB="0" anchor="b">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EDEDED"/>
                    </a:solidFill>
                  </a:tcPr>
                </a:tc>
                <a:tc>
                  <a:txBody>
                    <a:bodyPr/>
                    <a:lstStyle/>
                    <a:p>
                      <a:pPr algn="l" fontAlgn="b"/>
                      <a:r>
                        <a:rPr lang="en-US" sz="800" b="0" i="0" u="none" strike="noStrike">
                          <a:solidFill>
                            <a:srgbClr val="000000"/>
                          </a:solidFill>
                          <a:effectLst/>
                          <a:latin typeface="Calibri" panose="020F0502020204030204" pitchFamily="34" charset="0"/>
                        </a:rPr>
                        <a:t>WSNs enable real-time monitoring and proactive maintenance, demonstrating feasibility and operational benefits</a:t>
                      </a:r>
                    </a:p>
                  </a:txBody>
                  <a:tcPr marL="5333" marR="5333" marT="5333" marB="0" anchor="b">
                    <a:lnL>
                      <a:noFill/>
                    </a:lnL>
                    <a:lnR w="6350" cap="flat" cmpd="sng" algn="ctr">
                      <a:solidFill>
                        <a:srgbClr val="C9C9C9"/>
                      </a:solidFill>
                      <a:prstDash val="solid"/>
                      <a:round/>
                      <a:headEnd type="none" w="med" len="med"/>
                      <a:tailEnd type="none" w="med" len="med"/>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EDEDED"/>
                    </a:solidFill>
                  </a:tcPr>
                </a:tc>
                <a:extLst>
                  <a:ext uri="{0D108BD9-81ED-4DB2-BD59-A6C34878D82A}">
                    <a16:rowId xmlns:a16="http://schemas.microsoft.com/office/drawing/2014/main" val="992855324"/>
                  </a:ext>
                </a:extLst>
              </a:tr>
              <a:tr h="767883">
                <a:tc>
                  <a:txBody>
                    <a:bodyPr/>
                    <a:lstStyle/>
                    <a:p>
                      <a:pPr algn="l" fontAlgn="b"/>
                      <a:r>
                        <a:rPr lang="en-US" sz="800" b="0" i="0" u="none" strike="noStrike">
                          <a:solidFill>
                            <a:srgbClr val="000000"/>
                          </a:solidFill>
                          <a:effectLst/>
                          <a:latin typeface="Calibri" panose="020F0502020204030204" pitchFamily="34" charset="0"/>
                        </a:rPr>
                        <a:t>AI-Based Braking Systems for High-Speed Rail Using Predictive Obstacle Analysis</a:t>
                      </a:r>
                    </a:p>
                  </a:txBody>
                  <a:tcPr marL="5333" marR="5333" marT="5333" marB="0" anchor="b">
                    <a:lnL w="6350" cap="flat" cmpd="sng" algn="ctr">
                      <a:solidFill>
                        <a:srgbClr val="C9C9C9"/>
                      </a:solidFill>
                      <a:prstDash val="solid"/>
                      <a:round/>
                      <a:headEnd type="none" w="med" len="med"/>
                      <a:tailEnd type="none" w="med" len="med"/>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tcPr>
                </a:tc>
                <a:tc>
                  <a:txBody>
                    <a:bodyPr/>
                    <a:lstStyle/>
                    <a:p>
                      <a:pPr algn="l" fontAlgn="b"/>
                      <a:r>
                        <a:rPr lang="en-US" sz="800" b="0" i="0" u="none" strike="noStrike">
                          <a:solidFill>
                            <a:srgbClr val="000000"/>
                          </a:solidFill>
                          <a:effectLst/>
                          <a:latin typeface="Calibri" panose="020F0502020204030204" pitchFamily="34" charset="0"/>
                        </a:rPr>
                        <a:t>Enhanced braking safety for high-speed rail with AI-driven predictive obstacle analysis</a:t>
                      </a:r>
                    </a:p>
                  </a:txBody>
                  <a:tcPr marL="5333" marR="5333" marT="5333" marB="0" anchor="b">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tcPr>
                </a:tc>
                <a:tc>
                  <a:txBody>
                    <a:bodyPr/>
                    <a:lstStyle/>
                    <a:p>
                      <a:pPr algn="l" fontAlgn="b"/>
                      <a:r>
                        <a:rPr lang="en-IN" sz="800" b="0" i="0" u="none" strike="noStrike">
                          <a:solidFill>
                            <a:srgbClr val="000000"/>
                          </a:solidFill>
                          <a:effectLst/>
                          <a:latin typeface="Calibri" panose="020F0502020204030204" pitchFamily="34" charset="0"/>
                        </a:rPr>
                        <a:t>Machine learning, multi-sensor integration (radar, cameras), predictive algorithms</a:t>
                      </a:r>
                    </a:p>
                  </a:txBody>
                  <a:tcPr marL="5333" marR="5333" marT="5333" marB="0" anchor="b">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tcPr>
                </a:tc>
                <a:tc>
                  <a:txBody>
                    <a:bodyPr/>
                    <a:lstStyle/>
                    <a:p>
                      <a:pPr algn="l" fontAlgn="b"/>
                      <a:r>
                        <a:rPr lang="en-US" sz="800" b="0" i="0" u="none" strike="noStrike">
                          <a:solidFill>
                            <a:srgbClr val="000000"/>
                          </a:solidFill>
                          <a:effectLst/>
                          <a:latin typeface="Calibri" panose="020F0502020204030204" pitchFamily="34" charset="0"/>
                        </a:rPr>
                        <a:t>AI-based systems improve accuracy and speed of obstacle prediction, enabling timely and effective braking</a:t>
                      </a:r>
                    </a:p>
                  </a:txBody>
                  <a:tcPr marL="5333" marR="5333" marT="5333" marB="0" anchor="b">
                    <a:lnL>
                      <a:noFill/>
                    </a:lnL>
                    <a:lnR w="6350" cap="flat" cmpd="sng" algn="ctr">
                      <a:solidFill>
                        <a:srgbClr val="C9C9C9"/>
                      </a:solidFill>
                      <a:prstDash val="solid"/>
                      <a:round/>
                      <a:headEnd type="none" w="med" len="med"/>
                      <a:tailEnd type="none" w="med" len="med"/>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tcPr>
                </a:tc>
                <a:extLst>
                  <a:ext uri="{0D108BD9-81ED-4DB2-BD59-A6C34878D82A}">
                    <a16:rowId xmlns:a16="http://schemas.microsoft.com/office/drawing/2014/main" val="423047045"/>
                  </a:ext>
                </a:extLst>
              </a:tr>
              <a:tr h="767883">
                <a:tc>
                  <a:txBody>
                    <a:bodyPr/>
                    <a:lstStyle/>
                    <a:p>
                      <a:pPr algn="l" fontAlgn="b"/>
                      <a:r>
                        <a:rPr lang="en-US" sz="800" b="0" i="0" u="none" strike="noStrike">
                          <a:solidFill>
                            <a:srgbClr val="000000"/>
                          </a:solidFill>
                          <a:effectLst/>
                          <a:latin typeface="Calibri" panose="020F0502020204030204" pitchFamily="34" charset="0"/>
                        </a:rPr>
                        <a:t>GSM-R and IoT-Based Messaging for Rail Safety Systems</a:t>
                      </a:r>
                    </a:p>
                  </a:txBody>
                  <a:tcPr marL="5333" marR="5333" marT="5333" marB="0" anchor="b">
                    <a:lnL w="6350" cap="flat" cmpd="sng" algn="ctr">
                      <a:solidFill>
                        <a:srgbClr val="C9C9C9"/>
                      </a:solidFill>
                      <a:prstDash val="solid"/>
                      <a:round/>
                      <a:headEnd type="none" w="med" len="med"/>
                      <a:tailEnd type="none" w="med" len="med"/>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EDEDED"/>
                    </a:solidFill>
                  </a:tcPr>
                </a:tc>
                <a:tc>
                  <a:txBody>
                    <a:bodyPr/>
                    <a:lstStyle/>
                    <a:p>
                      <a:pPr algn="l" fontAlgn="b"/>
                      <a:r>
                        <a:rPr lang="en-US" sz="800" b="0" i="0" u="none" strike="noStrike">
                          <a:solidFill>
                            <a:srgbClr val="000000"/>
                          </a:solidFill>
                          <a:effectLst/>
                          <a:latin typeface="Calibri" panose="020F0502020204030204" pitchFamily="34" charset="0"/>
                        </a:rPr>
                        <a:t>Real-time communication and alerts for rail safety through GSM-R and IoT integration</a:t>
                      </a:r>
                    </a:p>
                  </a:txBody>
                  <a:tcPr marL="5333" marR="5333" marT="5333" marB="0" anchor="b">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EDEDED"/>
                    </a:solidFill>
                  </a:tcPr>
                </a:tc>
                <a:tc>
                  <a:txBody>
                    <a:bodyPr/>
                    <a:lstStyle/>
                    <a:p>
                      <a:pPr algn="l" fontAlgn="b"/>
                      <a:r>
                        <a:rPr lang="en-IN" sz="800" b="0" i="0" u="none" strike="noStrike">
                          <a:solidFill>
                            <a:srgbClr val="000000"/>
                          </a:solidFill>
                          <a:effectLst/>
                          <a:latin typeface="Calibri" panose="020F0502020204030204" pitchFamily="34" charset="0"/>
                        </a:rPr>
                        <a:t>IoT sensors, GSM-R communication, automated alert generation</a:t>
                      </a:r>
                    </a:p>
                  </a:txBody>
                  <a:tcPr marL="5333" marR="5333" marT="5333" marB="0" anchor="b">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EDEDED"/>
                    </a:solidFill>
                  </a:tcPr>
                </a:tc>
                <a:tc>
                  <a:txBody>
                    <a:bodyPr/>
                    <a:lstStyle/>
                    <a:p>
                      <a:pPr algn="l" fontAlgn="b"/>
                      <a:r>
                        <a:rPr lang="en-US" sz="800" b="0" i="0" u="none" strike="noStrike" dirty="0">
                          <a:solidFill>
                            <a:srgbClr val="000000"/>
                          </a:solidFill>
                          <a:effectLst/>
                          <a:latin typeface="Calibri" panose="020F0502020204030204" pitchFamily="34" charset="0"/>
                        </a:rPr>
                        <a:t>GSM-R and IoT integration enhances safety and operational efficiency with secure, reliable real-time messaging</a:t>
                      </a:r>
                    </a:p>
                  </a:txBody>
                  <a:tcPr marL="5333" marR="5333" marT="5333" marB="0" anchor="b">
                    <a:lnL>
                      <a:noFill/>
                    </a:lnL>
                    <a:lnR w="6350" cap="flat" cmpd="sng" algn="ctr">
                      <a:solidFill>
                        <a:srgbClr val="C9C9C9"/>
                      </a:solidFill>
                      <a:prstDash val="solid"/>
                      <a:round/>
                      <a:headEnd type="none" w="med" len="med"/>
                      <a:tailEnd type="none" w="med" len="med"/>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EDEDED"/>
                    </a:solidFill>
                  </a:tcPr>
                </a:tc>
                <a:extLst>
                  <a:ext uri="{0D108BD9-81ED-4DB2-BD59-A6C34878D82A}">
                    <a16:rowId xmlns:a16="http://schemas.microsoft.com/office/drawing/2014/main" val="1372600803"/>
                  </a:ext>
                </a:extLst>
              </a:tr>
            </a:tbl>
          </a:graphicData>
        </a:graphic>
      </p:graphicFrame>
    </p:spTree>
    <p:extLst>
      <p:ext uri="{BB962C8B-B14F-4D97-AF65-F5344CB8AC3E}">
        <p14:creationId xmlns:p14="http://schemas.microsoft.com/office/powerpoint/2010/main" val="31401156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A8262-17EE-17F4-65C2-4A711FD517EC}"/>
              </a:ext>
            </a:extLst>
          </p:cNvPr>
          <p:cNvSpPr>
            <a:spLocks noGrp="1"/>
          </p:cNvSpPr>
          <p:nvPr>
            <p:ph type="title"/>
          </p:nvPr>
        </p:nvSpPr>
        <p:spPr>
          <a:xfrm>
            <a:off x="1169317" y="1672827"/>
            <a:ext cx="10515600" cy="886408"/>
          </a:xfrm>
        </p:spPr>
        <p:txBody>
          <a:bodyPr/>
          <a:lstStyle/>
          <a:p>
            <a:r>
              <a:rPr lang="en-IN" b="1" dirty="0">
                <a:latin typeface="Times New Roman" panose="02020603050405020304" pitchFamily="18" charset="0"/>
                <a:cs typeface="Times New Roman" panose="02020603050405020304" pitchFamily="18" charset="0"/>
              </a:rPr>
              <a:t>5. Summary of Literature Survey</a:t>
            </a:r>
          </a:p>
        </p:txBody>
      </p:sp>
      <p:sp>
        <p:nvSpPr>
          <p:cNvPr id="3" name="Date Placeholder 2">
            <a:extLst>
              <a:ext uri="{FF2B5EF4-FFF2-40B4-BE49-F238E27FC236}">
                <a16:creationId xmlns:a16="http://schemas.microsoft.com/office/drawing/2014/main" id="{A55A4E09-9C00-1976-01AC-047B134FA38D}"/>
              </a:ext>
            </a:extLst>
          </p:cNvPr>
          <p:cNvSpPr>
            <a:spLocks noGrp="1"/>
          </p:cNvSpPr>
          <p:nvPr>
            <p:ph type="dt" sz="half" idx="10"/>
          </p:nvPr>
        </p:nvSpPr>
        <p:spPr/>
        <p:txBody>
          <a:bodyPr/>
          <a:lstStyle/>
          <a:p>
            <a:fld id="{E890A751-91A0-4E1C-89F5-BFF21E9B4F7C}" type="datetime1">
              <a:rPr lang="en-IN" smtClean="0"/>
              <a:t>10-06-2025</a:t>
            </a:fld>
            <a:endParaRPr lang="en-IN" dirty="0"/>
          </a:p>
        </p:txBody>
      </p:sp>
      <p:sp>
        <p:nvSpPr>
          <p:cNvPr id="4" name="Slide Number Placeholder 3">
            <a:extLst>
              <a:ext uri="{FF2B5EF4-FFF2-40B4-BE49-F238E27FC236}">
                <a16:creationId xmlns:a16="http://schemas.microsoft.com/office/drawing/2014/main" id="{67D5B1E8-80D0-13BD-7C4B-D2C713C17131}"/>
              </a:ext>
            </a:extLst>
          </p:cNvPr>
          <p:cNvSpPr>
            <a:spLocks noGrp="1"/>
          </p:cNvSpPr>
          <p:nvPr>
            <p:ph type="sldNum" sz="quarter" idx="12"/>
          </p:nvPr>
        </p:nvSpPr>
        <p:spPr/>
        <p:txBody>
          <a:bodyPr/>
          <a:lstStyle/>
          <a:p>
            <a:r>
              <a:rPr lang="en-IN"/>
              <a:t>3</a:t>
            </a:r>
            <a:endParaRPr lang="en-IN" dirty="0"/>
          </a:p>
        </p:txBody>
      </p:sp>
      <p:sp>
        <p:nvSpPr>
          <p:cNvPr id="6" name="TextBox 5">
            <a:extLst>
              <a:ext uri="{FF2B5EF4-FFF2-40B4-BE49-F238E27FC236}">
                <a16:creationId xmlns:a16="http://schemas.microsoft.com/office/drawing/2014/main" id="{9E22BB14-F7C4-B68E-2525-41BF4EAAD3E1}"/>
              </a:ext>
            </a:extLst>
          </p:cNvPr>
          <p:cNvSpPr txBox="1"/>
          <p:nvPr/>
        </p:nvSpPr>
        <p:spPr>
          <a:xfrm>
            <a:off x="1080140" y="2428954"/>
            <a:ext cx="10179698" cy="3139321"/>
          </a:xfrm>
          <a:prstGeom prst="rect">
            <a:avLst/>
          </a:prstGeom>
          <a:noFill/>
        </p:spPr>
        <p:txBody>
          <a:bodyPr wrap="square">
            <a:spAutoFit/>
          </a:bodyPr>
          <a:lstStyle/>
          <a:p>
            <a:pPr algn="just"/>
            <a:r>
              <a:rPr lang="en-US" b="0" i="0" dirty="0">
                <a:solidFill>
                  <a:srgbClr val="374151"/>
                </a:solidFill>
                <a:effectLst/>
                <a:latin typeface="Times New Roman" panose="02020603050405020304" pitchFamily="18" charset="0"/>
                <a:cs typeface="Times New Roman" panose="02020603050405020304" pitchFamily="18" charset="0"/>
              </a:rPr>
              <a:t>The reviewed literature showcases a range of AI-driven solutions for rail safety, employing techniques such as stereo vision, sensor fusion, and deep learning on embedded systems. While studies like those using stereo vision for obstacle detection and sensor fusion for crack detection demonstrate promising results in controlled environments, several limitations hinder real-world deployment. Many papers lack comprehensive validation using diverse datasets that reflect the complexities of actual railway conditions. The scalability of proposed systems, particularly those relying on computationally intensive deep learning models, remains a concern due to the resource constraints of embedded platforms. Furthermore, the integration of communication technologies like GSM-R and IoT for real-time alerts, while conceptually sound, often lacks detailed analysis of network reliability and security vulnerabilities. Despite the innovative application of AI in rail safety, the literature reveals a need for more robust validation, attention to practical implementation challenges, and a focus on creating scalable and secure systems for real-world railway environments.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70901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D425A-869F-1C0D-55D5-2D94150D0BDD}"/>
              </a:ext>
            </a:extLst>
          </p:cNvPr>
          <p:cNvSpPr>
            <a:spLocks noGrp="1"/>
          </p:cNvSpPr>
          <p:nvPr>
            <p:ph type="title"/>
          </p:nvPr>
        </p:nvSpPr>
        <p:spPr>
          <a:xfrm>
            <a:off x="964163" y="1285065"/>
            <a:ext cx="10515600" cy="793102"/>
          </a:xfrm>
        </p:spPr>
        <p:txBody>
          <a:bodyPr>
            <a:normAutofit/>
          </a:bodyPr>
          <a:lstStyle/>
          <a:p>
            <a:r>
              <a:rPr lang="en-IN" b="1" dirty="0">
                <a:latin typeface="Times New Roman" panose="02020603050405020304" pitchFamily="18" charset="0"/>
                <a:cs typeface="Times New Roman" panose="02020603050405020304" pitchFamily="18" charset="0"/>
              </a:rPr>
              <a:t> 6. Proposed Architecture </a:t>
            </a:r>
          </a:p>
        </p:txBody>
      </p:sp>
      <p:sp>
        <p:nvSpPr>
          <p:cNvPr id="9" name="Rectangle 3">
            <a:extLst>
              <a:ext uri="{FF2B5EF4-FFF2-40B4-BE49-F238E27FC236}">
                <a16:creationId xmlns:a16="http://schemas.microsoft.com/office/drawing/2014/main" id="{D1A7C4B2-0484-ADDD-A5FA-7BCF020D3AD3}"/>
              </a:ext>
            </a:extLst>
          </p:cNvPr>
          <p:cNvSpPr>
            <a:spLocks noChangeArrowheads="1"/>
          </p:cNvSpPr>
          <p:nvPr/>
        </p:nvSpPr>
        <p:spPr bwMode="auto">
          <a:xfrm>
            <a:off x="964162" y="2214241"/>
            <a:ext cx="1051560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Sensor Layer (Ultrasonic, Lidar, Cameras): </a:t>
            </a:r>
            <a:r>
              <a:rPr lang="en-IN" dirty="0">
                <a:latin typeface="Times New Roman" panose="02020603050405020304" pitchFamily="18" charset="0"/>
                <a:cs typeface="Times New Roman" panose="02020603050405020304" pitchFamily="18" charset="0"/>
              </a:rPr>
              <a:t>Detect obstacles, measure distances, capture visuals for track analysis.</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Data Processing (Edge Computing with AI (CNNs, RNNs)): </a:t>
            </a:r>
            <a:r>
              <a:rPr lang="en-IN" dirty="0" err="1">
                <a:latin typeface="Times New Roman" panose="02020603050405020304" pitchFamily="18" charset="0"/>
                <a:cs typeface="Times New Roman" panose="02020603050405020304" pitchFamily="18" charset="0"/>
              </a:rPr>
              <a:t>Analyze</a:t>
            </a:r>
            <a:r>
              <a:rPr lang="en-IN" dirty="0">
                <a:latin typeface="Times New Roman" panose="02020603050405020304" pitchFamily="18" charset="0"/>
                <a:cs typeface="Times New Roman" panose="02020603050405020304" pitchFamily="18" charset="0"/>
              </a:rPr>
              <a:t> sensor data in real-time for obstacle and crack detection.</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Communication (GSM/Wi-Fi/5G, MQTT Protocol) :</a:t>
            </a:r>
            <a:r>
              <a:rPr lang="en-IN" dirty="0">
                <a:latin typeface="Times New Roman" panose="02020603050405020304" pitchFamily="18" charset="0"/>
                <a:cs typeface="Times New Roman" panose="02020603050405020304" pitchFamily="18" charset="0"/>
              </a:rPr>
              <a:t> Send alerts and data to stakeholders reliably.</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Control Layer (Centralized System for Decision-Making):</a:t>
            </a:r>
            <a:r>
              <a:rPr lang="en-IN" dirty="0">
                <a:latin typeface="Times New Roman" panose="02020603050405020304" pitchFamily="18" charset="0"/>
                <a:cs typeface="Times New Roman" panose="02020603050405020304" pitchFamily="18" charset="0"/>
              </a:rPr>
              <a:t>Process AI outputs, calculate braking, coordinate actions.</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UI Layer (Dashboards, Railway Portals) :</a:t>
            </a:r>
            <a:r>
              <a:rPr lang="en-IN" dirty="0">
                <a:latin typeface="Times New Roman" panose="02020603050405020304" pitchFamily="18" charset="0"/>
                <a:cs typeface="Times New Roman" panose="02020603050405020304" pitchFamily="18" charset="0"/>
              </a:rPr>
              <a:t> Display real-time track status and alerts.</a:t>
            </a:r>
          </a:p>
        </p:txBody>
      </p:sp>
    </p:spTree>
    <p:extLst>
      <p:ext uri="{BB962C8B-B14F-4D97-AF65-F5344CB8AC3E}">
        <p14:creationId xmlns:p14="http://schemas.microsoft.com/office/powerpoint/2010/main" val="11457145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D979DB7-0B9D-540D-99A6-221F67C97E9A}"/>
              </a:ext>
            </a:extLst>
          </p:cNvPr>
          <p:cNvSpPr>
            <a:spLocks noGrp="1"/>
          </p:cNvSpPr>
          <p:nvPr>
            <p:ph type="dt" sz="half" idx="10"/>
          </p:nvPr>
        </p:nvSpPr>
        <p:spPr/>
        <p:txBody>
          <a:bodyPr/>
          <a:lstStyle/>
          <a:p>
            <a:fld id="{E890A751-91A0-4E1C-89F5-BFF21E9B4F7C}" type="datetime1">
              <a:rPr lang="en-IN" smtClean="0"/>
              <a:t>10-06-2025</a:t>
            </a:fld>
            <a:endParaRPr lang="en-IN" dirty="0"/>
          </a:p>
        </p:txBody>
      </p:sp>
      <p:sp>
        <p:nvSpPr>
          <p:cNvPr id="4" name="Slide Number Placeholder 3">
            <a:extLst>
              <a:ext uri="{FF2B5EF4-FFF2-40B4-BE49-F238E27FC236}">
                <a16:creationId xmlns:a16="http://schemas.microsoft.com/office/drawing/2014/main" id="{159C1A6A-1DD3-18F9-91EE-9AC1E5318603}"/>
              </a:ext>
            </a:extLst>
          </p:cNvPr>
          <p:cNvSpPr>
            <a:spLocks noGrp="1"/>
          </p:cNvSpPr>
          <p:nvPr>
            <p:ph type="sldNum" sz="quarter" idx="12"/>
          </p:nvPr>
        </p:nvSpPr>
        <p:spPr/>
        <p:txBody>
          <a:bodyPr/>
          <a:lstStyle/>
          <a:p>
            <a:r>
              <a:rPr lang="en-IN"/>
              <a:t>3</a:t>
            </a:r>
            <a:endParaRPr lang="en-IN" dirty="0"/>
          </a:p>
        </p:txBody>
      </p:sp>
      <p:pic>
        <p:nvPicPr>
          <p:cNvPr id="2050" name="Picture 2">
            <a:extLst>
              <a:ext uri="{FF2B5EF4-FFF2-40B4-BE49-F238E27FC236}">
                <a16:creationId xmlns:a16="http://schemas.microsoft.com/office/drawing/2014/main" id="{A45AAA56-02C5-28BA-8EF6-0A954A2691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500" y="1513840"/>
            <a:ext cx="10287000" cy="42773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7744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9C701189-6000-D574-3721-F3D34FF5FD78}"/>
              </a:ext>
            </a:extLst>
          </p:cNvPr>
          <p:cNvSpPr>
            <a:spLocks noGrp="1"/>
          </p:cNvSpPr>
          <p:nvPr>
            <p:ph type="dt" sz="half" idx="10"/>
          </p:nvPr>
        </p:nvSpPr>
        <p:spPr/>
        <p:txBody>
          <a:bodyPr/>
          <a:lstStyle/>
          <a:p>
            <a:fld id="{E890A751-91A0-4E1C-89F5-BFF21E9B4F7C}" type="datetime1">
              <a:rPr lang="en-IN" smtClean="0"/>
              <a:t>10-06-2025</a:t>
            </a:fld>
            <a:endParaRPr lang="en-IN" dirty="0"/>
          </a:p>
        </p:txBody>
      </p:sp>
      <p:sp>
        <p:nvSpPr>
          <p:cNvPr id="4" name="Slide Number Placeholder 3">
            <a:extLst>
              <a:ext uri="{FF2B5EF4-FFF2-40B4-BE49-F238E27FC236}">
                <a16:creationId xmlns:a16="http://schemas.microsoft.com/office/drawing/2014/main" id="{6B5CC4C2-5779-EF78-1298-CF2DA4960C40}"/>
              </a:ext>
            </a:extLst>
          </p:cNvPr>
          <p:cNvSpPr>
            <a:spLocks noGrp="1"/>
          </p:cNvSpPr>
          <p:nvPr>
            <p:ph type="sldNum" sz="quarter" idx="12"/>
          </p:nvPr>
        </p:nvSpPr>
        <p:spPr/>
        <p:txBody>
          <a:bodyPr/>
          <a:lstStyle/>
          <a:p>
            <a:r>
              <a:rPr lang="en-IN"/>
              <a:t>3</a:t>
            </a:r>
            <a:endParaRPr lang="en-IN" dirty="0"/>
          </a:p>
        </p:txBody>
      </p:sp>
      <p:sp>
        <p:nvSpPr>
          <p:cNvPr id="7" name="TextBox 6">
            <a:extLst>
              <a:ext uri="{FF2B5EF4-FFF2-40B4-BE49-F238E27FC236}">
                <a16:creationId xmlns:a16="http://schemas.microsoft.com/office/drawing/2014/main" id="{CF09C5BE-7572-A520-EAA4-E8D2B9D113B6}"/>
              </a:ext>
            </a:extLst>
          </p:cNvPr>
          <p:cNvSpPr txBox="1"/>
          <p:nvPr/>
        </p:nvSpPr>
        <p:spPr>
          <a:xfrm>
            <a:off x="1119673" y="1576873"/>
            <a:ext cx="10179698" cy="3693319"/>
          </a:xfrm>
          <a:prstGeom prst="rect">
            <a:avLst/>
          </a:prstGeom>
          <a:noFill/>
        </p:spPr>
        <p:txBody>
          <a:bodyPr wrap="square">
            <a:spAutoFit/>
          </a:bodyPr>
          <a:lstStyle/>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Tools &amp; Technologies:</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Python:</a:t>
            </a:r>
            <a:r>
              <a:rPr lang="en-IN" dirty="0">
                <a:latin typeface="Times New Roman" panose="02020603050405020304" pitchFamily="18" charset="0"/>
                <a:cs typeface="Times New Roman" panose="02020603050405020304" pitchFamily="18" charset="0"/>
              </a:rPr>
              <a:t> Core logic and data processing.</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TensorFlow:</a:t>
            </a:r>
            <a:r>
              <a:rPr lang="en-IN" dirty="0">
                <a:latin typeface="Times New Roman" panose="02020603050405020304" pitchFamily="18" charset="0"/>
                <a:cs typeface="Times New Roman" panose="02020603050405020304" pitchFamily="18" charset="0"/>
              </a:rPr>
              <a:t> Build AI models for detection and prediction.</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OpenCV:</a:t>
            </a:r>
            <a:r>
              <a:rPr lang="en-IN" dirty="0">
                <a:latin typeface="Times New Roman" panose="02020603050405020304" pitchFamily="18" charset="0"/>
                <a:cs typeface="Times New Roman" panose="02020603050405020304" pitchFamily="18" charset="0"/>
              </a:rPr>
              <a:t> Process images for obstacle and crack detection.</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ESP32</a:t>
            </a:r>
            <a:r>
              <a:rPr lang="en-IN" dirty="0">
                <a:latin typeface="Times New Roman" panose="02020603050405020304" pitchFamily="18" charset="0"/>
                <a:cs typeface="Times New Roman" panose="02020603050405020304" pitchFamily="18" charset="0"/>
              </a:rPr>
              <a:t>: Power sensor nodes and enable Wi-Fi communication.</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b="1" dirty="0" err="1">
                <a:latin typeface="Times New Roman" panose="02020603050405020304" pitchFamily="18" charset="0"/>
                <a:cs typeface="Times New Roman" panose="02020603050405020304" pitchFamily="18" charset="0"/>
              </a:rPr>
              <a:t>MySQL:</a:t>
            </a:r>
            <a:r>
              <a:rPr lang="en-IN" dirty="0" err="1">
                <a:latin typeface="Times New Roman" panose="02020603050405020304" pitchFamily="18" charset="0"/>
                <a:cs typeface="Times New Roman" panose="02020603050405020304" pitchFamily="18" charset="0"/>
              </a:rPr>
              <a:t>Store</a:t>
            </a:r>
            <a:r>
              <a:rPr lang="en-IN" dirty="0">
                <a:latin typeface="Times New Roman" panose="02020603050405020304" pitchFamily="18" charset="0"/>
                <a:cs typeface="Times New Roman" panose="02020603050405020304" pitchFamily="18" charset="0"/>
              </a:rPr>
              <a:t> historical data for analysis.</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Grafana:</a:t>
            </a:r>
            <a:r>
              <a:rPr lang="en-IN" dirty="0">
                <a:latin typeface="Times New Roman" panose="02020603050405020304" pitchFamily="18" charset="0"/>
                <a:cs typeface="Times New Roman" panose="02020603050405020304" pitchFamily="18" charset="0"/>
              </a:rPr>
              <a:t> Visualize sensor data and alerts on dashboards.</a:t>
            </a:r>
          </a:p>
        </p:txBody>
      </p:sp>
    </p:spTree>
    <p:extLst>
      <p:ext uri="{BB962C8B-B14F-4D97-AF65-F5344CB8AC3E}">
        <p14:creationId xmlns:p14="http://schemas.microsoft.com/office/powerpoint/2010/main" val="37434741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720BC-80AF-8FF7-1FDE-39BB88E8A9E1}"/>
              </a:ext>
            </a:extLst>
          </p:cNvPr>
          <p:cNvSpPr>
            <a:spLocks noGrp="1"/>
          </p:cNvSpPr>
          <p:nvPr>
            <p:ph type="title"/>
          </p:nvPr>
        </p:nvSpPr>
        <p:spPr>
          <a:xfrm>
            <a:off x="972716" y="1370356"/>
            <a:ext cx="10246567" cy="701040"/>
          </a:xfrm>
        </p:spPr>
        <p:txBody>
          <a:bodyPr/>
          <a:lstStyle/>
          <a:p>
            <a:r>
              <a:rPr lang="en-IN" dirty="0">
                <a:latin typeface="Times New Roman" panose="02020603050405020304" pitchFamily="18" charset="0"/>
                <a:cs typeface="Times New Roman" panose="02020603050405020304" pitchFamily="18" charset="0"/>
              </a:rPr>
              <a:t>7. Implementation</a:t>
            </a:r>
          </a:p>
        </p:txBody>
      </p:sp>
      <p:sp>
        <p:nvSpPr>
          <p:cNvPr id="4" name="TextBox 3">
            <a:extLst>
              <a:ext uri="{FF2B5EF4-FFF2-40B4-BE49-F238E27FC236}">
                <a16:creationId xmlns:a16="http://schemas.microsoft.com/office/drawing/2014/main" id="{37C0BA5E-1005-7EBF-9639-3F262BE3B6C0}"/>
              </a:ext>
            </a:extLst>
          </p:cNvPr>
          <p:cNvSpPr txBox="1"/>
          <p:nvPr/>
        </p:nvSpPr>
        <p:spPr>
          <a:xfrm>
            <a:off x="972716" y="1981200"/>
            <a:ext cx="10037406" cy="4337513"/>
          </a:xfrm>
          <a:prstGeom prst="rect">
            <a:avLst/>
          </a:prstGeom>
          <a:noFill/>
        </p:spPr>
        <p:txBody>
          <a:bodyPr wrap="square">
            <a:spAutoFit/>
          </a:bodyPr>
          <a:lstStyle/>
          <a:p>
            <a:pPr algn="just"/>
            <a:r>
              <a:rPr lang="en-IN" dirty="0">
                <a:latin typeface="Times New Roman" panose="02020603050405020304" pitchFamily="18" charset="0"/>
                <a:cs typeface="Times New Roman" panose="02020603050405020304" pitchFamily="18" charset="0"/>
              </a:rPr>
              <a:t>1. Environment Setup</a:t>
            </a:r>
          </a:p>
          <a:p>
            <a:pPr algn="just"/>
            <a:r>
              <a:rPr lang="en-IN" dirty="0">
                <a:latin typeface="Times New Roman" panose="02020603050405020304" pitchFamily="18" charset="0"/>
                <a:cs typeface="Times New Roman" panose="02020603050405020304" pitchFamily="18" charset="0"/>
              </a:rPr>
              <a:t>* Set up Python with required libraries (e.g., OpenCV, NumPy, SQLite).</a:t>
            </a:r>
          </a:p>
          <a:p>
            <a:pPr algn="just"/>
            <a:r>
              <a:rPr lang="en-IN" dirty="0">
                <a:latin typeface="Times New Roman" panose="02020603050405020304" pitchFamily="18" charset="0"/>
                <a:cs typeface="Times New Roman" panose="02020603050405020304" pitchFamily="18" charset="0"/>
              </a:rPr>
              <a:t>* Configure development tools and hardware (PC or Raspberry Pi).</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2. Database Initialization</a:t>
            </a:r>
          </a:p>
          <a:p>
            <a:pPr algn="just"/>
            <a:r>
              <a:rPr lang="en-IN" dirty="0">
                <a:latin typeface="Times New Roman" panose="02020603050405020304" pitchFamily="18" charset="0"/>
                <a:cs typeface="Times New Roman" panose="02020603050405020304" pitchFamily="18" charset="0"/>
              </a:rPr>
              <a:t>* Create a local SQLite database to log obstacle and crack data.</a:t>
            </a:r>
          </a:p>
          <a:p>
            <a:pPr algn="just"/>
            <a:r>
              <a:rPr lang="en-IN" dirty="0">
                <a:latin typeface="Times New Roman" panose="02020603050405020304" pitchFamily="18" charset="0"/>
                <a:cs typeface="Times New Roman" panose="02020603050405020304" pitchFamily="18" charset="0"/>
              </a:rPr>
              <a:t>* Set up tables for obstacle records and crack incidents.</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3. Sensor Network Setup</a:t>
            </a:r>
          </a:p>
          <a:p>
            <a:pPr algn="just"/>
            <a:r>
              <a:rPr lang="en-IN" dirty="0">
                <a:latin typeface="Times New Roman" panose="02020603050405020304" pitchFamily="18" charset="0"/>
                <a:cs typeface="Times New Roman" panose="02020603050405020304" pitchFamily="18" charset="0"/>
              </a:rPr>
              <a:t>* Deploy virtual or physical sensor nodes every 100 meters.</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Sensors used: ultrasonic, thermal, vibration, and visual.</a:t>
            </a:r>
          </a:p>
          <a:p>
            <a:pPr marL="285750" indent="-285750" algn="just">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4. 3D Imaging System Integration</a:t>
            </a:r>
          </a:p>
          <a:p>
            <a:pPr algn="just"/>
            <a:r>
              <a:rPr lang="en-IN" dirty="0">
                <a:latin typeface="Times New Roman" panose="02020603050405020304" pitchFamily="18" charset="0"/>
                <a:cs typeface="Times New Roman" panose="02020603050405020304" pitchFamily="18" charset="0"/>
              </a:rPr>
              <a:t>* Configure stereo cameras for left-right image capture.</a:t>
            </a:r>
          </a:p>
          <a:p>
            <a:pPr algn="just"/>
            <a:r>
              <a:rPr lang="en-IN" dirty="0">
                <a:latin typeface="Times New Roman" panose="02020603050405020304" pitchFamily="18" charset="0"/>
                <a:cs typeface="Times New Roman" panose="02020603050405020304" pitchFamily="18" charset="0"/>
              </a:rPr>
              <a:t>* Generate depth maps to calculate distance and size of obstacles.</a:t>
            </a:r>
          </a:p>
        </p:txBody>
      </p:sp>
    </p:spTree>
    <p:extLst>
      <p:ext uri="{BB962C8B-B14F-4D97-AF65-F5344CB8AC3E}">
        <p14:creationId xmlns:p14="http://schemas.microsoft.com/office/powerpoint/2010/main" val="3144434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31CEDDEE-4E57-F05C-7D13-E38CE45A4F68}"/>
              </a:ext>
            </a:extLst>
          </p:cNvPr>
          <p:cNvSpPr>
            <a:spLocks noGrp="1"/>
          </p:cNvSpPr>
          <p:nvPr>
            <p:ph type="dt" sz="half" idx="10"/>
          </p:nvPr>
        </p:nvSpPr>
        <p:spPr/>
        <p:txBody>
          <a:bodyPr/>
          <a:lstStyle/>
          <a:p>
            <a:fld id="{E890A751-91A0-4E1C-89F5-BFF21E9B4F7C}" type="datetime1">
              <a:rPr lang="en-IN" smtClean="0"/>
              <a:t>10-06-2025</a:t>
            </a:fld>
            <a:endParaRPr lang="en-IN" dirty="0"/>
          </a:p>
        </p:txBody>
      </p:sp>
      <p:sp>
        <p:nvSpPr>
          <p:cNvPr id="4" name="Slide Number Placeholder 3">
            <a:extLst>
              <a:ext uri="{FF2B5EF4-FFF2-40B4-BE49-F238E27FC236}">
                <a16:creationId xmlns:a16="http://schemas.microsoft.com/office/drawing/2014/main" id="{4539AE80-BADB-4D75-5C60-7B21EE868681}"/>
              </a:ext>
            </a:extLst>
          </p:cNvPr>
          <p:cNvSpPr>
            <a:spLocks noGrp="1"/>
          </p:cNvSpPr>
          <p:nvPr>
            <p:ph type="sldNum" sz="quarter" idx="12"/>
          </p:nvPr>
        </p:nvSpPr>
        <p:spPr/>
        <p:txBody>
          <a:bodyPr/>
          <a:lstStyle/>
          <a:p>
            <a:r>
              <a:rPr lang="en-IN"/>
              <a:t>3</a:t>
            </a:r>
            <a:endParaRPr lang="en-IN" dirty="0"/>
          </a:p>
        </p:txBody>
      </p:sp>
      <p:sp>
        <p:nvSpPr>
          <p:cNvPr id="6" name="TextBox 5">
            <a:extLst>
              <a:ext uri="{FF2B5EF4-FFF2-40B4-BE49-F238E27FC236}">
                <a16:creationId xmlns:a16="http://schemas.microsoft.com/office/drawing/2014/main" id="{7822E746-CF46-A136-6E8E-A898F80D7FF4}"/>
              </a:ext>
            </a:extLst>
          </p:cNvPr>
          <p:cNvSpPr txBox="1"/>
          <p:nvPr/>
        </p:nvSpPr>
        <p:spPr>
          <a:xfrm>
            <a:off x="20613179" y="975360"/>
            <a:ext cx="9682480" cy="5385792"/>
          </a:xfrm>
          <a:prstGeom prst="rect">
            <a:avLst/>
          </a:prstGeom>
          <a:noFill/>
        </p:spPr>
        <p:txBody>
          <a:bodyPr wrap="square">
            <a:spAutoFit/>
          </a:bodyPr>
          <a:lstStyle/>
          <a:p>
            <a:pPr algn="just"/>
            <a:r>
              <a:rPr lang="en-US" dirty="0"/>
              <a:t>5. Obstacle &amp; Crack Detection</a:t>
            </a:r>
          </a:p>
          <a:p>
            <a:pPr algn="just"/>
            <a:r>
              <a:rPr lang="en-US" dirty="0"/>
              <a:t>* Use edge detection and contour analysis for obstacle recognition.</a:t>
            </a:r>
          </a:p>
          <a:p>
            <a:pPr algn="just"/>
            <a:r>
              <a:rPr lang="en-US" dirty="0"/>
              <a:t>* Fuse data from multiple sensors to assess crack severity.</a:t>
            </a:r>
          </a:p>
          <a:p>
            <a:pPr algn="just"/>
            <a:endParaRPr lang="en-US" dirty="0"/>
          </a:p>
          <a:p>
            <a:pPr algn="just"/>
            <a:r>
              <a:rPr lang="en-US" dirty="0"/>
              <a:t>6. Braking System Logic</a:t>
            </a:r>
          </a:p>
          <a:p>
            <a:pPr algn="just"/>
            <a:r>
              <a:rPr lang="en-US" dirty="0"/>
              <a:t>* Calculate required braking force based on speed, obstacle size, and distance.</a:t>
            </a:r>
          </a:p>
          <a:p>
            <a:pPr algn="just"/>
            <a:r>
              <a:rPr lang="en-US" dirty="0"/>
              <a:t>* Categorize responses: emergency brake, heavy brake, or caution.</a:t>
            </a:r>
          </a:p>
          <a:p>
            <a:pPr algn="just"/>
            <a:endParaRPr lang="en-US" dirty="0"/>
          </a:p>
          <a:p>
            <a:pPr algn="just"/>
            <a:r>
              <a:rPr lang="en-US" dirty="0"/>
              <a:t>7. Real-Time Alerts &amp; Communication</a:t>
            </a:r>
          </a:p>
          <a:p>
            <a:pPr algn="just"/>
            <a:r>
              <a:rPr lang="en-US" dirty="0"/>
              <a:t>* Send alerts to the driver, workshop, and control station using GSM.</a:t>
            </a:r>
          </a:p>
          <a:p>
            <a:pPr algn="just"/>
            <a:r>
              <a:rPr lang="en-US" dirty="0"/>
              <a:t>* Display warning messages and braking instructions in real time.</a:t>
            </a:r>
          </a:p>
          <a:p>
            <a:pPr algn="just"/>
            <a:endParaRPr lang="en-US" dirty="0"/>
          </a:p>
          <a:p>
            <a:pPr algn="just"/>
            <a:r>
              <a:rPr lang="en-US" dirty="0"/>
              <a:t>8. Logging &amp; Reporting</a:t>
            </a:r>
          </a:p>
          <a:p>
            <a:pPr algn="just"/>
            <a:r>
              <a:rPr lang="en-US" dirty="0"/>
              <a:t>* Save images and sensor data with timestamps for future analysis.</a:t>
            </a:r>
          </a:p>
          <a:p>
            <a:pPr algn="just"/>
            <a:r>
              <a:rPr lang="en-US" dirty="0"/>
              <a:t>* Maintain a structured record in the database for auditing.</a:t>
            </a:r>
          </a:p>
          <a:p>
            <a:pPr algn="just"/>
            <a:endParaRPr lang="en-US" dirty="0"/>
          </a:p>
          <a:p>
            <a:pPr algn="just"/>
            <a:r>
              <a:rPr lang="en-US" dirty="0"/>
              <a:t>9. System Loop Execution</a:t>
            </a:r>
          </a:p>
          <a:p>
            <a:pPr algn="just"/>
            <a:r>
              <a:rPr lang="en-US" dirty="0"/>
              <a:t>* Continuously monitor for obstacles or cracks.</a:t>
            </a:r>
          </a:p>
          <a:p>
            <a:pPr algn="just"/>
            <a:r>
              <a:rPr lang="en-US" dirty="0"/>
              <a:t>* Automatically trigger alerts and braking responses in a loop.</a:t>
            </a:r>
            <a:endParaRPr lang="en-IN" dirty="0"/>
          </a:p>
        </p:txBody>
      </p:sp>
      <p:sp>
        <p:nvSpPr>
          <p:cNvPr id="5" name="TextBox 4">
            <a:extLst>
              <a:ext uri="{FF2B5EF4-FFF2-40B4-BE49-F238E27FC236}">
                <a16:creationId xmlns:a16="http://schemas.microsoft.com/office/drawing/2014/main" id="{B4B85F7F-3A14-2652-3682-01EE58688B31}"/>
              </a:ext>
            </a:extLst>
          </p:cNvPr>
          <p:cNvSpPr txBox="1"/>
          <p:nvPr/>
        </p:nvSpPr>
        <p:spPr>
          <a:xfrm>
            <a:off x="987971" y="1072054"/>
            <a:ext cx="10794125" cy="5078313"/>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5. Obstacle &amp; Crack Detection</a:t>
            </a:r>
          </a:p>
          <a:p>
            <a:r>
              <a:rPr lang="en-IN" dirty="0">
                <a:latin typeface="Times New Roman" panose="02020603050405020304" pitchFamily="18" charset="0"/>
                <a:cs typeface="Times New Roman" panose="02020603050405020304" pitchFamily="18" charset="0"/>
              </a:rPr>
              <a:t>* Use edge detection and contour analysis for obstacle recognition.</a:t>
            </a:r>
          </a:p>
          <a:p>
            <a:r>
              <a:rPr lang="en-IN" dirty="0">
                <a:latin typeface="Times New Roman" panose="02020603050405020304" pitchFamily="18" charset="0"/>
                <a:cs typeface="Times New Roman" panose="02020603050405020304" pitchFamily="18" charset="0"/>
              </a:rPr>
              <a:t>* Fuse data from multiple sensors to assess crack severity.</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6. Braking System Logic</a:t>
            </a:r>
          </a:p>
          <a:p>
            <a:r>
              <a:rPr lang="en-IN" dirty="0">
                <a:latin typeface="Times New Roman" panose="02020603050405020304" pitchFamily="18" charset="0"/>
                <a:cs typeface="Times New Roman" panose="02020603050405020304" pitchFamily="18" charset="0"/>
              </a:rPr>
              <a:t>* Calculate required braking force based on speed, obstacle size, and distance.</a:t>
            </a:r>
          </a:p>
          <a:p>
            <a:r>
              <a:rPr lang="en-IN" dirty="0">
                <a:latin typeface="Times New Roman" panose="02020603050405020304" pitchFamily="18" charset="0"/>
                <a:cs typeface="Times New Roman" panose="02020603050405020304" pitchFamily="18" charset="0"/>
              </a:rPr>
              <a:t>* Categorize responses: emergency brake, heavy brake, or caution.</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7. Real-Time Alerts &amp; Communication</a:t>
            </a:r>
          </a:p>
          <a:p>
            <a:r>
              <a:rPr lang="en-IN" dirty="0">
                <a:latin typeface="Times New Roman" panose="02020603050405020304" pitchFamily="18" charset="0"/>
                <a:cs typeface="Times New Roman" panose="02020603050405020304" pitchFamily="18" charset="0"/>
              </a:rPr>
              <a:t>* Send alerts to the driver, workshop, and control station using GSM.</a:t>
            </a:r>
          </a:p>
          <a:p>
            <a:r>
              <a:rPr lang="en-IN" dirty="0">
                <a:latin typeface="Times New Roman" panose="02020603050405020304" pitchFamily="18" charset="0"/>
                <a:cs typeface="Times New Roman" panose="02020603050405020304" pitchFamily="18" charset="0"/>
              </a:rPr>
              <a:t>* Display warning messages and braking instructions in real time.</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8. Logging &amp; Reporting</a:t>
            </a:r>
          </a:p>
          <a:p>
            <a:r>
              <a:rPr lang="en-IN" dirty="0">
                <a:latin typeface="Times New Roman" panose="02020603050405020304" pitchFamily="18" charset="0"/>
                <a:cs typeface="Times New Roman" panose="02020603050405020304" pitchFamily="18" charset="0"/>
              </a:rPr>
              <a:t>* Save images and sensor data with timestamps for future analysis.</a:t>
            </a:r>
          </a:p>
          <a:p>
            <a:r>
              <a:rPr lang="en-IN" dirty="0">
                <a:latin typeface="Times New Roman" panose="02020603050405020304" pitchFamily="18" charset="0"/>
                <a:cs typeface="Times New Roman" panose="02020603050405020304" pitchFamily="18" charset="0"/>
              </a:rPr>
              <a:t>* Maintain a structured record in the database for auditing.</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9. System Loop Execution</a:t>
            </a:r>
          </a:p>
          <a:p>
            <a:r>
              <a:rPr lang="en-IN" dirty="0">
                <a:latin typeface="Times New Roman" panose="02020603050405020304" pitchFamily="18" charset="0"/>
                <a:cs typeface="Times New Roman" panose="02020603050405020304" pitchFamily="18" charset="0"/>
              </a:rPr>
              <a:t>* Continuously monitor for obstacles or cracks and automatically trigger </a:t>
            </a:r>
            <a:r>
              <a:rPr lang="en-IN" dirty="0" err="1">
                <a:latin typeface="Times New Roman" panose="02020603050405020304" pitchFamily="18" charset="0"/>
                <a:cs typeface="Times New Roman" panose="02020603050405020304" pitchFamily="18" charset="0"/>
              </a:rPr>
              <a:t>alerts,braking</a:t>
            </a:r>
            <a:r>
              <a:rPr lang="en-IN" dirty="0">
                <a:latin typeface="Times New Roman" panose="02020603050405020304" pitchFamily="18" charset="0"/>
                <a:cs typeface="Times New Roman" panose="02020603050405020304" pitchFamily="18" charset="0"/>
              </a:rPr>
              <a:t> responses in a loop.</a:t>
            </a:r>
          </a:p>
        </p:txBody>
      </p:sp>
    </p:spTree>
    <p:extLst>
      <p:ext uri="{BB962C8B-B14F-4D97-AF65-F5344CB8AC3E}">
        <p14:creationId xmlns:p14="http://schemas.microsoft.com/office/powerpoint/2010/main" val="36182989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BBF8C-D657-A790-CDAF-151941F55E1B}"/>
              </a:ext>
            </a:extLst>
          </p:cNvPr>
          <p:cNvSpPr>
            <a:spLocks noGrp="1"/>
          </p:cNvSpPr>
          <p:nvPr>
            <p:ph type="title"/>
          </p:nvPr>
        </p:nvSpPr>
        <p:spPr>
          <a:xfrm>
            <a:off x="1097902" y="1054359"/>
            <a:ext cx="10255898" cy="877078"/>
          </a:xfrm>
        </p:spPr>
        <p:txBody>
          <a:bodyPr/>
          <a:lstStyle/>
          <a:p>
            <a:r>
              <a:rPr lang="en-IN" b="1" dirty="0">
                <a:latin typeface="Times New Roman" panose="02020603050405020304" pitchFamily="18" charset="0"/>
                <a:cs typeface="Times New Roman" panose="02020603050405020304" pitchFamily="18" charset="0"/>
              </a:rPr>
              <a:t>8.Results</a:t>
            </a:r>
          </a:p>
        </p:txBody>
      </p:sp>
      <p:sp>
        <p:nvSpPr>
          <p:cNvPr id="3" name="Date Placeholder 2">
            <a:extLst>
              <a:ext uri="{FF2B5EF4-FFF2-40B4-BE49-F238E27FC236}">
                <a16:creationId xmlns:a16="http://schemas.microsoft.com/office/drawing/2014/main" id="{7274BF99-F714-7752-AC54-84A1E9D7A958}"/>
              </a:ext>
            </a:extLst>
          </p:cNvPr>
          <p:cNvSpPr>
            <a:spLocks noGrp="1"/>
          </p:cNvSpPr>
          <p:nvPr>
            <p:ph type="dt" sz="half" idx="10"/>
          </p:nvPr>
        </p:nvSpPr>
        <p:spPr/>
        <p:txBody>
          <a:bodyPr/>
          <a:lstStyle/>
          <a:p>
            <a:fld id="{E890A751-91A0-4E1C-89F5-BFF21E9B4F7C}" type="datetime1">
              <a:rPr lang="en-IN" smtClean="0"/>
              <a:t>10-06-2025</a:t>
            </a:fld>
            <a:endParaRPr lang="en-IN" dirty="0"/>
          </a:p>
        </p:txBody>
      </p:sp>
      <p:sp>
        <p:nvSpPr>
          <p:cNvPr id="4" name="Slide Number Placeholder 3">
            <a:extLst>
              <a:ext uri="{FF2B5EF4-FFF2-40B4-BE49-F238E27FC236}">
                <a16:creationId xmlns:a16="http://schemas.microsoft.com/office/drawing/2014/main" id="{8D649E27-FAF4-ADEF-190D-2B4C94C67635}"/>
              </a:ext>
            </a:extLst>
          </p:cNvPr>
          <p:cNvSpPr>
            <a:spLocks noGrp="1"/>
          </p:cNvSpPr>
          <p:nvPr>
            <p:ph type="sldNum" sz="quarter" idx="12"/>
          </p:nvPr>
        </p:nvSpPr>
        <p:spPr/>
        <p:txBody>
          <a:bodyPr/>
          <a:lstStyle/>
          <a:p>
            <a:r>
              <a:rPr lang="en-IN"/>
              <a:t>3</a:t>
            </a:r>
            <a:endParaRPr lang="en-IN" dirty="0"/>
          </a:p>
        </p:txBody>
      </p:sp>
      <p:sp>
        <p:nvSpPr>
          <p:cNvPr id="6" name="TextBox 5">
            <a:extLst>
              <a:ext uri="{FF2B5EF4-FFF2-40B4-BE49-F238E27FC236}">
                <a16:creationId xmlns:a16="http://schemas.microsoft.com/office/drawing/2014/main" id="{02FD295F-861C-BFDB-3408-4BBAA63E3191}"/>
              </a:ext>
            </a:extLst>
          </p:cNvPr>
          <p:cNvSpPr txBox="1"/>
          <p:nvPr/>
        </p:nvSpPr>
        <p:spPr>
          <a:xfrm>
            <a:off x="1045029" y="1931436"/>
            <a:ext cx="10049069" cy="2585323"/>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The RailTel Advanced Safety System successfully achieved real-time obstacle and crack detection using stereo vision and a multi-sensor network. Obstacles up to 500 meters were detected with accurate depth estimation, while cracks were identified through sensor fusion involving ultrasonic, thermal, vibration, and visual inputs. The system dynamically calculated braking force based on obstacle severity and triggered appropriate brake responses, ranging from caution to emergency. Real-time alerts were sent via GSM to the driver, workshop, and control station. All incident data, including images and GPS coordinates, were logged in a local database. The system demonstrated over 90% accuracy in test scenarios, with a 2-second data processing loop. Minor challenges like sensor noise and GSM delays were mitigated through calibration and optimized communication protocols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22587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032F333-3E02-BBD7-D11B-BA1E1CAB7760}"/>
              </a:ext>
            </a:extLst>
          </p:cNvPr>
          <p:cNvSpPr>
            <a:spLocks noGrp="1"/>
          </p:cNvSpPr>
          <p:nvPr>
            <p:ph type="dt" sz="half" idx="10"/>
          </p:nvPr>
        </p:nvSpPr>
        <p:spPr/>
        <p:txBody>
          <a:bodyPr/>
          <a:lstStyle/>
          <a:p>
            <a:fld id="{E890A751-91A0-4E1C-89F5-BFF21E9B4F7C}" type="datetime1">
              <a:rPr lang="en-IN" smtClean="0"/>
              <a:t>10-06-2025</a:t>
            </a:fld>
            <a:endParaRPr lang="en-IN" dirty="0"/>
          </a:p>
        </p:txBody>
      </p:sp>
      <p:sp>
        <p:nvSpPr>
          <p:cNvPr id="4" name="Slide Number Placeholder 3">
            <a:extLst>
              <a:ext uri="{FF2B5EF4-FFF2-40B4-BE49-F238E27FC236}">
                <a16:creationId xmlns:a16="http://schemas.microsoft.com/office/drawing/2014/main" id="{426D4475-E2DD-C5F6-5FCA-995CBAF1A02A}"/>
              </a:ext>
            </a:extLst>
          </p:cNvPr>
          <p:cNvSpPr>
            <a:spLocks noGrp="1"/>
          </p:cNvSpPr>
          <p:nvPr>
            <p:ph type="sldNum" sz="quarter" idx="12"/>
          </p:nvPr>
        </p:nvSpPr>
        <p:spPr/>
        <p:txBody>
          <a:bodyPr/>
          <a:lstStyle/>
          <a:p>
            <a:r>
              <a:rPr lang="en-IN"/>
              <a:t>3</a:t>
            </a:r>
            <a:endParaRPr lang="en-IN" dirty="0"/>
          </a:p>
        </p:txBody>
      </p:sp>
      <p:pic>
        <p:nvPicPr>
          <p:cNvPr id="3074" name="Picture 2" descr="Output image">
            <a:extLst>
              <a:ext uri="{FF2B5EF4-FFF2-40B4-BE49-F238E27FC236}">
                <a16:creationId xmlns:a16="http://schemas.microsoft.com/office/drawing/2014/main" id="{C6588670-75B6-BE90-DD81-16BF754C94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4000" y="1310640"/>
            <a:ext cx="6593840" cy="46329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52554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2E4BF-F0EA-342E-CCEC-A0C9A24CA313}"/>
              </a:ext>
            </a:extLst>
          </p:cNvPr>
          <p:cNvSpPr>
            <a:spLocks noGrp="1"/>
          </p:cNvSpPr>
          <p:nvPr>
            <p:ph type="title"/>
          </p:nvPr>
        </p:nvSpPr>
        <p:spPr>
          <a:xfrm>
            <a:off x="996820" y="1385903"/>
            <a:ext cx="10515600" cy="589676"/>
          </a:xfrm>
        </p:spPr>
        <p:txBody>
          <a:bodyPr/>
          <a:lstStyle/>
          <a:p>
            <a:r>
              <a:rPr lang="en-IN" dirty="0">
                <a:latin typeface="Times New Roman" panose="02020603050405020304" pitchFamily="18" charset="0"/>
                <a:cs typeface="Times New Roman" panose="02020603050405020304" pitchFamily="18" charset="0"/>
              </a:rPr>
              <a:t>9. Conclusion</a:t>
            </a:r>
          </a:p>
        </p:txBody>
      </p:sp>
      <p:sp>
        <p:nvSpPr>
          <p:cNvPr id="3" name="Date Placeholder 2">
            <a:extLst>
              <a:ext uri="{FF2B5EF4-FFF2-40B4-BE49-F238E27FC236}">
                <a16:creationId xmlns:a16="http://schemas.microsoft.com/office/drawing/2014/main" id="{20EA178F-F477-2AFA-8936-CCE5447A39FD}"/>
              </a:ext>
            </a:extLst>
          </p:cNvPr>
          <p:cNvSpPr>
            <a:spLocks noGrp="1"/>
          </p:cNvSpPr>
          <p:nvPr>
            <p:ph type="dt" sz="half" idx="10"/>
          </p:nvPr>
        </p:nvSpPr>
        <p:spPr/>
        <p:txBody>
          <a:bodyPr/>
          <a:lstStyle/>
          <a:p>
            <a:fld id="{E890A751-91A0-4E1C-89F5-BFF21E9B4F7C}" type="datetime1">
              <a:rPr lang="en-IN" smtClean="0"/>
              <a:t>10-06-2025</a:t>
            </a:fld>
            <a:endParaRPr lang="en-IN" dirty="0"/>
          </a:p>
        </p:txBody>
      </p:sp>
      <p:sp>
        <p:nvSpPr>
          <p:cNvPr id="4" name="Slide Number Placeholder 3">
            <a:extLst>
              <a:ext uri="{FF2B5EF4-FFF2-40B4-BE49-F238E27FC236}">
                <a16:creationId xmlns:a16="http://schemas.microsoft.com/office/drawing/2014/main" id="{50E0943F-3DEA-C4E5-D1C4-BA40D64CB49B}"/>
              </a:ext>
            </a:extLst>
          </p:cNvPr>
          <p:cNvSpPr>
            <a:spLocks noGrp="1"/>
          </p:cNvSpPr>
          <p:nvPr>
            <p:ph type="sldNum" sz="quarter" idx="12"/>
          </p:nvPr>
        </p:nvSpPr>
        <p:spPr/>
        <p:txBody>
          <a:bodyPr/>
          <a:lstStyle/>
          <a:p>
            <a:r>
              <a:rPr lang="en-IN"/>
              <a:t>3</a:t>
            </a:r>
            <a:endParaRPr lang="en-IN" dirty="0"/>
          </a:p>
        </p:txBody>
      </p:sp>
      <p:sp>
        <p:nvSpPr>
          <p:cNvPr id="6" name="TextBox 5">
            <a:extLst>
              <a:ext uri="{FF2B5EF4-FFF2-40B4-BE49-F238E27FC236}">
                <a16:creationId xmlns:a16="http://schemas.microsoft.com/office/drawing/2014/main" id="{2D59D0BD-D651-46FF-C49A-13091D887EB3}"/>
              </a:ext>
            </a:extLst>
          </p:cNvPr>
          <p:cNvSpPr txBox="1"/>
          <p:nvPr/>
        </p:nvSpPr>
        <p:spPr>
          <a:xfrm>
            <a:off x="996820" y="2313991"/>
            <a:ext cx="10198359" cy="2031325"/>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The RailTel Advanced Safety System successfully integrates stereo vision and multi-sensor fusion to detect obstacles and track cracks in real-time. By combining AI-based depth analysis with ultrasonic, thermal, vibration, and visual sensors, the system enhances railway safety through intelligent decision-making and automated alerts. The braking logic responds dynamically to hazard severity, while real-time communication ensures timely action by drivers and control stations. With over 90% detection accuracy in controlled tests and reliable data logging, the system demonstrates strong potential for real-world deployment. Overall, this project offers a scalable and effective solution for modern railway safety challenges.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85343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B6D11-31DF-7F25-7897-E8960FFB1033}"/>
              </a:ext>
            </a:extLst>
          </p:cNvPr>
          <p:cNvSpPr>
            <a:spLocks noGrp="1"/>
          </p:cNvSpPr>
          <p:nvPr>
            <p:ph type="title"/>
          </p:nvPr>
        </p:nvSpPr>
        <p:spPr>
          <a:xfrm>
            <a:off x="940837" y="1137445"/>
            <a:ext cx="10515600" cy="877077"/>
          </a:xfrm>
        </p:spPr>
        <p:txBody>
          <a:bodyPr/>
          <a:lstStyle/>
          <a:p>
            <a:r>
              <a:rPr lang="en-IN" dirty="0"/>
              <a:t>10. Future Scope</a:t>
            </a:r>
          </a:p>
        </p:txBody>
      </p:sp>
      <p:sp>
        <p:nvSpPr>
          <p:cNvPr id="3" name="Date Placeholder 2">
            <a:extLst>
              <a:ext uri="{FF2B5EF4-FFF2-40B4-BE49-F238E27FC236}">
                <a16:creationId xmlns:a16="http://schemas.microsoft.com/office/drawing/2014/main" id="{86D9E474-9EB6-F73E-9CDF-756539968A7D}"/>
              </a:ext>
            </a:extLst>
          </p:cNvPr>
          <p:cNvSpPr>
            <a:spLocks noGrp="1"/>
          </p:cNvSpPr>
          <p:nvPr>
            <p:ph type="dt" sz="half" idx="10"/>
          </p:nvPr>
        </p:nvSpPr>
        <p:spPr/>
        <p:txBody>
          <a:bodyPr/>
          <a:lstStyle/>
          <a:p>
            <a:fld id="{E890A751-91A0-4E1C-89F5-BFF21E9B4F7C}" type="datetime1">
              <a:rPr lang="en-IN" smtClean="0"/>
              <a:t>10-06-2025</a:t>
            </a:fld>
            <a:endParaRPr lang="en-IN" dirty="0"/>
          </a:p>
        </p:txBody>
      </p:sp>
      <p:sp>
        <p:nvSpPr>
          <p:cNvPr id="4" name="Slide Number Placeholder 3">
            <a:extLst>
              <a:ext uri="{FF2B5EF4-FFF2-40B4-BE49-F238E27FC236}">
                <a16:creationId xmlns:a16="http://schemas.microsoft.com/office/drawing/2014/main" id="{00894DFD-291B-04CB-40D0-CB6C77878050}"/>
              </a:ext>
            </a:extLst>
          </p:cNvPr>
          <p:cNvSpPr>
            <a:spLocks noGrp="1"/>
          </p:cNvSpPr>
          <p:nvPr>
            <p:ph type="sldNum" sz="quarter" idx="12"/>
          </p:nvPr>
        </p:nvSpPr>
        <p:spPr/>
        <p:txBody>
          <a:bodyPr/>
          <a:lstStyle/>
          <a:p>
            <a:r>
              <a:rPr lang="en-IN" dirty="0"/>
              <a:t>3</a:t>
            </a:r>
          </a:p>
        </p:txBody>
      </p:sp>
      <p:sp>
        <p:nvSpPr>
          <p:cNvPr id="6" name="TextBox 5">
            <a:extLst>
              <a:ext uri="{FF2B5EF4-FFF2-40B4-BE49-F238E27FC236}">
                <a16:creationId xmlns:a16="http://schemas.microsoft.com/office/drawing/2014/main" id="{221F3CB5-F681-4248-6AA0-C93301BD0D69}"/>
              </a:ext>
            </a:extLst>
          </p:cNvPr>
          <p:cNvSpPr txBox="1"/>
          <p:nvPr/>
        </p:nvSpPr>
        <p:spPr>
          <a:xfrm>
            <a:off x="940837" y="2014523"/>
            <a:ext cx="10291665" cy="4247317"/>
          </a:xfrm>
          <a:prstGeom prst="rect">
            <a:avLst/>
          </a:prstGeom>
          <a:noFill/>
        </p:spPr>
        <p:txBody>
          <a:bodyPr wrap="square">
            <a:spAutoFit/>
          </a:bodyPr>
          <a:lstStyle/>
          <a:p>
            <a:pPr marL="342900" indent="-342900">
              <a:buFont typeface="+mj-lt"/>
              <a:buAutoNum type="arabicPeriod"/>
            </a:pPr>
            <a:r>
              <a:rPr lang="en-US" b="1" dirty="0"/>
              <a:t>Real-World Railway Deployment</a:t>
            </a:r>
            <a:br>
              <a:rPr lang="en-US" dirty="0"/>
            </a:br>
            <a:r>
              <a:rPr lang="en-US" dirty="0"/>
              <a:t>Deploy the system on live railway tracks and engines to enable real-time monitoring of obstacles and cracks, reducing manual inspections.</a:t>
            </a:r>
          </a:p>
          <a:p>
            <a:pPr marL="342900" indent="-342900">
              <a:buFont typeface="+mj-lt"/>
              <a:buAutoNum type="arabicPeriod"/>
            </a:pPr>
            <a:r>
              <a:rPr lang="en-US" b="1" dirty="0"/>
              <a:t>Cloud-Based Monitoring</a:t>
            </a:r>
            <a:br>
              <a:rPr lang="en-US" dirty="0"/>
            </a:br>
            <a:r>
              <a:rPr lang="en-US" dirty="0"/>
              <a:t>Integrate with cloud platforms to store data logs, images, and alerts—allowing centralized monitoring and predictive maintenance.</a:t>
            </a:r>
          </a:p>
          <a:p>
            <a:pPr marL="342900" indent="-342900">
              <a:buFont typeface="+mj-lt"/>
              <a:buAutoNum type="arabicPeriod"/>
            </a:pPr>
            <a:r>
              <a:rPr lang="en-US" b="1" dirty="0"/>
              <a:t>Advanced AI Integration</a:t>
            </a:r>
            <a:br>
              <a:rPr lang="en-US" dirty="0"/>
            </a:br>
            <a:r>
              <a:rPr lang="en-US" dirty="0"/>
              <a:t>Enhance obstacle and crack detection using deep learning models (e.g., YOLO, CNNs) for faster and more accurate classification.</a:t>
            </a:r>
          </a:p>
          <a:p>
            <a:pPr marL="342900" indent="-342900">
              <a:buFont typeface="+mj-lt"/>
              <a:buAutoNum type="arabicPeriod"/>
            </a:pPr>
            <a:r>
              <a:rPr lang="en-US" b="1" dirty="0"/>
              <a:t>Smart Emergency Response</a:t>
            </a:r>
            <a:br>
              <a:rPr lang="en-US" dirty="0"/>
            </a:br>
            <a:r>
              <a:rPr lang="en-US" dirty="0"/>
              <a:t>Automate emergency braking and SMS alerts with integration into railway control centers and maintenance teams for faster decision-making.</a:t>
            </a:r>
          </a:p>
          <a:p>
            <a:pPr marL="342900" indent="-342900">
              <a:buFont typeface="+mj-lt"/>
              <a:buAutoNum type="arabicPeriod"/>
            </a:pPr>
            <a:r>
              <a:rPr lang="en-US" b="1" dirty="0"/>
              <a:t>Scalability to Other Infrastructure</a:t>
            </a:r>
            <a:br>
              <a:rPr lang="en-US" dirty="0"/>
            </a:br>
            <a:r>
              <a:rPr lang="en-US" dirty="0"/>
              <a:t>Adapt the system for bridges, tunnels, and metro networks with additional sensors (e.g., water level, gas leak, vibration for structural health).</a:t>
            </a:r>
          </a:p>
        </p:txBody>
      </p:sp>
    </p:spTree>
    <p:extLst>
      <p:ext uri="{BB962C8B-B14F-4D97-AF65-F5344CB8AC3E}">
        <p14:creationId xmlns:p14="http://schemas.microsoft.com/office/powerpoint/2010/main" val="979054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56EAF-1538-062B-985A-B1B0BF25B98C}"/>
              </a:ext>
            </a:extLst>
          </p:cNvPr>
          <p:cNvSpPr>
            <a:spLocks noGrp="1"/>
          </p:cNvSpPr>
          <p:nvPr>
            <p:ph type="title"/>
          </p:nvPr>
        </p:nvSpPr>
        <p:spPr>
          <a:xfrm>
            <a:off x="838200" y="1129003"/>
            <a:ext cx="10515600" cy="933061"/>
          </a:xfrm>
        </p:spPr>
        <p:txBody>
          <a:bodyPr/>
          <a:lstStyle/>
          <a:p>
            <a:r>
              <a:rPr lang="en-IN" dirty="0">
                <a:latin typeface="Times New Roman" panose="02020603050405020304" pitchFamily="18" charset="0"/>
                <a:cs typeface="Times New Roman" panose="02020603050405020304" pitchFamily="18" charset="0"/>
              </a:rPr>
              <a:t>11. Questions &amp; Answers</a:t>
            </a:r>
          </a:p>
        </p:txBody>
      </p:sp>
      <p:sp>
        <p:nvSpPr>
          <p:cNvPr id="3" name="Date Placeholder 2">
            <a:extLst>
              <a:ext uri="{FF2B5EF4-FFF2-40B4-BE49-F238E27FC236}">
                <a16:creationId xmlns:a16="http://schemas.microsoft.com/office/drawing/2014/main" id="{8F72B215-A49C-2CF2-5AFB-0CF69EC77CA4}"/>
              </a:ext>
            </a:extLst>
          </p:cNvPr>
          <p:cNvSpPr>
            <a:spLocks noGrp="1"/>
          </p:cNvSpPr>
          <p:nvPr>
            <p:ph type="dt" sz="half" idx="10"/>
          </p:nvPr>
        </p:nvSpPr>
        <p:spPr/>
        <p:txBody>
          <a:bodyPr/>
          <a:lstStyle/>
          <a:p>
            <a:fld id="{E890A751-91A0-4E1C-89F5-BFF21E9B4F7C}" type="datetime1">
              <a:rPr lang="en-IN" smtClean="0"/>
              <a:t>10-06-2025</a:t>
            </a:fld>
            <a:endParaRPr lang="en-IN" dirty="0"/>
          </a:p>
        </p:txBody>
      </p:sp>
      <p:sp>
        <p:nvSpPr>
          <p:cNvPr id="4" name="Slide Number Placeholder 3">
            <a:extLst>
              <a:ext uri="{FF2B5EF4-FFF2-40B4-BE49-F238E27FC236}">
                <a16:creationId xmlns:a16="http://schemas.microsoft.com/office/drawing/2014/main" id="{D12D45EA-F1CE-0F66-A78D-1557C92A334C}"/>
              </a:ext>
            </a:extLst>
          </p:cNvPr>
          <p:cNvSpPr>
            <a:spLocks noGrp="1"/>
          </p:cNvSpPr>
          <p:nvPr>
            <p:ph type="sldNum" sz="quarter" idx="12"/>
          </p:nvPr>
        </p:nvSpPr>
        <p:spPr/>
        <p:txBody>
          <a:bodyPr/>
          <a:lstStyle/>
          <a:p>
            <a:r>
              <a:rPr lang="en-IN"/>
              <a:t>3</a:t>
            </a:r>
            <a:endParaRPr lang="en-IN" dirty="0"/>
          </a:p>
        </p:txBody>
      </p:sp>
    </p:spTree>
    <p:extLst>
      <p:ext uri="{BB962C8B-B14F-4D97-AF65-F5344CB8AC3E}">
        <p14:creationId xmlns:p14="http://schemas.microsoft.com/office/powerpoint/2010/main" val="39857389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12233-A8EB-B2E6-243B-03854A183E56}"/>
              </a:ext>
            </a:extLst>
          </p:cNvPr>
          <p:cNvSpPr>
            <a:spLocks noGrp="1"/>
          </p:cNvSpPr>
          <p:nvPr>
            <p:ph type="title"/>
          </p:nvPr>
        </p:nvSpPr>
        <p:spPr>
          <a:xfrm>
            <a:off x="838200" y="1287625"/>
            <a:ext cx="10515600" cy="599006"/>
          </a:xfrm>
        </p:spPr>
        <p:txBody>
          <a:bodyPr/>
          <a:lstStyle/>
          <a:p>
            <a:r>
              <a:rPr lang="en-IN" b="1" dirty="0">
                <a:latin typeface="Times New Roman" panose="02020603050405020304" pitchFamily="18" charset="0"/>
                <a:cs typeface="Times New Roman" panose="02020603050405020304" pitchFamily="18" charset="0"/>
              </a:rPr>
              <a:t>12. References</a:t>
            </a:r>
          </a:p>
        </p:txBody>
      </p:sp>
      <p:sp>
        <p:nvSpPr>
          <p:cNvPr id="3" name="Date Placeholder 2">
            <a:extLst>
              <a:ext uri="{FF2B5EF4-FFF2-40B4-BE49-F238E27FC236}">
                <a16:creationId xmlns:a16="http://schemas.microsoft.com/office/drawing/2014/main" id="{0C5D255F-FA52-9C0B-AC97-FCD2CED4A847}"/>
              </a:ext>
            </a:extLst>
          </p:cNvPr>
          <p:cNvSpPr>
            <a:spLocks noGrp="1"/>
          </p:cNvSpPr>
          <p:nvPr>
            <p:ph type="dt" sz="half" idx="10"/>
          </p:nvPr>
        </p:nvSpPr>
        <p:spPr/>
        <p:txBody>
          <a:bodyPr/>
          <a:lstStyle/>
          <a:p>
            <a:fld id="{E890A751-91A0-4E1C-89F5-BFF21E9B4F7C}" type="datetime1">
              <a:rPr lang="en-IN" smtClean="0"/>
              <a:t>10-06-2025</a:t>
            </a:fld>
            <a:endParaRPr lang="en-IN" dirty="0"/>
          </a:p>
        </p:txBody>
      </p:sp>
      <p:sp>
        <p:nvSpPr>
          <p:cNvPr id="4" name="Slide Number Placeholder 3">
            <a:extLst>
              <a:ext uri="{FF2B5EF4-FFF2-40B4-BE49-F238E27FC236}">
                <a16:creationId xmlns:a16="http://schemas.microsoft.com/office/drawing/2014/main" id="{8F1A1B8F-7E27-E272-75B4-D648550A598A}"/>
              </a:ext>
            </a:extLst>
          </p:cNvPr>
          <p:cNvSpPr>
            <a:spLocks noGrp="1"/>
          </p:cNvSpPr>
          <p:nvPr>
            <p:ph type="sldNum" sz="quarter" idx="12"/>
          </p:nvPr>
        </p:nvSpPr>
        <p:spPr/>
        <p:txBody>
          <a:bodyPr/>
          <a:lstStyle/>
          <a:p>
            <a:r>
              <a:rPr lang="en-IN"/>
              <a:t>3</a:t>
            </a:r>
            <a:endParaRPr lang="en-IN" dirty="0"/>
          </a:p>
        </p:txBody>
      </p:sp>
      <p:sp>
        <p:nvSpPr>
          <p:cNvPr id="6" name="TextBox 5">
            <a:extLst>
              <a:ext uri="{FF2B5EF4-FFF2-40B4-BE49-F238E27FC236}">
                <a16:creationId xmlns:a16="http://schemas.microsoft.com/office/drawing/2014/main" id="{324095E5-A93C-76F4-9AC8-E071AB33C57C}"/>
              </a:ext>
            </a:extLst>
          </p:cNvPr>
          <p:cNvSpPr txBox="1"/>
          <p:nvPr/>
        </p:nvSpPr>
        <p:spPr>
          <a:xfrm>
            <a:off x="734786" y="1821239"/>
            <a:ext cx="10722429" cy="4247317"/>
          </a:xfrm>
          <a:prstGeom prst="rect">
            <a:avLst/>
          </a:prstGeom>
          <a:noFill/>
        </p:spPr>
        <p:txBody>
          <a:bodyPr wrap="square">
            <a:spAutoFit/>
          </a:bodyPr>
          <a:lstStyle/>
          <a:p>
            <a:pPr marL="342900" indent="-342900">
              <a:buFont typeface="+mj-lt"/>
              <a:buAutoNum type="arabicPeriod"/>
            </a:pPr>
            <a:r>
              <a:rPr lang="en-US" sz="1500" i="0" dirty="0">
                <a:solidFill>
                  <a:srgbClr val="111827"/>
                </a:solidFill>
                <a:effectLst/>
                <a:latin typeface="Times New Roman" panose="02020603050405020304" pitchFamily="18" charset="0"/>
                <a:cs typeface="Times New Roman" panose="02020603050405020304" pitchFamily="18" charset="0"/>
              </a:rPr>
              <a:t>Research on Active Safety Methodologies for Intelligent Railway</a:t>
            </a:r>
            <a:r>
              <a:rPr lang="en-US" sz="1500" i="0" dirty="0">
                <a:solidFill>
                  <a:srgbClr val="374151"/>
                </a:solidFill>
                <a:effectLst/>
                <a:latin typeface="Times New Roman" panose="02020603050405020304" pitchFamily="18" charset="0"/>
                <a:cs typeface="Times New Roman" panose="02020603050405020304" pitchFamily="18" charset="0"/>
              </a:rPr>
              <a:t>: </a:t>
            </a:r>
            <a:r>
              <a:rPr lang="en-US" sz="1500" i="0" u="none" strike="noStrike" dirty="0">
                <a:solidFill>
                  <a:srgbClr val="3286FF"/>
                </a:solidFill>
                <a:effectLst/>
                <a:latin typeface="Times New Roman" panose="02020603050405020304" pitchFamily="18" charset="0"/>
                <a:cs typeface="Times New Roman" panose="02020603050405020304" pitchFamily="18" charset="0"/>
              </a:rPr>
              <a:t>https://www.sciencedirect.com/science/article/pii/S2095809922007135</a:t>
            </a:r>
            <a:endParaRPr lang="en-US" sz="1500" i="0" dirty="0">
              <a:solidFill>
                <a:srgbClr val="374151"/>
              </a:solidFill>
              <a:effectLst/>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1500" i="0" dirty="0">
                <a:solidFill>
                  <a:srgbClr val="111827"/>
                </a:solidFill>
                <a:effectLst/>
                <a:latin typeface="Times New Roman" panose="02020603050405020304" pitchFamily="18" charset="0"/>
                <a:cs typeface="Times New Roman" panose="02020603050405020304" pitchFamily="18" charset="0"/>
              </a:rPr>
              <a:t>Optimizing Railway Safety and Efficiency: A Comprehensive Review</a:t>
            </a:r>
            <a:r>
              <a:rPr lang="en-US" sz="1500" i="0" dirty="0">
                <a:solidFill>
                  <a:srgbClr val="374151"/>
                </a:solidFill>
                <a:effectLst/>
                <a:latin typeface="Times New Roman" panose="02020603050405020304" pitchFamily="18" charset="0"/>
                <a:cs typeface="Times New Roman" panose="02020603050405020304" pitchFamily="18" charset="0"/>
              </a:rPr>
              <a:t>: </a:t>
            </a:r>
            <a:r>
              <a:rPr lang="en-US" sz="1500" i="0" u="none" strike="noStrike" dirty="0">
                <a:solidFill>
                  <a:srgbClr val="3286FF"/>
                </a:solidFill>
                <a:effectLst/>
                <a:latin typeface="Times New Roman" panose="02020603050405020304" pitchFamily="18" charset="0"/>
                <a:cs typeface="Times New Roman" panose="02020603050405020304" pitchFamily="18" charset="0"/>
              </a:rPr>
              <a:t>https://papers.ssrn.com/sol3/papers.cfm?abstract_id=5121527</a:t>
            </a:r>
            <a:endParaRPr lang="en-US" sz="1500" i="0" dirty="0">
              <a:solidFill>
                <a:srgbClr val="374151"/>
              </a:solidFill>
              <a:effectLst/>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1500" i="0" dirty="0">
                <a:solidFill>
                  <a:srgbClr val="111827"/>
                </a:solidFill>
                <a:effectLst/>
                <a:latin typeface="Times New Roman" panose="02020603050405020304" pitchFamily="18" charset="0"/>
                <a:cs typeface="Times New Roman" panose="02020603050405020304" pitchFamily="18" charset="0"/>
              </a:rPr>
              <a:t>Railway Safety Analysis: Trends and Challenges - ResearchGate</a:t>
            </a:r>
            <a:r>
              <a:rPr lang="en-US" sz="1500" i="0" dirty="0">
                <a:solidFill>
                  <a:srgbClr val="374151"/>
                </a:solidFill>
                <a:effectLst/>
                <a:latin typeface="Times New Roman" panose="02020603050405020304" pitchFamily="18" charset="0"/>
                <a:cs typeface="Times New Roman" panose="02020603050405020304" pitchFamily="18" charset="0"/>
              </a:rPr>
              <a:t>: </a:t>
            </a:r>
            <a:r>
              <a:rPr lang="en-US" sz="1500" i="0" u="none" strike="noStrike" dirty="0">
                <a:solidFill>
                  <a:srgbClr val="3286FF"/>
                </a:solidFill>
                <a:effectLst/>
                <a:latin typeface="Times New Roman" panose="02020603050405020304" pitchFamily="18" charset="0"/>
                <a:cs typeface="Times New Roman" panose="02020603050405020304" pitchFamily="18" charset="0"/>
              </a:rPr>
              <a:t>https://www.researchgate.net/publication/374149279_Railway_Safety_Analysis_Trends_and_Challenges</a:t>
            </a:r>
            <a:endParaRPr lang="en-US" sz="1500" i="0" dirty="0">
              <a:solidFill>
                <a:srgbClr val="374151"/>
              </a:solidFill>
              <a:effectLst/>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1500" i="0" dirty="0">
                <a:solidFill>
                  <a:srgbClr val="111827"/>
                </a:solidFill>
                <a:effectLst/>
                <a:latin typeface="Times New Roman" panose="02020603050405020304" pitchFamily="18" charset="0"/>
                <a:cs typeface="Times New Roman" panose="02020603050405020304" pitchFamily="18" charset="0"/>
              </a:rPr>
              <a:t>Enhancing rail safety through real-time defect detection: A novel</a:t>
            </a:r>
            <a:r>
              <a:rPr lang="en-US" sz="1500" i="0" dirty="0">
                <a:solidFill>
                  <a:srgbClr val="374151"/>
                </a:solidFill>
                <a:effectLst/>
                <a:latin typeface="Times New Roman" panose="02020603050405020304" pitchFamily="18" charset="0"/>
                <a:cs typeface="Times New Roman" panose="02020603050405020304" pitchFamily="18" charset="0"/>
              </a:rPr>
              <a:t>: </a:t>
            </a:r>
            <a:r>
              <a:rPr lang="en-US" sz="1500" i="0" u="none" strike="noStrike" dirty="0">
                <a:solidFill>
                  <a:srgbClr val="3286FF"/>
                </a:solidFill>
                <a:effectLst/>
                <a:latin typeface="Times New Roman" panose="02020603050405020304" pitchFamily="18" charset="0"/>
                <a:cs typeface="Times New Roman" panose="02020603050405020304" pitchFamily="18" charset="0"/>
              </a:rPr>
              <a:t>https://www.sciencedirect.com/science/article/abs/pii/S0001457524001623</a:t>
            </a:r>
            <a:endParaRPr lang="en-US" sz="1500" i="0" dirty="0">
              <a:solidFill>
                <a:srgbClr val="374151"/>
              </a:solidFill>
              <a:effectLst/>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1500" i="0" dirty="0">
                <a:solidFill>
                  <a:srgbClr val="111827"/>
                </a:solidFill>
                <a:effectLst/>
                <a:latin typeface="Times New Roman" panose="02020603050405020304" pitchFamily="18" charset="0"/>
                <a:cs typeface="Times New Roman" panose="02020603050405020304" pitchFamily="18" charset="0"/>
              </a:rPr>
              <a:t>Securing the Future of Railway Systems - PubMed Central</a:t>
            </a:r>
            <a:r>
              <a:rPr lang="en-US" sz="1500" i="0" dirty="0">
                <a:solidFill>
                  <a:srgbClr val="374151"/>
                </a:solidFill>
                <a:effectLst/>
                <a:latin typeface="Times New Roman" panose="02020603050405020304" pitchFamily="18" charset="0"/>
                <a:cs typeface="Times New Roman" panose="02020603050405020304" pitchFamily="18" charset="0"/>
              </a:rPr>
              <a:t>: </a:t>
            </a:r>
            <a:r>
              <a:rPr lang="en-US" sz="1500" i="0" u="none" strike="noStrike" dirty="0">
                <a:solidFill>
                  <a:srgbClr val="3286FF"/>
                </a:solidFill>
                <a:effectLst/>
                <a:latin typeface="Times New Roman" panose="02020603050405020304" pitchFamily="18" charset="0"/>
                <a:cs typeface="Times New Roman" panose="02020603050405020304" pitchFamily="18" charset="0"/>
              </a:rPr>
              <a:t>https://pmc.ncbi.nlm.nih.gov/articles/PMC11680022/</a:t>
            </a:r>
            <a:endParaRPr lang="en-US" sz="1500" i="0" dirty="0">
              <a:solidFill>
                <a:srgbClr val="374151"/>
              </a:solidFill>
              <a:effectLst/>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1500" i="0" dirty="0">
                <a:solidFill>
                  <a:srgbClr val="111827"/>
                </a:solidFill>
                <a:effectLst/>
                <a:latin typeface="Times New Roman" panose="02020603050405020304" pitchFamily="18" charset="0"/>
                <a:cs typeface="Times New Roman" panose="02020603050405020304" pitchFamily="18" charset="0"/>
              </a:rPr>
              <a:t>A Review of Deep Learning Applications for Railway Safety - MDPI</a:t>
            </a:r>
            <a:r>
              <a:rPr lang="en-US" sz="1500" i="0" dirty="0">
                <a:solidFill>
                  <a:srgbClr val="374151"/>
                </a:solidFill>
                <a:effectLst/>
                <a:latin typeface="Times New Roman" panose="02020603050405020304" pitchFamily="18" charset="0"/>
                <a:cs typeface="Times New Roman" panose="02020603050405020304" pitchFamily="18" charset="0"/>
              </a:rPr>
              <a:t>: </a:t>
            </a:r>
            <a:r>
              <a:rPr lang="en-US" sz="1500" i="0" u="none" strike="noStrike" dirty="0">
                <a:solidFill>
                  <a:srgbClr val="3286FF"/>
                </a:solidFill>
                <a:effectLst/>
                <a:latin typeface="Times New Roman" panose="02020603050405020304" pitchFamily="18" charset="0"/>
                <a:cs typeface="Times New Roman" panose="02020603050405020304" pitchFamily="18" charset="0"/>
              </a:rPr>
              <a:t>https://www.mdpi.com/2076-3417/12/20/10572</a:t>
            </a:r>
            <a:endParaRPr lang="en-US" sz="1500" i="0" dirty="0">
              <a:solidFill>
                <a:srgbClr val="374151"/>
              </a:solidFill>
              <a:effectLst/>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1500" i="0" dirty="0">
                <a:solidFill>
                  <a:srgbClr val="111827"/>
                </a:solidFill>
                <a:effectLst/>
                <a:latin typeface="Times New Roman" panose="02020603050405020304" pitchFamily="18" charset="0"/>
                <a:cs typeface="Times New Roman" panose="02020603050405020304" pitchFamily="18" charset="0"/>
              </a:rPr>
              <a:t>Railway Safety Research Papers - Academia.edu</a:t>
            </a:r>
            <a:r>
              <a:rPr lang="en-US" sz="1500" i="0" dirty="0">
                <a:solidFill>
                  <a:srgbClr val="374151"/>
                </a:solidFill>
                <a:effectLst/>
                <a:latin typeface="Times New Roman" panose="02020603050405020304" pitchFamily="18" charset="0"/>
                <a:cs typeface="Times New Roman" panose="02020603050405020304" pitchFamily="18" charset="0"/>
              </a:rPr>
              <a:t>: </a:t>
            </a:r>
            <a:r>
              <a:rPr lang="en-US" sz="1500" i="0" u="none" strike="noStrike" dirty="0">
                <a:solidFill>
                  <a:srgbClr val="3286FF"/>
                </a:solidFill>
                <a:effectLst/>
                <a:latin typeface="Times New Roman" panose="02020603050405020304" pitchFamily="18" charset="0"/>
                <a:cs typeface="Times New Roman" panose="02020603050405020304" pitchFamily="18" charset="0"/>
              </a:rPr>
              <a:t>https://www.academia.edu/Documents/in/Railway_Safety</a:t>
            </a:r>
            <a:endParaRPr lang="en-US" sz="1500" i="0" dirty="0">
              <a:solidFill>
                <a:srgbClr val="374151"/>
              </a:solidFill>
              <a:effectLst/>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1500" i="0" dirty="0">
                <a:solidFill>
                  <a:srgbClr val="111827"/>
                </a:solidFill>
                <a:effectLst/>
                <a:latin typeface="Times New Roman" panose="02020603050405020304" pitchFamily="18" charset="0"/>
                <a:cs typeface="Times New Roman" panose="02020603050405020304" pitchFamily="18" charset="0"/>
              </a:rPr>
              <a:t>Case Study: RailTel - PPIAF</a:t>
            </a:r>
            <a:r>
              <a:rPr lang="en-US" sz="1500" i="0" dirty="0">
                <a:solidFill>
                  <a:srgbClr val="374151"/>
                </a:solidFill>
                <a:effectLst/>
                <a:latin typeface="Times New Roman" panose="02020603050405020304" pitchFamily="18" charset="0"/>
                <a:cs typeface="Times New Roman" panose="02020603050405020304" pitchFamily="18" charset="0"/>
              </a:rPr>
              <a:t>: </a:t>
            </a:r>
            <a:r>
              <a:rPr lang="en-US" sz="1500" i="0" u="none" strike="noStrike" dirty="0">
                <a:solidFill>
                  <a:srgbClr val="3286FF"/>
                </a:solidFill>
                <a:effectLst/>
                <a:latin typeface="Times New Roman" panose="02020603050405020304" pitchFamily="18" charset="0"/>
                <a:cs typeface="Times New Roman" panose="02020603050405020304" pitchFamily="18" charset="0"/>
              </a:rPr>
              <a:t>https://www.ppiaf.org/sites/ppiaf.org/files/documents/toolkits/railways_toolkit/PDFs/RR%20Toolkit%20EN%20New%202017%2012%2027%20CASE12%20RAILTEL.pdf</a:t>
            </a:r>
            <a:endParaRPr lang="en-US" sz="1500" i="0" dirty="0">
              <a:solidFill>
                <a:srgbClr val="374151"/>
              </a:solidFill>
              <a:effectLst/>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1500" i="0" dirty="0">
                <a:solidFill>
                  <a:srgbClr val="111827"/>
                </a:solidFill>
                <a:effectLst/>
                <a:latin typeface="Times New Roman" panose="02020603050405020304" pitchFamily="18" charset="0"/>
                <a:cs typeface="Times New Roman" panose="02020603050405020304" pitchFamily="18" charset="0"/>
              </a:rPr>
              <a:t>Reliability, Safety, and Security of Railway Systems. Modelling</a:t>
            </a:r>
            <a:r>
              <a:rPr lang="en-US" sz="1500" i="0" dirty="0">
                <a:solidFill>
                  <a:srgbClr val="374151"/>
                </a:solidFill>
                <a:effectLst/>
                <a:latin typeface="Times New Roman" panose="02020603050405020304" pitchFamily="18" charset="0"/>
                <a:cs typeface="Times New Roman" panose="02020603050405020304" pitchFamily="18" charset="0"/>
              </a:rPr>
              <a:t>: </a:t>
            </a:r>
            <a:r>
              <a:rPr lang="en-US" sz="1500" i="0" u="none" strike="noStrike" dirty="0">
                <a:solidFill>
                  <a:srgbClr val="3286FF"/>
                </a:solidFill>
                <a:effectLst/>
                <a:latin typeface="Times New Roman" panose="02020603050405020304" pitchFamily="18" charset="0"/>
                <a:cs typeface="Times New Roman" panose="02020603050405020304" pitchFamily="18" charset="0"/>
              </a:rPr>
              <a:t>https://link.springer.com/book/10.1007/978-3-031-05814-1</a:t>
            </a:r>
            <a:endParaRPr lang="en-US" sz="1500" i="0" dirty="0">
              <a:solidFill>
                <a:srgbClr val="374151"/>
              </a:solidFill>
              <a:effectLst/>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1500" i="0" dirty="0">
                <a:solidFill>
                  <a:srgbClr val="111827"/>
                </a:solidFill>
                <a:effectLst/>
                <a:latin typeface="Times New Roman" panose="02020603050405020304" pitchFamily="18" charset="0"/>
                <a:cs typeface="Times New Roman" panose="02020603050405020304" pitchFamily="18" charset="0"/>
              </a:rPr>
              <a:t>Research on the Causes and Transmission Mechanisms of Railway</a:t>
            </a:r>
            <a:r>
              <a:rPr lang="en-US" sz="1500" i="0" dirty="0">
                <a:solidFill>
                  <a:srgbClr val="374151"/>
                </a:solidFill>
                <a:effectLst/>
                <a:latin typeface="Times New Roman" panose="02020603050405020304" pitchFamily="18" charset="0"/>
                <a:cs typeface="Times New Roman" panose="02020603050405020304" pitchFamily="18" charset="0"/>
              </a:rPr>
              <a:t>: </a:t>
            </a:r>
            <a:r>
              <a:rPr lang="en-US" sz="1500" i="0" u="none" strike="noStrike" dirty="0">
                <a:solidFill>
                  <a:srgbClr val="3286FF"/>
                </a:solidFill>
                <a:effectLst/>
                <a:latin typeface="Times New Roman" panose="02020603050405020304" pitchFamily="18" charset="0"/>
                <a:cs typeface="Times New Roman" panose="02020603050405020304" pitchFamily="18" charset="0"/>
              </a:rPr>
              <a:t>https://www.mdpi.com/2076-3417/14/7/2739</a:t>
            </a:r>
            <a:r>
              <a:rPr lang="en-US" sz="1500" i="0" dirty="0">
                <a:solidFill>
                  <a:srgbClr val="374151"/>
                </a:solidFill>
                <a:effectLst/>
                <a:latin typeface="Times New Roman" panose="02020603050405020304" pitchFamily="18" charset="0"/>
                <a:cs typeface="Times New Roman" panose="02020603050405020304" pitchFamily="18" charset="0"/>
              </a:rPr>
              <a:t> * </a:t>
            </a:r>
            <a:r>
              <a:rPr lang="en-US" sz="1500" i="0" dirty="0">
                <a:solidFill>
                  <a:srgbClr val="111827"/>
                </a:solidFill>
                <a:effectLst/>
                <a:latin typeface="Times New Roman" panose="02020603050405020304" pitchFamily="18" charset="0"/>
                <a:cs typeface="Times New Roman" panose="02020603050405020304" pitchFamily="18" charset="0"/>
              </a:rPr>
              <a:t>Cybersecurity in Railways: A Comprehensive Survey - IEEE</a:t>
            </a:r>
            <a:r>
              <a:rPr lang="en-US" sz="1500" i="0" dirty="0">
                <a:solidFill>
                  <a:srgbClr val="374151"/>
                </a:solidFill>
                <a:effectLst/>
                <a:latin typeface="Times New Roman" panose="02020603050405020304" pitchFamily="18" charset="0"/>
                <a:cs typeface="Times New Roman" panose="02020603050405020304" pitchFamily="18" charset="0"/>
              </a:rPr>
              <a:t>: </a:t>
            </a:r>
            <a:r>
              <a:rPr lang="en-US" sz="1500" i="0" u="none" strike="noStrike" dirty="0">
                <a:solidFill>
                  <a:srgbClr val="3286FF"/>
                </a:solidFill>
                <a:effectLst/>
                <a:latin typeface="Times New Roman" panose="02020603050405020304" pitchFamily="18" charset="0"/>
                <a:cs typeface="Times New Roman" panose="02020603050405020304" pitchFamily="18" charset="0"/>
              </a:rPr>
              <a:t>https://ieeexplore.ieee.org/document/9784085</a:t>
            </a:r>
            <a:endParaRPr lang="en-US" sz="1500" i="0" dirty="0">
              <a:solidFill>
                <a:srgbClr val="374151"/>
              </a:solidFill>
              <a:effectLst/>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1500" i="0" dirty="0">
                <a:solidFill>
                  <a:srgbClr val="111827"/>
                </a:solidFill>
                <a:effectLst/>
                <a:latin typeface="Times New Roman" panose="02020603050405020304" pitchFamily="18" charset="0"/>
                <a:cs typeface="Times New Roman" panose="02020603050405020304" pitchFamily="18" charset="0"/>
              </a:rPr>
              <a:t>Cybersecurity risk analysis of railway control and safety systems</a:t>
            </a:r>
            <a:r>
              <a:rPr lang="en-US" sz="1500" i="0" dirty="0">
                <a:solidFill>
                  <a:srgbClr val="374151"/>
                </a:solidFill>
                <a:effectLst/>
                <a:latin typeface="Times New Roman" panose="02020603050405020304" pitchFamily="18" charset="0"/>
                <a:cs typeface="Times New Roman" panose="02020603050405020304" pitchFamily="18" charset="0"/>
              </a:rPr>
              <a:t>: </a:t>
            </a:r>
            <a:r>
              <a:rPr lang="en-US" sz="1500" i="0" u="none" strike="noStrike" dirty="0">
                <a:solidFill>
                  <a:srgbClr val="3286FF"/>
                </a:solidFill>
                <a:effectLst/>
                <a:latin typeface="Times New Roman" panose="02020603050405020304" pitchFamily="18" charset="0"/>
                <a:cs typeface="Times New Roman" panose="02020603050405020304" pitchFamily="18" charset="0"/>
              </a:rPr>
              <a:t>https://www.tandfonline.com/doi/full/10.1080/23311975.2023.2243432</a:t>
            </a:r>
            <a:endParaRPr lang="en-US" sz="1500" i="0" dirty="0">
              <a:solidFill>
                <a:srgbClr val="37415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52147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1FB77DC-6403-D941-BD11-19B308DA3CA7}"/>
              </a:ext>
            </a:extLst>
          </p:cNvPr>
          <p:cNvSpPr>
            <a:spLocks noGrp="1"/>
          </p:cNvSpPr>
          <p:nvPr>
            <p:ph type="dt" sz="half" idx="10"/>
          </p:nvPr>
        </p:nvSpPr>
        <p:spPr/>
        <p:txBody>
          <a:bodyPr/>
          <a:lstStyle/>
          <a:p>
            <a:fld id="{E890A751-91A0-4E1C-89F5-BFF21E9B4F7C}" type="datetime1">
              <a:rPr lang="en-IN" smtClean="0"/>
              <a:t>10-06-2025</a:t>
            </a:fld>
            <a:endParaRPr lang="en-IN" dirty="0"/>
          </a:p>
        </p:txBody>
      </p:sp>
      <p:sp>
        <p:nvSpPr>
          <p:cNvPr id="4" name="Slide Number Placeholder 3">
            <a:extLst>
              <a:ext uri="{FF2B5EF4-FFF2-40B4-BE49-F238E27FC236}">
                <a16:creationId xmlns:a16="http://schemas.microsoft.com/office/drawing/2014/main" id="{F014557B-EA06-B816-A073-14D971D47C28}"/>
              </a:ext>
            </a:extLst>
          </p:cNvPr>
          <p:cNvSpPr>
            <a:spLocks noGrp="1"/>
          </p:cNvSpPr>
          <p:nvPr>
            <p:ph type="sldNum" sz="quarter" idx="12"/>
          </p:nvPr>
        </p:nvSpPr>
        <p:spPr/>
        <p:txBody>
          <a:bodyPr/>
          <a:lstStyle/>
          <a:p>
            <a:r>
              <a:rPr lang="en-IN"/>
              <a:t>3</a:t>
            </a:r>
            <a:endParaRPr lang="en-IN" dirty="0"/>
          </a:p>
        </p:txBody>
      </p:sp>
      <p:sp>
        <p:nvSpPr>
          <p:cNvPr id="8" name="TextBox 7">
            <a:extLst>
              <a:ext uri="{FF2B5EF4-FFF2-40B4-BE49-F238E27FC236}">
                <a16:creationId xmlns:a16="http://schemas.microsoft.com/office/drawing/2014/main" id="{0A3B5437-547D-C18E-A8B1-AD3EDC53DABA}"/>
              </a:ext>
            </a:extLst>
          </p:cNvPr>
          <p:cNvSpPr txBox="1"/>
          <p:nvPr/>
        </p:nvSpPr>
        <p:spPr>
          <a:xfrm>
            <a:off x="1039882" y="1279258"/>
            <a:ext cx="10300996" cy="4478149"/>
          </a:xfrm>
          <a:prstGeom prst="rect">
            <a:avLst/>
          </a:prstGeom>
          <a:noFill/>
        </p:spPr>
        <p:txBody>
          <a:bodyPr wrap="square">
            <a:spAutoFit/>
          </a:bodyPr>
          <a:lstStyle/>
          <a:p>
            <a:pPr marL="342900" indent="-342900" algn="l">
              <a:buFont typeface="+mj-lt"/>
              <a:buAutoNum type="arabicPeriod" startAt="12"/>
            </a:pPr>
            <a:r>
              <a:rPr lang="en-US" sz="1500" i="0" dirty="0">
                <a:solidFill>
                  <a:srgbClr val="111827"/>
                </a:solidFill>
                <a:effectLst/>
                <a:latin typeface="Times New Roman" panose="02020603050405020304" pitchFamily="18" charset="0"/>
                <a:cs typeface="Times New Roman" panose="02020603050405020304" pitchFamily="18" charset="0"/>
              </a:rPr>
              <a:t>A literature review of Artificial Intelligence applications in railway</a:t>
            </a:r>
            <a:r>
              <a:rPr lang="en-US" sz="1500" i="0" dirty="0">
                <a:solidFill>
                  <a:srgbClr val="374151"/>
                </a:solidFill>
                <a:effectLst/>
                <a:latin typeface="Times New Roman" panose="02020603050405020304" pitchFamily="18" charset="0"/>
                <a:cs typeface="Times New Roman" panose="02020603050405020304" pitchFamily="18" charset="0"/>
              </a:rPr>
              <a:t>: </a:t>
            </a:r>
            <a:r>
              <a:rPr lang="en-US" sz="1500" i="0" u="none" strike="noStrike" dirty="0">
                <a:solidFill>
                  <a:srgbClr val="3286FF"/>
                </a:solidFill>
                <a:effectLst/>
                <a:latin typeface="Times New Roman" panose="02020603050405020304" pitchFamily="18" charset="0"/>
                <a:cs typeface="Times New Roman" panose="02020603050405020304" pitchFamily="18" charset="0"/>
              </a:rPr>
              <a:t>https://www.sciencedirect.com/science/article/pii/S0968090X22001206</a:t>
            </a:r>
            <a:endParaRPr lang="en-US" sz="1500" i="0" dirty="0">
              <a:solidFill>
                <a:srgbClr val="374151"/>
              </a:solidFill>
              <a:effectLst/>
              <a:latin typeface="Times New Roman" panose="02020603050405020304" pitchFamily="18" charset="0"/>
              <a:cs typeface="Times New Roman" panose="02020603050405020304" pitchFamily="18" charset="0"/>
            </a:endParaRPr>
          </a:p>
          <a:p>
            <a:pPr marL="342900" indent="-342900" algn="l">
              <a:buFont typeface="+mj-lt"/>
              <a:buAutoNum type="arabicPeriod" startAt="12"/>
            </a:pPr>
            <a:r>
              <a:rPr lang="en-US" sz="1500" i="0" dirty="0">
                <a:solidFill>
                  <a:srgbClr val="111827"/>
                </a:solidFill>
                <a:effectLst/>
                <a:latin typeface="Times New Roman" panose="02020603050405020304" pitchFamily="18" charset="0"/>
                <a:cs typeface="Times New Roman" panose="02020603050405020304" pitchFamily="18" charset="0"/>
              </a:rPr>
              <a:t>(PDF) The sensors-based artificial intelligence Train Control and</a:t>
            </a:r>
            <a:r>
              <a:rPr lang="en-US" sz="1500" i="0" dirty="0">
                <a:solidFill>
                  <a:srgbClr val="374151"/>
                </a:solidFill>
                <a:effectLst/>
                <a:latin typeface="Times New Roman" panose="02020603050405020304" pitchFamily="18" charset="0"/>
                <a:cs typeface="Times New Roman" panose="02020603050405020304" pitchFamily="18" charset="0"/>
              </a:rPr>
              <a:t>: </a:t>
            </a:r>
            <a:r>
              <a:rPr lang="en-US" sz="1500" i="0" u="none" strike="noStrike" dirty="0">
                <a:solidFill>
                  <a:srgbClr val="3286FF"/>
                </a:solidFill>
                <a:effectLst/>
                <a:latin typeface="Times New Roman" panose="02020603050405020304" pitchFamily="18" charset="0"/>
                <a:cs typeface="Times New Roman" panose="02020603050405020304" pitchFamily="18" charset="0"/>
              </a:rPr>
              <a:t>https://www.researchgate.net/publication/367442732_The_sensors-based_artificial_intelligence_Train_Control_and_Monitoring_System_TCMS_for_managing_the_railway_transport_fleet</a:t>
            </a:r>
            <a:endParaRPr lang="en-US" sz="1500" i="0" dirty="0">
              <a:solidFill>
                <a:srgbClr val="374151"/>
              </a:solidFill>
              <a:effectLst/>
              <a:latin typeface="Times New Roman" panose="02020603050405020304" pitchFamily="18" charset="0"/>
              <a:cs typeface="Times New Roman" panose="02020603050405020304" pitchFamily="18" charset="0"/>
            </a:endParaRPr>
          </a:p>
          <a:p>
            <a:pPr marL="342900" indent="-342900" algn="l">
              <a:buFont typeface="+mj-lt"/>
              <a:buAutoNum type="arabicPeriod" startAt="12"/>
            </a:pPr>
            <a:r>
              <a:rPr lang="en-US" sz="1500" i="0" dirty="0">
                <a:solidFill>
                  <a:srgbClr val="111827"/>
                </a:solidFill>
                <a:effectLst/>
                <a:latin typeface="Times New Roman" panose="02020603050405020304" pitchFamily="18" charset="0"/>
                <a:cs typeface="Times New Roman" panose="02020603050405020304" pitchFamily="18" charset="0"/>
              </a:rPr>
              <a:t>Using deep learning model integration to build a smart railway traffic</a:t>
            </a:r>
            <a:r>
              <a:rPr lang="en-US" sz="1500" i="0" dirty="0">
                <a:solidFill>
                  <a:srgbClr val="374151"/>
                </a:solidFill>
                <a:effectLst/>
                <a:latin typeface="Times New Roman" panose="02020603050405020304" pitchFamily="18" charset="0"/>
                <a:cs typeface="Times New Roman" panose="02020603050405020304" pitchFamily="18" charset="0"/>
              </a:rPr>
              <a:t>: </a:t>
            </a:r>
            <a:r>
              <a:rPr lang="en-US" sz="1500" i="0" u="none" strike="noStrike" dirty="0">
                <a:solidFill>
                  <a:srgbClr val="3286FF"/>
                </a:solidFill>
                <a:effectLst/>
                <a:latin typeface="Times New Roman" panose="02020603050405020304" pitchFamily="18" charset="0"/>
                <a:cs typeface="Times New Roman" panose="02020603050405020304" pitchFamily="18" charset="0"/>
              </a:rPr>
              <a:t>https://www.nature.com/articles/s41598-025-88830-7</a:t>
            </a:r>
            <a:endParaRPr lang="en-US" sz="1500" i="0" dirty="0">
              <a:solidFill>
                <a:srgbClr val="374151"/>
              </a:solidFill>
              <a:effectLst/>
              <a:latin typeface="Times New Roman" panose="02020603050405020304" pitchFamily="18" charset="0"/>
              <a:cs typeface="Times New Roman" panose="02020603050405020304" pitchFamily="18" charset="0"/>
            </a:endParaRPr>
          </a:p>
          <a:p>
            <a:pPr marL="342900" indent="-342900" algn="l">
              <a:buFont typeface="+mj-lt"/>
              <a:buAutoNum type="arabicPeriod" startAt="12"/>
            </a:pPr>
            <a:r>
              <a:rPr lang="en-US" sz="1500" i="0" dirty="0">
                <a:solidFill>
                  <a:srgbClr val="111827"/>
                </a:solidFill>
                <a:effectLst/>
                <a:latin typeface="Times New Roman" panose="02020603050405020304" pitchFamily="18" charset="0"/>
                <a:cs typeface="Times New Roman" panose="02020603050405020304" pitchFamily="18" charset="0"/>
              </a:rPr>
              <a:t>Smart train control and monitoring system with predictive</a:t>
            </a:r>
            <a:r>
              <a:rPr lang="en-US" sz="1500" i="0" dirty="0">
                <a:solidFill>
                  <a:srgbClr val="374151"/>
                </a:solidFill>
                <a:effectLst/>
                <a:latin typeface="Times New Roman" panose="02020603050405020304" pitchFamily="18" charset="0"/>
                <a:cs typeface="Times New Roman" panose="02020603050405020304" pitchFamily="18" charset="0"/>
              </a:rPr>
              <a:t>: </a:t>
            </a:r>
            <a:r>
              <a:rPr lang="en-US" sz="1500" i="0" u="none" strike="noStrike" dirty="0">
                <a:solidFill>
                  <a:srgbClr val="3286FF"/>
                </a:solidFill>
                <a:effectLst/>
                <a:latin typeface="Times New Roman" panose="02020603050405020304" pitchFamily="18" charset="0"/>
                <a:cs typeface="Times New Roman" panose="02020603050405020304" pitchFamily="18" charset="0"/>
              </a:rPr>
              <a:t>https://www.sciencedirect.com/science/article/pii/S2590198225000880</a:t>
            </a:r>
            <a:endParaRPr lang="en-US" sz="1500" i="0" dirty="0">
              <a:solidFill>
                <a:srgbClr val="374151"/>
              </a:solidFill>
              <a:effectLst/>
              <a:latin typeface="Times New Roman" panose="02020603050405020304" pitchFamily="18" charset="0"/>
              <a:cs typeface="Times New Roman" panose="02020603050405020304" pitchFamily="18" charset="0"/>
            </a:endParaRPr>
          </a:p>
          <a:p>
            <a:pPr marL="342900" indent="-342900" algn="l">
              <a:buFont typeface="+mj-lt"/>
              <a:buAutoNum type="arabicPeriod" startAt="12"/>
            </a:pPr>
            <a:r>
              <a:rPr lang="en-US" sz="1500" i="0" dirty="0">
                <a:solidFill>
                  <a:srgbClr val="111827"/>
                </a:solidFill>
                <a:effectLst/>
                <a:latin typeface="Times New Roman" panose="02020603050405020304" pitchFamily="18" charset="0"/>
                <a:cs typeface="Times New Roman" panose="02020603050405020304" pitchFamily="18" charset="0"/>
              </a:rPr>
              <a:t>Artificial Intelligence-Based Surveillance System for Railway</a:t>
            </a:r>
            <a:r>
              <a:rPr lang="en-US" sz="1500" i="0" dirty="0">
                <a:solidFill>
                  <a:srgbClr val="374151"/>
                </a:solidFill>
                <a:effectLst/>
                <a:latin typeface="Times New Roman" panose="02020603050405020304" pitchFamily="18" charset="0"/>
                <a:cs typeface="Times New Roman" panose="02020603050405020304" pitchFamily="18" charset="0"/>
              </a:rPr>
              <a:t>: </a:t>
            </a:r>
            <a:r>
              <a:rPr lang="en-US" sz="1500" i="0" u="none" strike="noStrike" dirty="0">
                <a:solidFill>
                  <a:srgbClr val="3286FF"/>
                </a:solidFill>
                <a:effectLst/>
                <a:latin typeface="Times New Roman" panose="02020603050405020304" pitchFamily="18" charset="0"/>
                <a:cs typeface="Times New Roman" panose="02020603050405020304" pitchFamily="18" charset="0"/>
              </a:rPr>
              <a:t>https://ieeexplore.ieee.org/document/9226453/</a:t>
            </a:r>
            <a:endParaRPr lang="en-US" sz="1500" i="0" dirty="0">
              <a:solidFill>
                <a:srgbClr val="374151"/>
              </a:solidFill>
              <a:effectLst/>
              <a:latin typeface="Times New Roman" panose="02020603050405020304" pitchFamily="18" charset="0"/>
              <a:cs typeface="Times New Roman" panose="02020603050405020304" pitchFamily="18" charset="0"/>
            </a:endParaRPr>
          </a:p>
          <a:p>
            <a:pPr marL="342900" indent="-342900" algn="l">
              <a:buFont typeface="+mj-lt"/>
              <a:buAutoNum type="arabicPeriod" startAt="12"/>
            </a:pPr>
            <a:r>
              <a:rPr lang="en-US" sz="1500" i="0" dirty="0">
                <a:solidFill>
                  <a:srgbClr val="111827"/>
                </a:solidFill>
                <a:effectLst/>
                <a:latin typeface="Times New Roman" panose="02020603050405020304" pitchFamily="18" charset="0"/>
                <a:cs typeface="Times New Roman" panose="02020603050405020304" pitchFamily="18" charset="0"/>
              </a:rPr>
              <a:t>$PDF] The sensors-based artificial intelligence Train Control and</a:t>
            </a:r>
            <a:r>
              <a:rPr lang="en-US" sz="1500" i="0" dirty="0">
                <a:solidFill>
                  <a:srgbClr val="374151"/>
                </a:solidFill>
                <a:effectLst/>
                <a:latin typeface="Times New Roman" panose="02020603050405020304" pitchFamily="18" charset="0"/>
                <a:cs typeface="Times New Roman" panose="02020603050405020304" pitchFamily="18" charset="0"/>
              </a:rPr>
              <a:t>: </a:t>
            </a:r>
            <a:r>
              <a:rPr lang="en-US" sz="1500" i="0" u="none" strike="noStrike" dirty="0">
                <a:solidFill>
                  <a:srgbClr val="3286FF"/>
                </a:solidFill>
                <a:effectLst/>
                <a:latin typeface="Times New Roman" panose="02020603050405020304" pitchFamily="18" charset="0"/>
                <a:cs typeface="Times New Roman" panose="02020603050405020304" pitchFamily="18" charset="0"/>
              </a:rPr>
              <a:t>https://www.researchgate.net/profile/Pawel-Weichbroth/publication/367442732_The_sensors-based_artificial_intelligence_Train_Control_and_Monitoring_System_TCMS_for_managing_the_railway_transport_fleet/links/656f0d525985071c7bf05d50/The-sensors-based-artificial-intelligence-Train-Control-and-Monitoring-System-TCMS-for-managing-the-railway-transport-fleet.pdf</a:t>
            </a:r>
            <a:endParaRPr lang="en-US" sz="1500" i="0" dirty="0">
              <a:solidFill>
                <a:srgbClr val="374151"/>
              </a:solidFill>
              <a:effectLst/>
              <a:latin typeface="Times New Roman" panose="02020603050405020304" pitchFamily="18" charset="0"/>
              <a:cs typeface="Times New Roman" panose="02020603050405020304" pitchFamily="18" charset="0"/>
            </a:endParaRPr>
          </a:p>
          <a:p>
            <a:pPr marL="342900" indent="-342900" algn="l">
              <a:buFont typeface="+mj-lt"/>
              <a:buAutoNum type="arabicPeriod" startAt="12"/>
            </a:pPr>
            <a:r>
              <a:rPr lang="en-US" sz="1500" i="0" dirty="0">
                <a:solidFill>
                  <a:srgbClr val="111827"/>
                </a:solidFill>
                <a:effectLst/>
                <a:latin typeface="Times New Roman" panose="02020603050405020304" pitchFamily="18" charset="0"/>
                <a:cs typeface="Times New Roman" panose="02020603050405020304" pitchFamily="18" charset="0"/>
              </a:rPr>
              <a:t>A Machine-Learning-Based Approach for Railway Track Monitoring</a:t>
            </a:r>
            <a:r>
              <a:rPr lang="en-US" sz="1500" i="0" dirty="0">
                <a:solidFill>
                  <a:srgbClr val="374151"/>
                </a:solidFill>
                <a:effectLst/>
                <a:latin typeface="Times New Roman" panose="02020603050405020304" pitchFamily="18" charset="0"/>
                <a:cs typeface="Times New Roman" panose="02020603050405020304" pitchFamily="18" charset="0"/>
              </a:rPr>
              <a:t>: </a:t>
            </a:r>
            <a:r>
              <a:rPr lang="en-US" sz="1500" i="0" u="none" strike="noStrike" dirty="0">
                <a:solidFill>
                  <a:srgbClr val="3286FF"/>
                </a:solidFill>
                <a:effectLst/>
                <a:latin typeface="Times New Roman" panose="02020603050405020304" pitchFamily="18" charset="0"/>
                <a:cs typeface="Times New Roman" panose="02020603050405020304" pitchFamily="18" charset="0"/>
              </a:rPr>
              <a:t>https://www.mdpi.com/1424-8220/23/17/7568</a:t>
            </a:r>
            <a:endParaRPr lang="en-US" sz="1500" i="0" dirty="0">
              <a:solidFill>
                <a:srgbClr val="374151"/>
              </a:solidFill>
              <a:effectLst/>
              <a:latin typeface="Times New Roman" panose="02020603050405020304" pitchFamily="18" charset="0"/>
              <a:cs typeface="Times New Roman" panose="02020603050405020304" pitchFamily="18" charset="0"/>
            </a:endParaRPr>
          </a:p>
          <a:p>
            <a:pPr marL="342900" indent="-342900" algn="l">
              <a:buFont typeface="+mj-lt"/>
              <a:buAutoNum type="arabicPeriod" startAt="12"/>
            </a:pPr>
            <a:r>
              <a:rPr lang="en-US" sz="1500" i="0" dirty="0">
                <a:solidFill>
                  <a:srgbClr val="111827"/>
                </a:solidFill>
                <a:effectLst/>
                <a:latin typeface="Times New Roman" panose="02020603050405020304" pitchFamily="18" charset="0"/>
                <a:cs typeface="Times New Roman" panose="02020603050405020304" pitchFamily="18" charset="0"/>
              </a:rPr>
              <a:t>Artificial intelligence in railway infrastructure - Oxford Academic</a:t>
            </a:r>
            <a:r>
              <a:rPr lang="en-US" sz="1500" i="0" dirty="0">
                <a:solidFill>
                  <a:srgbClr val="374151"/>
                </a:solidFill>
                <a:effectLst/>
                <a:latin typeface="Times New Roman" panose="02020603050405020304" pitchFamily="18" charset="0"/>
                <a:cs typeface="Times New Roman" panose="02020603050405020304" pitchFamily="18" charset="0"/>
              </a:rPr>
              <a:t>: </a:t>
            </a:r>
            <a:r>
              <a:rPr lang="en-US" sz="1500" i="0" u="none" strike="noStrike" dirty="0">
                <a:solidFill>
                  <a:srgbClr val="3286FF"/>
                </a:solidFill>
                <a:effectLst/>
                <a:latin typeface="Times New Roman" panose="02020603050405020304" pitchFamily="18" charset="0"/>
                <a:cs typeface="Times New Roman" panose="02020603050405020304" pitchFamily="18" charset="0"/>
              </a:rPr>
              <a:t>https://academic.oup.com/iti/article-pdf/doi/10.1093/iti/liad016/52076477/liad016.pdf</a:t>
            </a:r>
            <a:endParaRPr lang="en-US" sz="1500" i="0" dirty="0">
              <a:solidFill>
                <a:srgbClr val="374151"/>
              </a:solidFill>
              <a:effectLst/>
              <a:latin typeface="Times New Roman" panose="02020603050405020304" pitchFamily="18" charset="0"/>
              <a:cs typeface="Times New Roman" panose="02020603050405020304" pitchFamily="18" charset="0"/>
            </a:endParaRPr>
          </a:p>
          <a:p>
            <a:pPr marL="342900" indent="-342900" algn="l">
              <a:buFont typeface="+mj-lt"/>
              <a:buAutoNum type="arabicPeriod" startAt="12"/>
            </a:pPr>
            <a:r>
              <a:rPr lang="en-US" sz="1500" i="0" dirty="0">
                <a:solidFill>
                  <a:srgbClr val="111827"/>
                </a:solidFill>
                <a:effectLst/>
                <a:latin typeface="Times New Roman" panose="02020603050405020304" pitchFamily="18" charset="0"/>
                <a:cs typeface="Times New Roman" panose="02020603050405020304" pitchFamily="18" charset="0"/>
              </a:rPr>
              <a:t>A Review of Deep Learning Applications for Railway Safety - MDPI</a:t>
            </a:r>
            <a:r>
              <a:rPr lang="en-US" sz="1500" i="0" dirty="0">
                <a:solidFill>
                  <a:srgbClr val="374151"/>
                </a:solidFill>
                <a:effectLst/>
                <a:latin typeface="Times New Roman" panose="02020603050405020304" pitchFamily="18" charset="0"/>
                <a:cs typeface="Times New Roman" panose="02020603050405020304" pitchFamily="18" charset="0"/>
              </a:rPr>
              <a:t>: </a:t>
            </a:r>
            <a:r>
              <a:rPr lang="en-US" sz="1500" i="0" u="none" strike="noStrike" dirty="0">
                <a:solidFill>
                  <a:srgbClr val="3286FF"/>
                </a:solidFill>
                <a:effectLst/>
                <a:latin typeface="Times New Roman" panose="02020603050405020304" pitchFamily="18" charset="0"/>
                <a:cs typeface="Times New Roman" panose="02020603050405020304" pitchFamily="18" charset="0"/>
              </a:rPr>
              <a:t>https://www.mdpi.com/2076-3417/12/20/10572</a:t>
            </a:r>
            <a:endParaRPr lang="en-US" sz="1500" i="0" dirty="0">
              <a:solidFill>
                <a:srgbClr val="374151"/>
              </a:solidFill>
              <a:effectLst/>
              <a:latin typeface="Times New Roman" panose="02020603050405020304" pitchFamily="18" charset="0"/>
              <a:cs typeface="Times New Roman" panose="02020603050405020304" pitchFamily="18" charset="0"/>
            </a:endParaRPr>
          </a:p>
          <a:p>
            <a:pPr marL="342900" indent="-342900" algn="l">
              <a:buFont typeface="+mj-lt"/>
              <a:buAutoNum type="arabicPeriod" startAt="12"/>
            </a:pPr>
            <a:r>
              <a:rPr lang="en-US" sz="1500" i="0" dirty="0">
                <a:solidFill>
                  <a:srgbClr val="111827"/>
                </a:solidFill>
                <a:effectLst/>
                <a:latin typeface="Times New Roman" panose="02020603050405020304" pitchFamily="18" charset="0"/>
                <a:cs typeface="Times New Roman" panose="02020603050405020304" pitchFamily="18" charset="0"/>
              </a:rPr>
              <a:t>Robotic Railway Multi-Sensing and Profiling Unit Based on Artificial</a:t>
            </a:r>
            <a:r>
              <a:rPr lang="en-US" sz="1500" i="0" dirty="0">
                <a:solidFill>
                  <a:srgbClr val="374151"/>
                </a:solidFill>
                <a:effectLst/>
                <a:latin typeface="Times New Roman" panose="02020603050405020304" pitchFamily="18" charset="0"/>
                <a:cs typeface="Times New Roman" panose="02020603050405020304" pitchFamily="18" charset="0"/>
              </a:rPr>
              <a:t>: </a:t>
            </a:r>
            <a:r>
              <a:rPr lang="en-US" sz="1500" i="0" u="none" strike="noStrike" dirty="0">
                <a:solidFill>
                  <a:srgbClr val="3286FF"/>
                </a:solidFill>
                <a:effectLst/>
                <a:latin typeface="Times New Roman" panose="02020603050405020304" pitchFamily="18" charset="0"/>
                <a:cs typeface="Times New Roman" panose="02020603050405020304" pitchFamily="18" charset="0"/>
              </a:rPr>
              <a:t>https://pmc.ncbi.nlm.nih.gov/articles/PMC8538696/</a:t>
            </a:r>
            <a:endParaRPr lang="en-US" sz="1500" i="0" dirty="0">
              <a:solidFill>
                <a:srgbClr val="37415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48232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B720E-5A4F-56BE-8E32-D6FE9E64C38D}"/>
              </a:ext>
            </a:extLst>
          </p:cNvPr>
          <p:cNvSpPr>
            <a:spLocks noGrp="1"/>
          </p:cNvSpPr>
          <p:nvPr>
            <p:ph type="title"/>
          </p:nvPr>
        </p:nvSpPr>
        <p:spPr>
          <a:xfrm>
            <a:off x="3049555" y="2444621"/>
            <a:ext cx="5898502" cy="2146041"/>
          </a:xfrm>
        </p:spPr>
        <p:txBody>
          <a:bodyPr>
            <a:normAutofit/>
          </a:bodyPr>
          <a:lstStyle/>
          <a:p>
            <a:r>
              <a:rPr lang="en-IN" sz="9600" dirty="0">
                <a:latin typeface="Times New Roman" panose="02020603050405020304" pitchFamily="18" charset="0"/>
                <a:cs typeface="Times New Roman" panose="02020603050405020304" pitchFamily="18" charset="0"/>
              </a:rPr>
              <a:t>Thank You</a:t>
            </a:r>
          </a:p>
        </p:txBody>
      </p:sp>
      <p:sp>
        <p:nvSpPr>
          <p:cNvPr id="3" name="Date Placeholder 2">
            <a:extLst>
              <a:ext uri="{FF2B5EF4-FFF2-40B4-BE49-F238E27FC236}">
                <a16:creationId xmlns:a16="http://schemas.microsoft.com/office/drawing/2014/main" id="{1190CB61-4EFA-150C-7C44-CA8E78B571B1}"/>
              </a:ext>
            </a:extLst>
          </p:cNvPr>
          <p:cNvSpPr>
            <a:spLocks noGrp="1"/>
          </p:cNvSpPr>
          <p:nvPr>
            <p:ph type="dt" sz="half" idx="10"/>
          </p:nvPr>
        </p:nvSpPr>
        <p:spPr/>
        <p:txBody>
          <a:bodyPr/>
          <a:lstStyle/>
          <a:p>
            <a:fld id="{E890A751-91A0-4E1C-89F5-BFF21E9B4F7C}" type="datetime1">
              <a:rPr lang="en-IN" smtClean="0"/>
              <a:t>10-06-2025</a:t>
            </a:fld>
            <a:endParaRPr lang="en-IN" dirty="0"/>
          </a:p>
        </p:txBody>
      </p:sp>
      <p:sp>
        <p:nvSpPr>
          <p:cNvPr id="4" name="Slide Number Placeholder 3">
            <a:extLst>
              <a:ext uri="{FF2B5EF4-FFF2-40B4-BE49-F238E27FC236}">
                <a16:creationId xmlns:a16="http://schemas.microsoft.com/office/drawing/2014/main" id="{314D51F7-6E5F-316F-217D-65F43AF3ED3E}"/>
              </a:ext>
            </a:extLst>
          </p:cNvPr>
          <p:cNvSpPr>
            <a:spLocks noGrp="1"/>
          </p:cNvSpPr>
          <p:nvPr>
            <p:ph type="sldNum" sz="quarter" idx="12"/>
          </p:nvPr>
        </p:nvSpPr>
        <p:spPr/>
        <p:txBody>
          <a:bodyPr/>
          <a:lstStyle/>
          <a:p>
            <a:r>
              <a:rPr lang="en-IN"/>
              <a:t>3</a:t>
            </a:r>
            <a:endParaRPr lang="en-IN" dirty="0"/>
          </a:p>
        </p:txBody>
      </p:sp>
    </p:spTree>
    <p:extLst>
      <p:ext uri="{BB962C8B-B14F-4D97-AF65-F5344CB8AC3E}">
        <p14:creationId xmlns:p14="http://schemas.microsoft.com/office/powerpoint/2010/main" val="2959972786"/>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78777</TotalTime>
  <Words>3167</Words>
  <Application>Microsoft Office PowerPoint</Application>
  <PresentationFormat>Widescreen</PresentationFormat>
  <Paragraphs>191</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Calibri Light</vt:lpstr>
      <vt:lpstr>StarSymbol</vt:lpstr>
      <vt:lpstr>Times New Roman</vt:lpstr>
      <vt:lpstr>Custom Design</vt:lpstr>
      <vt:lpstr>PowerPoint Presentation</vt:lpstr>
      <vt:lpstr>1. Introduction</vt:lpstr>
      <vt:lpstr>2. Motivation</vt:lpstr>
      <vt:lpstr>3. Problem Statement</vt:lpstr>
      <vt:lpstr>4. Literature Survey</vt:lpstr>
      <vt:lpstr>PowerPoint Presentation</vt:lpstr>
      <vt:lpstr>PowerPoint Presentation</vt:lpstr>
      <vt:lpstr>PowerPoint Presentation</vt:lpstr>
      <vt:lpstr>5. Summary of Literature Survey</vt:lpstr>
      <vt:lpstr> 6. Proposed Architecture </vt:lpstr>
      <vt:lpstr>PowerPoint Presentation</vt:lpstr>
      <vt:lpstr>PowerPoint Presentation</vt:lpstr>
      <vt:lpstr>7. Implementation</vt:lpstr>
      <vt:lpstr>PowerPoint Presentation</vt:lpstr>
      <vt:lpstr>8.Results</vt:lpstr>
      <vt:lpstr>PowerPoint Presentation</vt:lpstr>
      <vt:lpstr>9. Conclusion</vt:lpstr>
      <vt:lpstr>10. Future Scope</vt:lpstr>
      <vt:lpstr>11. Questions &amp; Answers</vt:lpstr>
      <vt:lpstr>12. References</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Vamsheedhar Reddy pillareddy</dc:creator>
  <cp:lastModifiedBy>simhadri vishwathma</cp:lastModifiedBy>
  <cp:revision>185</cp:revision>
  <dcterms:created xsi:type="dcterms:W3CDTF">2021-12-29T12:40:34Z</dcterms:created>
  <dcterms:modified xsi:type="dcterms:W3CDTF">2025-06-10T18:22:37Z</dcterms:modified>
</cp:coreProperties>
</file>