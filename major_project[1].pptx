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11"/>
  </p:notesMasterIdLst>
  <p:handoutMasterIdLst>
    <p:handoutMasterId r:id="rId12"/>
  </p:handoutMasterIdLst>
  <p:sldIdLst>
    <p:sldId id="315" r:id="rId2"/>
    <p:sldId id="323" r:id="rId3"/>
    <p:sldId id="331" r:id="rId4"/>
    <p:sldId id="332" r:id="rId5"/>
    <p:sldId id="324" r:id="rId6"/>
    <p:sldId id="325" r:id="rId7"/>
    <p:sldId id="326" r:id="rId8"/>
    <p:sldId id="329" r:id="rId9"/>
    <p:sldId id="33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F1F"/>
    <a:srgbClr val="F45A2A"/>
    <a:srgbClr val="C39BE1"/>
    <a:srgbClr val="85DFFF"/>
    <a:srgbClr val="FAA4F0"/>
    <a:srgbClr val="DB0BC2"/>
    <a:srgbClr val="FFBDBD"/>
    <a:srgbClr val="00B0F0"/>
    <a:srgbClr val="633B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4444" autoAdjust="0"/>
  </p:normalViewPr>
  <p:slideViewPr>
    <p:cSldViewPr snapToGrid="0">
      <p:cViewPr>
        <p:scale>
          <a:sx n="69" d="100"/>
          <a:sy n="69" d="100"/>
        </p:scale>
        <p:origin x="560"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839A57-8F1B-4771-8FDE-C5ED84E784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A9F3EE0-8EE5-4D16-9665-BB38B54A7D6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B3EC63-DE96-40D9-A8C4-41552D27326F}" type="datetimeFigureOut">
              <a:rPr lang="en-IN" smtClean="0"/>
              <a:t>05-12-2024</a:t>
            </a:fld>
            <a:endParaRPr lang="en-IN"/>
          </a:p>
        </p:txBody>
      </p:sp>
      <p:sp>
        <p:nvSpPr>
          <p:cNvPr id="4" name="Footer Placeholder 3">
            <a:extLst>
              <a:ext uri="{FF2B5EF4-FFF2-40B4-BE49-F238E27FC236}">
                <a16:creationId xmlns:a16="http://schemas.microsoft.com/office/drawing/2014/main" id="{5169D972-A5E3-4F61-9E4F-3A71EFBA02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137DC22-0A1E-49A7-9DA5-265B56EAB1F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D31B81-46EF-41DB-AB36-FF830E658FC8}" type="slidenum">
              <a:rPr lang="en-IN" smtClean="0"/>
              <a:t>‹#›</a:t>
            </a:fld>
            <a:endParaRPr lang="en-IN"/>
          </a:p>
        </p:txBody>
      </p:sp>
    </p:spTree>
    <p:extLst>
      <p:ext uri="{BB962C8B-B14F-4D97-AF65-F5344CB8AC3E}">
        <p14:creationId xmlns:p14="http://schemas.microsoft.com/office/powerpoint/2010/main" val="41989069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F1193-CFEC-4502-81BF-8A583D7E65D5}" type="datetimeFigureOut">
              <a:rPr lang="en-IN" smtClean="0"/>
              <a:t>05-12-2024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ADDA7-76AB-46DB-9BDB-7537D70BDADC}" type="slidenum">
              <a:rPr lang="en-IN" smtClean="0"/>
              <a:t>‹#›</a:t>
            </a:fld>
            <a:endParaRPr lang="en-IN"/>
          </a:p>
        </p:txBody>
      </p:sp>
    </p:spTree>
    <p:extLst>
      <p:ext uri="{BB962C8B-B14F-4D97-AF65-F5344CB8AC3E}">
        <p14:creationId xmlns:p14="http://schemas.microsoft.com/office/powerpoint/2010/main" val="2925713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r>
              <a:rPr lang="en-IN" dirty="0"/>
              <a:t>3</a:t>
            </a:r>
          </a:p>
        </p:txBody>
      </p:sp>
    </p:spTree>
    <p:extLst>
      <p:ext uri="{BB962C8B-B14F-4D97-AF65-F5344CB8AC3E}">
        <p14:creationId xmlns:p14="http://schemas.microsoft.com/office/powerpoint/2010/main" val="14572090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tint val="95000"/>
            <a:satMod val="170000"/>
            <a:alpha val="17000"/>
          </a:schemeClr>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868546-2A17-43E8-893A-5D82751037C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890A751-91A0-4E1C-89F5-BFF21E9B4F7C}" type="datetime1">
              <a:rPr lang="en-IN" smtClean="0"/>
              <a:t>05-12-2024</a:t>
            </a:fld>
            <a:endParaRPr lang="en-IN" dirty="0"/>
          </a:p>
        </p:txBody>
      </p:sp>
      <p:sp>
        <p:nvSpPr>
          <p:cNvPr id="5" name="Footer Placeholder 4">
            <a:extLst>
              <a:ext uri="{FF2B5EF4-FFF2-40B4-BE49-F238E27FC236}">
                <a16:creationId xmlns:a16="http://schemas.microsoft.com/office/drawing/2014/main" id="{3F760A89-C827-4C91-940F-A7B18FC9520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957500A-ECDD-49C8-B36F-8B2B3926B79F}"/>
              </a:ext>
            </a:extLst>
          </p:cNvPr>
          <p:cNvSpPr>
            <a:spLocks noGrp="1"/>
          </p:cNvSpPr>
          <p:nvPr>
            <p:ph type="sldNum" sz="quarter" idx="4"/>
          </p:nvPr>
        </p:nvSpPr>
        <p:spPr>
          <a:xfrm>
            <a:off x="8610600" y="6356352"/>
            <a:ext cx="3024554" cy="365125"/>
          </a:xfrm>
          <a:prstGeom prst="rect">
            <a:avLst/>
          </a:prstGeom>
        </p:spPr>
        <p:txBody>
          <a:bodyPr vert="horz" lIns="91440" tIns="45720" rIns="91440" bIns="45720" rtlCol="0" anchor="ctr"/>
          <a:lstStyle>
            <a:lvl1pPr algn="r">
              <a:defRPr sz="1800" b="1">
                <a:solidFill>
                  <a:schemeClr val="tx1">
                    <a:tint val="75000"/>
                  </a:schemeClr>
                </a:solidFill>
                <a:latin typeface="Times New Roman" panose="02020603050405020304" pitchFamily="18" charset="0"/>
                <a:cs typeface="Times New Roman" panose="02020603050405020304" pitchFamily="18" charset="0"/>
              </a:defRPr>
            </a:lvl1pPr>
          </a:lstStyle>
          <a:p>
            <a:r>
              <a:rPr lang="en-IN" dirty="0"/>
              <a:t>1</a:t>
            </a:r>
          </a:p>
        </p:txBody>
      </p:sp>
      <p:sp>
        <p:nvSpPr>
          <p:cNvPr id="7" name="Rectangle 6">
            <a:extLst>
              <a:ext uri="{FF2B5EF4-FFF2-40B4-BE49-F238E27FC236}">
                <a16:creationId xmlns:a16="http://schemas.microsoft.com/office/drawing/2014/main" id="{3382A9C5-A027-406B-9F4B-FF5BEDEBB86E}"/>
              </a:ext>
            </a:extLst>
          </p:cNvPr>
          <p:cNvSpPr/>
          <p:nvPr userDrawn="1"/>
        </p:nvSpPr>
        <p:spPr>
          <a:xfrm>
            <a:off x="0" y="871156"/>
            <a:ext cx="3024555" cy="85449"/>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2" name="Rectangle 11">
            <a:extLst>
              <a:ext uri="{FF2B5EF4-FFF2-40B4-BE49-F238E27FC236}">
                <a16:creationId xmlns:a16="http://schemas.microsoft.com/office/drawing/2014/main" id="{292653F7-6720-4183-9734-18E9ED32013A}"/>
              </a:ext>
            </a:extLst>
          </p:cNvPr>
          <p:cNvSpPr/>
          <p:nvPr userDrawn="1"/>
        </p:nvSpPr>
        <p:spPr>
          <a:xfrm>
            <a:off x="3071445" y="871155"/>
            <a:ext cx="3024555" cy="85449"/>
          </a:xfrm>
          <a:prstGeom prst="rect">
            <a:avLst/>
          </a:prstGeom>
          <a:solidFill>
            <a:srgbClr val="DB0BC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3" name="Rectangle 12">
            <a:extLst>
              <a:ext uri="{FF2B5EF4-FFF2-40B4-BE49-F238E27FC236}">
                <a16:creationId xmlns:a16="http://schemas.microsoft.com/office/drawing/2014/main" id="{5C80812F-6E6F-4ACC-ADF1-BC1D72123F2E}"/>
              </a:ext>
            </a:extLst>
          </p:cNvPr>
          <p:cNvSpPr/>
          <p:nvPr userDrawn="1"/>
        </p:nvSpPr>
        <p:spPr>
          <a:xfrm>
            <a:off x="6142892" y="867519"/>
            <a:ext cx="3024555" cy="854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4" name="Rectangle 13">
            <a:extLst>
              <a:ext uri="{FF2B5EF4-FFF2-40B4-BE49-F238E27FC236}">
                <a16:creationId xmlns:a16="http://schemas.microsoft.com/office/drawing/2014/main" id="{DEAB7AE4-BADD-4589-A456-BAD53341639D}"/>
              </a:ext>
            </a:extLst>
          </p:cNvPr>
          <p:cNvSpPr/>
          <p:nvPr userDrawn="1"/>
        </p:nvSpPr>
        <p:spPr>
          <a:xfrm>
            <a:off x="9261229" y="867519"/>
            <a:ext cx="2930771" cy="85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18" name="Picture 17" descr="A picture containing clipart&#10;&#10;Description automatically generated">
            <a:extLst>
              <a:ext uri="{FF2B5EF4-FFF2-40B4-BE49-F238E27FC236}">
                <a16:creationId xmlns:a16="http://schemas.microsoft.com/office/drawing/2014/main" id="{D8723518-3E13-449A-93CC-E5BD2584CED5}"/>
              </a:ext>
            </a:extLst>
          </p:cNvPr>
          <p:cNvPicPr>
            <a:picLocks noChangeAspect="1"/>
          </p:cNvPicPr>
          <p:nvPr userDrawn="1"/>
        </p:nvPicPr>
        <p:blipFill>
          <a:blip r:embed="rId3">
            <a:alphaModFix amt="7000"/>
            <a:extLst>
              <a:ext uri="{28A0092B-C50C-407E-A947-70E740481C1C}">
                <a14:useLocalDpi xmlns:a14="http://schemas.microsoft.com/office/drawing/2010/main" val="0"/>
              </a:ext>
            </a:extLst>
          </a:blip>
          <a:stretch>
            <a:fillRect/>
          </a:stretch>
        </p:blipFill>
        <p:spPr>
          <a:xfrm>
            <a:off x="0" y="952968"/>
            <a:ext cx="12192000" cy="5407020"/>
          </a:xfrm>
          <a:prstGeom prst="rect">
            <a:avLst/>
          </a:prstGeom>
        </p:spPr>
      </p:pic>
      <p:sp>
        <p:nvSpPr>
          <p:cNvPr id="19" name="Rectangle 18">
            <a:extLst>
              <a:ext uri="{FF2B5EF4-FFF2-40B4-BE49-F238E27FC236}">
                <a16:creationId xmlns:a16="http://schemas.microsoft.com/office/drawing/2014/main" id="{3AC507D3-154D-40AE-8574-6953A71E6677}"/>
              </a:ext>
            </a:extLst>
          </p:cNvPr>
          <p:cNvSpPr/>
          <p:nvPr userDrawn="1"/>
        </p:nvSpPr>
        <p:spPr>
          <a:xfrm>
            <a:off x="0" y="6226361"/>
            <a:ext cx="3024555" cy="85449"/>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0" name="Rectangle 19">
            <a:extLst>
              <a:ext uri="{FF2B5EF4-FFF2-40B4-BE49-F238E27FC236}">
                <a16:creationId xmlns:a16="http://schemas.microsoft.com/office/drawing/2014/main" id="{6C807768-55DB-47EA-98AF-D55C2AE3A98E}"/>
              </a:ext>
            </a:extLst>
          </p:cNvPr>
          <p:cNvSpPr/>
          <p:nvPr userDrawn="1"/>
        </p:nvSpPr>
        <p:spPr>
          <a:xfrm>
            <a:off x="3071445" y="6226360"/>
            <a:ext cx="3024555" cy="85449"/>
          </a:xfrm>
          <a:prstGeom prst="rect">
            <a:avLst/>
          </a:prstGeom>
          <a:solidFill>
            <a:srgbClr val="DB0BC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1" name="Rectangle 20">
            <a:extLst>
              <a:ext uri="{FF2B5EF4-FFF2-40B4-BE49-F238E27FC236}">
                <a16:creationId xmlns:a16="http://schemas.microsoft.com/office/drawing/2014/main" id="{9470C754-4808-4989-A6C0-CAF3BDDAEE7D}"/>
              </a:ext>
            </a:extLst>
          </p:cNvPr>
          <p:cNvSpPr/>
          <p:nvPr userDrawn="1"/>
        </p:nvSpPr>
        <p:spPr>
          <a:xfrm>
            <a:off x="6142892" y="6222724"/>
            <a:ext cx="3024555" cy="854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2" name="Rectangle 21">
            <a:extLst>
              <a:ext uri="{FF2B5EF4-FFF2-40B4-BE49-F238E27FC236}">
                <a16:creationId xmlns:a16="http://schemas.microsoft.com/office/drawing/2014/main" id="{3E758F92-3EA2-4573-B595-EFE85AD7637B}"/>
              </a:ext>
            </a:extLst>
          </p:cNvPr>
          <p:cNvSpPr/>
          <p:nvPr userDrawn="1"/>
        </p:nvSpPr>
        <p:spPr>
          <a:xfrm>
            <a:off x="9261229" y="6222724"/>
            <a:ext cx="2930771" cy="85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 name="Title Placeholder 1">
            <a:extLst>
              <a:ext uri="{FF2B5EF4-FFF2-40B4-BE49-F238E27FC236}">
                <a16:creationId xmlns:a16="http://schemas.microsoft.com/office/drawing/2014/main" id="{787C9109-13FC-4D33-996C-06B3268D0A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B8859E-9986-4AE6-AFD4-811B8C390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p:cNvPicPr>
            <a:picLocks noChangeAspect="1"/>
          </p:cNvPicPr>
          <p:nvPr userDrawn="1"/>
        </p:nvPicPr>
        <p:blipFill rotWithShape="1">
          <a:blip r:embed="rId4" cstate="hqprint">
            <a:extLst>
              <a:ext uri="{28A0092B-C50C-407E-A947-70E740481C1C}">
                <a14:useLocalDpi xmlns:a14="http://schemas.microsoft.com/office/drawing/2010/main" val="0"/>
              </a:ext>
            </a:extLst>
          </a:blip>
          <a:srcRect r="48875"/>
          <a:stretch/>
        </p:blipFill>
        <p:spPr>
          <a:xfrm>
            <a:off x="0" y="11874"/>
            <a:ext cx="1580606" cy="865383"/>
          </a:xfrm>
          <a:prstGeom prst="rect">
            <a:avLst/>
          </a:prstGeom>
        </p:spPr>
      </p:pic>
    </p:spTree>
    <p:extLst>
      <p:ext uri="{BB962C8B-B14F-4D97-AF65-F5344CB8AC3E}">
        <p14:creationId xmlns:p14="http://schemas.microsoft.com/office/powerpoint/2010/main" val="2650301979"/>
      </p:ext>
    </p:extLst>
  </p:cSld>
  <p:clrMap bg1="lt1" tx1="dk1" bg2="lt2" tx2="dk2" accent1="accent1" accent2="accent2" accent3="accent3" accent4="accent4" accent5="accent5" accent6="accent6" hlink="hlink" folHlink="folHlink"/>
  <p:sldLayoutIdLst>
    <p:sldLayoutId id="2147483673" r:id="rId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p:cNvSpPr>
            <a:spLocks noGrp="1"/>
          </p:cNvSpPr>
          <p:nvPr>
            <p:ph type="sldNum" sz="quarter" idx="12"/>
          </p:nvPr>
        </p:nvSpPr>
        <p:spPr/>
        <p:txBody>
          <a:bodyPr/>
          <a:lstStyle/>
          <a:p>
            <a:r>
              <a:rPr lang="en-IN" dirty="0"/>
              <a:t>1</a:t>
            </a:r>
          </a:p>
        </p:txBody>
      </p:sp>
      <p:sp>
        <p:nvSpPr>
          <p:cNvPr id="6" name="Rectangle 5">
            <a:extLst>
              <a:ext uri="{FF2B5EF4-FFF2-40B4-BE49-F238E27FC236}">
                <a16:creationId xmlns:a16="http://schemas.microsoft.com/office/drawing/2014/main" id="{A1EC488E-2112-449C-82ED-2F8973D63DB0}"/>
              </a:ext>
            </a:extLst>
          </p:cNvPr>
          <p:cNvSpPr/>
          <p:nvPr/>
        </p:nvSpPr>
        <p:spPr>
          <a:xfrm>
            <a:off x="954644" y="1095632"/>
            <a:ext cx="10680510" cy="9343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rgbClr val="ECECEC"/>
                </a:solidFill>
                <a:effectLst/>
                <a:latin typeface="Times New Roman" panose="02020603050405020304" pitchFamily="18" charset="0"/>
                <a:cs typeface="Times New Roman" panose="02020603050405020304" pitchFamily="18" charset="0"/>
              </a:rPr>
              <a:t>RailTel Safety Solutions: Enhancing Railway Safety Using IoT, AI, and Lidar Technologies</a:t>
            </a:r>
            <a:endParaRPr lang="en-IN" sz="2400" dirty="0">
              <a:latin typeface="Times New Roman" panose="02020603050405020304" pitchFamily="18" charset="0"/>
              <a:cs typeface="Times New Roman" panose="02020603050405020304" pitchFamily="18" charset="0"/>
            </a:endParaRPr>
          </a:p>
        </p:txBody>
      </p:sp>
      <p:sp>
        <p:nvSpPr>
          <p:cNvPr id="7" name="TextBox 11">
            <a:extLst>
              <a:ext uri="{FF2B5EF4-FFF2-40B4-BE49-F238E27FC236}">
                <a16:creationId xmlns:a16="http://schemas.microsoft.com/office/drawing/2014/main" id="{53F3C65C-26EF-4733-8244-182591EDE138}"/>
              </a:ext>
            </a:extLst>
          </p:cNvPr>
          <p:cNvSpPr txBox="1"/>
          <p:nvPr/>
        </p:nvSpPr>
        <p:spPr>
          <a:xfrm>
            <a:off x="2613660" y="2255360"/>
            <a:ext cx="6964680" cy="1631216"/>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defTabSz="457200" eaLnBrk="1">
              <a:buClr>
                <a:srgbClr val="000000"/>
              </a:buClr>
              <a:buSzPct val="45000"/>
              <a:buFont typeface="StarSymbol" charset="0"/>
              <a:buNone/>
              <a:defRPr/>
            </a:pPr>
            <a:r>
              <a:rPr lang="en-US" altLang="en-US" sz="2000" kern="0" dirty="0">
                <a:solidFill>
                  <a:srgbClr val="000000"/>
                </a:solidFill>
                <a:latin typeface="Times New Roman"/>
              </a:rPr>
              <a:t>Presented by    </a:t>
            </a:r>
          </a:p>
          <a:p>
            <a:pPr algn="ctr" defTabSz="457200" eaLnBrk="1">
              <a:buClr>
                <a:srgbClr val="000000"/>
              </a:buClr>
              <a:buSzPct val="45000"/>
              <a:buFont typeface="StarSymbol" charset="0"/>
              <a:buNone/>
              <a:defRPr/>
            </a:pPr>
            <a:r>
              <a:rPr lang="en-US" altLang="en-US" sz="2000" b="1" kern="0" dirty="0">
                <a:solidFill>
                  <a:srgbClr val="000000"/>
                </a:solidFill>
                <a:latin typeface="Times New Roman"/>
              </a:rPr>
              <a:t>1.D.Nohith Reddy	245521748074</a:t>
            </a:r>
          </a:p>
          <a:p>
            <a:pPr algn="ctr" defTabSz="457200" eaLnBrk="1">
              <a:buClr>
                <a:srgbClr val="000000"/>
              </a:buClr>
              <a:buSzPct val="45000"/>
              <a:defRPr/>
            </a:pPr>
            <a:r>
              <a:rPr lang="en-US" altLang="en-US" sz="2000" b="1" kern="0" dirty="0">
                <a:solidFill>
                  <a:srgbClr val="000000"/>
                </a:solidFill>
                <a:latin typeface="Times New Roman"/>
              </a:rPr>
              <a:t>2. </a:t>
            </a:r>
            <a:r>
              <a:rPr lang="en-US" altLang="en-US" sz="2000" b="1" kern="0" dirty="0" err="1">
                <a:solidFill>
                  <a:srgbClr val="000000"/>
                </a:solidFill>
                <a:latin typeface="Times New Roman"/>
              </a:rPr>
              <a:t>S.Vishwathma</a:t>
            </a:r>
            <a:r>
              <a:rPr lang="en-US" altLang="en-US" sz="2000" b="1" kern="0" dirty="0">
                <a:solidFill>
                  <a:srgbClr val="000000"/>
                </a:solidFill>
                <a:latin typeface="Times New Roman"/>
              </a:rPr>
              <a:t>		245521748120</a:t>
            </a:r>
          </a:p>
          <a:p>
            <a:pPr algn="ctr" defTabSz="457200" eaLnBrk="1">
              <a:buClr>
                <a:srgbClr val="000000"/>
              </a:buClr>
              <a:buSzPct val="45000"/>
              <a:buFont typeface="StarSymbol" charset="0"/>
              <a:buNone/>
              <a:defRPr/>
            </a:pPr>
            <a:endParaRPr lang="en-US" altLang="en-US" sz="2000" b="1" kern="0" dirty="0">
              <a:solidFill>
                <a:srgbClr val="000000"/>
              </a:solidFill>
              <a:latin typeface="Times New Roman"/>
            </a:endParaRPr>
          </a:p>
          <a:p>
            <a:pPr algn="ctr" defTabSz="457200" eaLnBrk="1">
              <a:buClr>
                <a:srgbClr val="000000"/>
              </a:buClr>
              <a:buSzPct val="45000"/>
              <a:buFont typeface="StarSymbol" charset="0"/>
              <a:buNone/>
              <a:defRPr/>
            </a:pPr>
            <a:endParaRPr lang="en-US" altLang="en-US" sz="2000" kern="0" dirty="0">
              <a:solidFill>
                <a:srgbClr val="000000"/>
              </a:solidFill>
              <a:latin typeface="Times New Roman"/>
            </a:endParaRPr>
          </a:p>
        </p:txBody>
      </p:sp>
      <p:sp>
        <p:nvSpPr>
          <p:cNvPr id="8" name="Rectangle 7">
            <a:extLst>
              <a:ext uri="{FF2B5EF4-FFF2-40B4-BE49-F238E27FC236}">
                <a16:creationId xmlns:a16="http://schemas.microsoft.com/office/drawing/2014/main" id="{7DCC5644-DD54-45EC-ADC3-AA8ADE2AD2C1}"/>
              </a:ext>
            </a:extLst>
          </p:cNvPr>
          <p:cNvSpPr>
            <a:spLocks noGrp="1" noChangeArrowheads="1"/>
          </p:cNvSpPr>
          <p:nvPr/>
        </p:nvSpPr>
        <p:spPr bwMode="auto">
          <a:xfrm>
            <a:off x="3051738" y="3697243"/>
            <a:ext cx="6858000" cy="111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0" indent="0" algn="ctr" defTabSz="457200" rtl="0" eaLnBrk="0" fontAlgn="base" hangingPunct="0">
              <a:lnSpc>
                <a:spcPct val="93000"/>
              </a:lnSpc>
              <a:spcBef>
                <a:spcPct val="0"/>
              </a:spcBef>
              <a:spcAft>
                <a:spcPts val="1425"/>
              </a:spcAft>
              <a:buClr>
                <a:srgbClr val="000000"/>
              </a:buClr>
              <a:buSzPct val="45000"/>
              <a:buFont typeface="StarSymbol" charset="0"/>
              <a:buNone/>
              <a:defRPr sz="3200">
                <a:solidFill>
                  <a:srgbClr val="000000"/>
                </a:solidFill>
                <a:latin typeface="+mn-lt"/>
                <a:ea typeface="+mn-ea"/>
                <a:cs typeface="+mn-cs"/>
              </a:defRPr>
            </a:lvl1pPr>
            <a:lvl2pPr marL="457200" indent="0" algn="ctr" defTabSz="457200" rtl="0" eaLnBrk="0" fontAlgn="base" hangingPunct="0">
              <a:lnSpc>
                <a:spcPct val="93000"/>
              </a:lnSpc>
              <a:spcBef>
                <a:spcPct val="0"/>
              </a:spcBef>
              <a:spcAft>
                <a:spcPts val="1138"/>
              </a:spcAft>
              <a:buClr>
                <a:srgbClr val="000000"/>
              </a:buClr>
              <a:buSzPct val="75000"/>
              <a:buFont typeface="StarSymbol" charset="0"/>
              <a:buNone/>
              <a:defRPr sz="2800">
                <a:solidFill>
                  <a:srgbClr val="000000"/>
                </a:solidFill>
                <a:latin typeface="+mn-lt"/>
              </a:defRPr>
            </a:lvl2pPr>
            <a:lvl3pPr marL="914400" indent="0" algn="ctr" defTabSz="457200" rtl="0" eaLnBrk="0" fontAlgn="base" hangingPunct="0">
              <a:lnSpc>
                <a:spcPct val="93000"/>
              </a:lnSpc>
              <a:spcBef>
                <a:spcPct val="0"/>
              </a:spcBef>
              <a:spcAft>
                <a:spcPts val="850"/>
              </a:spcAft>
              <a:buClr>
                <a:srgbClr val="000000"/>
              </a:buClr>
              <a:buSzPct val="45000"/>
              <a:buFont typeface="StarSymbol" charset="0"/>
              <a:buNone/>
              <a:defRPr sz="2400">
                <a:solidFill>
                  <a:srgbClr val="000000"/>
                </a:solidFill>
                <a:latin typeface="+mn-lt"/>
              </a:defRPr>
            </a:lvl3pPr>
            <a:lvl4pPr marL="1371600" indent="0" algn="ctr" defTabSz="457200" rtl="0" eaLnBrk="0" fontAlgn="base" hangingPunct="0">
              <a:lnSpc>
                <a:spcPct val="93000"/>
              </a:lnSpc>
              <a:spcBef>
                <a:spcPct val="0"/>
              </a:spcBef>
              <a:spcAft>
                <a:spcPts val="575"/>
              </a:spcAft>
              <a:buClr>
                <a:srgbClr val="000000"/>
              </a:buClr>
              <a:buSzPct val="75000"/>
              <a:buFont typeface="StarSymbol" charset="0"/>
              <a:buNone/>
              <a:defRPr sz="2000">
                <a:solidFill>
                  <a:srgbClr val="000000"/>
                </a:solidFill>
                <a:latin typeface="+mn-lt"/>
              </a:defRPr>
            </a:lvl4pPr>
            <a:lvl5pPr marL="1828800" indent="0" algn="ctr" defTabSz="457200" rtl="0" eaLnBrk="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5pPr>
            <a:lvl6pPr marL="22860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6pPr>
            <a:lvl7pPr marL="27432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7pPr>
            <a:lvl8pPr marL="32004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8pPr>
            <a:lvl9pPr marL="3657600" indent="0" algn="ctr" defTabSz="457200" rtl="0" fontAlgn="base" hangingPunct="0">
              <a:lnSpc>
                <a:spcPct val="93000"/>
              </a:lnSpc>
              <a:spcBef>
                <a:spcPct val="0"/>
              </a:spcBef>
              <a:spcAft>
                <a:spcPts val="288"/>
              </a:spcAft>
              <a:buClr>
                <a:srgbClr val="000000"/>
              </a:buClr>
              <a:buSzPct val="45000"/>
              <a:buFont typeface="StarSymbol" charset="0"/>
              <a:buNone/>
              <a:defRPr sz="2000">
                <a:solidFill>
                  <a:srgbClr val="000000"/>
                </a:solidFill>
                <a:latin typeface="+mn-lt"/>
              </a:defRPr>
            </a:lvl9pPr>
          </a:lstStyle>
          <a:p>
            <a:pPr eaLnBrk="1">
              <a:lnSpc>
                <a:spcPct val="100000"/>
              </a:lnSpc>
              <a:spcAft>
                <a:spcPct val="0"/>
              </a:spcAft>
              <a:buSzPct val="100000"/>
              <a:defRPr/>
            </a:pPr>
            <a:r>
              <a:rPr lang="en-US" altLang="en-US" sz="2800" b="1" dirty="0">
                <a:solidFill>
                  <a:srgbClr val="2DA2BF"/>
                </a:solidFill>
                <a:effectLst>
                  <a:outerShdw blurRad="31750" dist="25400" dir="5400000" algn="tl" rotWithShape="0">
                    <a:srgbClr val="000000">
                      <a:alpha val="25000"/>
                    </a:srgbClr>
                  </a:outerShdw>
                </a:effectLst>
                <a:latin typeface="+mj-lt"/>
                <a:ea typeface="+mj-ea"/>
                <a:cs typeface="Calibri" pitchFamily="34" charset="0"/>
              </a:rPr>
              <a:t>Major Project Review1-05 -Dec</a:t>
            </a:r>
            <a:r>
              <a:rPr lang="en-US" altLang="en-US" sz="2800" b="1" kern="1200" dirty="0">
                <a:solidFill>
                  <a:srgbClr val="2DA2BF"/>
                </a:solidFill>
                <a:effectLst>
                  <a:outerShdw blurRad="31750" dist="25400" dir="5400000" algn="tl" rotWithShape="0">
                    <a:srgbClr val="000000">
                      <a:alpha val="25000"/>
                    </a:srgbClr>
                  </a:outerShdw>
                </a:effectLst>
                <a:latin typeface="+mj-lt"/>
                <a:ea typeface="+mj-ea"/>
                <a:cs typeface="Calibri" pitchFamily="34" charset="0"/>
              </a:rPr>
              <a:t>-</a:t>
            </a:r>
            <a:r>
              <a:rPr lang="en-US" altLang="en-US" sz="2800" b="1" dirty="0">
                <a:solidFill>
                  <a:srgbClr val="2DA2BF"/>
                </a:solidFill>
                <a:effectLst>
                  <a:outerShdw blurRad="31750" dist="25400" dir="5400000" algn="tl" rotWithShape="0">
                    <a:srgbClr val="000000">
                      <a:alpha val="25000"/>
                    </a:srgbClr>
                  </a:outerShdw>
                </a:effectLst>
                <a:latin typeface="+mj-lt"/>
                <a:ea typeface="+mj-ea"/>
                <a:cs typeface="Calibri" pitchFamily="34" charset="0"/>
              </a:rPr>
              <a:t>2024</a:t>
            </a:r>
            <a:endParaRPr lang="en-US" altLang="en-US" sz="2800" b="1" dirty="0"/>
          </a:p>
        </p:txBody>
      </p:sp>
      <p:sp>
        <p:nvSpPr>
          <p:cNvPr id="9" name="Rectangle 8">
            <a:extLst>
              <a:ext uri="{FF2B5EF4-FFF2-40B4-BE49-F238E27FC236}">
                <a16:creationId xmlns:a16="http://schemas.microsoft.com/office/drawing/2014/main" id="{ED00D75F-54A1-4A1C-9A6A-A1F8799C97A0}"/>
              </a:ext>
            </a:extLst>
          </p:cNvPr>
          <p:cNvSpPr>
            <a:spLocks noChangeArrowheads="1"/>
          </p:cNvSpPr>
          <p:nvPr/>
        </p:nvSpPr>
        <p:spPr bwMode="auto">
          <a:xfrm>
            <a:off x="1979248" y="4725136"/>
            <a:ext cx="86313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r>
              <a:rPr lang="en-IN" altLang="en-US" sz="2000" dirty="0"/>
              <a:t> Under the Supervision of</a:t>
            </a:r>
          </a:p>
          <a:p>
            <a:pPr algn="ctr"/>
            <a:r>
              <a:rPr lang="en-IN" altLang="en-US" sz="2000" b="1" dirty="0">
                <a:solidFill>
                  <a:srgbClr val="FF0000"/>
                </a:solidFill>
              </a:rPr>
              <a:t>Mr. P . Naresh Kumar</a:t>
            </a:r>
          </a:p>
          <a:p>
            <a:pPr algn="ctr"/>
            <a:r>
              <a:rPr lang="en-IN" altLang="en-US" sz="2000" dirty="0"/>
              <a:t>Assistant  Professor, CSE(AI&amp;ML)</a:t>
            </a:r>
          </a:p>
          <a:p>
            <a:pPr algn="ctr"/>
            <a:r>
              <a:rPr lang="en-IN" altLang="en-US" sz="2000" dirty="0"/>
              <a:t>Keshav Memorial Engineering </a:t>
            </a:r>
            <a:r>
              <a:rPr lang="en-IN" altLang="en-US" sz="2000" dirty="0" err="1"/>
              <a:t>College,Hyderabad</a:t>
            </a:r>
            <a:r>
              <a:rPr lang="en-IN" altLang="en-US" sz="2000" dirty="0"/>
              <a:t> </a:t>
            </a:r>
          </a:p>
        </p:txBody>
      </p:sp>
    </p:spTree>
    <p:extLst>
      <p:ext uri="{BB962C8B-B14F-4D97-AF65-F5344CB8AC3E}">
        <p14:creationId xmlns:p14="http://schemas.microsoft.com/office/powerpoint/2010/main" val="3085908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3264"/>
            <a:ext cx="10515600" cy="4882736"/>
          </a:xfrm>
        </p:spPr>
        <p:txBody>
          <a:bodyPr>
            <a:normAutofit fontScale="90000"/>
          </a:bodyPr>
          <a:lstStyle/>
          <a:p>
            <a:pPr algn="just"/>
            <a:r>
              <a:rPr lang="en-US" sz="2000" b="1" dirty="0">
                <a:latin typeface="Arial" panose="020B0604020202020204" pitchFamily="34" charset="0"/>
                <a:cs typeface="Arial" panose="020B0604020202020204" pitchFamily="34" charset="0"/>
              </a:rPr>
              <a:t>INTRODUCTION:</a:t>
            </a:r>
            <a:br>
              <a:rPr lang="en-US" sz="2000" b="1" dirty="0">
                <a:latin typeface="Arial" panose="020B0604020202020204" pitchFamily="34" charset="0"/>
                <a:cs typeface="Arial" panose="020B0604020202020204" pitchFamily="34" charset="0"/>
              </a:rPr>
            </a:b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Railway Safety: A Technological Revolution</a:t>
            </a:r>
            <a:br>
              <a:rPr lang="en-US" sz="2000" b="1"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Railway safety is critical due to risks from obstacles on tracks, structural cracks, and delays in maintenance. Traditional methods, like manual inspections, are inefficient and prone to errors, leading to unsafe conditions and disruptions. This project proposes an Intelligent Railway Safety System that uses advanced technologies such as ultrasonic sensors, Lidar, IoT, and 3D image processing to address these challenges.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system will detect obstacles and cracks in real-time, analyze their dimensions, and decide whether a train can proceed or stop. IoT modules will transmit this data to a centralized control system, enabling automated alerts to train drivers, workshops, and railway authorities. Passengers will be notified via railway portals about delays or disruptions. By integrating real-time monitoring, data-driven decision-making, and predictive maintenance, this system aims to enhance safety, minimize accidents, reduce downtime, and improve operational efficiency.</a:t>
            </a:r>
            <a:br>
              <a:rPr lang="en-US" sz="11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p:cNvSpPr>
            <a:spLocks noGrp="1"/>
          </p:cNvSpPr>
          <p:nvPr>
            <p:ph type="sldNum" sz="quarter" idx="12"/>
          </p:nvPr>
        </p:nvSpPr>
        <p:spPr/>
        <p:txBody>
          <a:bodyPr/>
          <a:lstStyle/>
          <a:p>
            <a:r>
              <a:rPr lang="en-IN"/>
              <a:t>2</a:t>
            </a:r>
            <a:endParaRPr lang="en-IN" dirty="0"/>
          </a:p>
        </p:txBody>
      </p:sp>
    </p:spTree>
    <p:extLst>
      <p:ext uri="{BB962C8B-B14F-4D97-AF65-F5344CB8AC3E}">
        <p14:creationId xmlns:p14="http://schemas.microsoft.com/office/powerpoint/2010/main" val="1613989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A76548C-D384-8A16-916C-5B9EA2C4A408}"/>
              </a:ext>
            </a:extLst>
          </p:cNvPr>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a:extLst>
              <a:ext uri="{FF2B5EF4-FFF2-40B4-BE49-F238E27FC236}">
                <a16:creationId xmlns:a16="http://schemas.microsoft.com/office/drawing/2014/main" id="{80D68659-79B6-D857-9C4C-2C5BAB05B88A}"/>
              </a:ext>
            </a:extLst>
          </p:cNvPr>
          <p:cNvSpPr>
            <a:spLocks noGrp="1"/>
          </p:cNvSpPr>
          <p:nvPr>
            <p:ph type="sldNum" sz="quarter" idx="12"/>
          </p:nvPr>
        </p:nvSpPr>
        <p:spPr/>
        <p:txBody>
          <a:bodyPr/>
          <a:lstStyle/>
          <a:p>
            <a:r>
              <a:rPr lang="en-IN"/>
              <a:t>3</a:t>
            </a:r>
            <a:endParaRPr lang="en-IN" dirty="0"/>
          </a:p>
        </p:txBody>
      </p:sp>
      <p:sp>
        <p:nvSpPr>
          <p:cNvPr id="5" name="Rectangle 1">
            <a:extLst>
              <a:ext uri="{FF2B5EF4-FFF2-40B4-BE49-F238E27FC236}">
                <a16:creationId xmlns:a16="http://schemas.microsoft.com/office/drawing/2014/main" id="{2CBBA7DC-9B83-1D09-E3D4-10BD8B797B9D}"/>
              </a:ext>
            </a:extLst>
          </p:cNvPr>
          <p:cNvSpPr>
            <a:spLocks noGrp="1" noChangeArrowheads="1"/>
          </p:cNvSpPr>
          <p:nvPr>
            <p:ph type="title"/>
          </p:nvPr>
        </p:nvSpPr>
        <p:spPr bwMode="auto">
          <a:xfrm>
            <a:off x="581890" y="1551939"/>
            <a:ext cx="10778837" cy="42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Ultrasonic Sensors</a:t>
            </a:r>
            <a:r>
              <a:rPr kumimoji="0" lang="en-US" altLang="en-US" sz="1800" b="0" i="0" u="none" strike="noStrike" cap="none" normalizeH="0" baseline="0" dirty="0">
                <a:ln>
                  <a:noFill/>
                </a:ln>
                <a:solidFill>
                  <a:schemeClr val="tx1"/>
                </a:solidFill>
                <a:effectLst/>
                <a:latin typeface="Arial" panose="020B0604020202020204" pitchFamily="34" charset="0"/>
              </a:rPr>
              <a:t>: Detect cracks and structural anomalies on tracks using sound wave reflections.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Lidar (Light Detection and Ranging)</a:t>
            </a:r>
            <a:r>
              <a:rPr kumimoji="0" lang="en-US" altLang="en-US" sz="1800" b="0" i="0" u="none" strike="noStrike" cap="none" normalizeH="0" baseline="0" dirty="0">
                <a:ln>
                  <a:noFill/>
                </a:ln>
                <a:solidFill>
                  <a:schemeClr val="tx1"/>
                </a:solidFill>
                <a:effectLst/>
                <a:latin typeface="Arial" panose="020B0604020202020204" pitchFamily="34" charset="0"/>
              </a:rPr>
              <a:t>: Creates 3D maps and measures obstacle dimensions for precise analysis.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Cameras</a:t>
            </a:r>
            <a:r>
              <a:rPr kumimoji="0" lang="en-US" altLang="en-US" sz="1800" b="0" i="0" u="none" strike="noStrike" cap="none" normalizeH="0" baseline="0" dirty="0">
                <a:ln>
                  <a:noFill/>
                </a:ln>
                <a:solidFill>
                  <a:schemeClr val="tx1"/>
                </a:solidFill>
                <a:effectLst/>
                <a:latin typeface="Arial" panose="020B0604020202020204" pitchFamily="34" charset="0"/>
              </a:rPr>
              <a:t>: Capture real-time visual data for obstacle detection and crack analysis.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Internet of Things (IoT)</a:t>
            </a:r>
            <a:r>
              <a:rPr kumimoji="0" lang="en-US" altLang="en-US" sz="1800" b="0" i="0" u="none" strike="noStrike" cap="none" normalizeH="0" baseline="0" dirty="0">
                <a:ln>
                  <a:noFill/>
                </a:ln>
                <a:solidFill>
                  <a:schemeClr val="tx1"/>
                </a:solidFill>
                <a:effectLst/>
                <a:latin typeface="Arial" panose="020B0604020202020204" pitchFamily="34" charset="0"/>
              </a:rPr>
              <a:t>: Enables real-time data collection and communication between sensors, trains, and control systems.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Artificial Intelligence (AI)</a:t>
            </a:r>
            <a:r>
              <a:rPr kumimoji="0" lang="en-US" altLang="en-US" sz="1800" b="0" i="0" u="none" strike="noStrike" cap="none" normalizeH="0" baseline="0" dirty="0">
                <a:ln>
                  <a:noFill/>
                </a:ln>
                <a:solidFill>
                  <a:schemeClr val="tx1"/>
                </a:solidFill>
                <a:effectLst/>
                <a:latin typeface="Arial" panose="020B0604020202020204" pitchFamily="34" charset="0"/>
              </a:rPr>
              <a:t>: Analyzes sensor data for pattern recognition and decision-making.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Machine Learning (ML)</a:t>
            </a:r>
            <a:r>
              <a:rPr kumimoji="0" lang="en-US" altLang="en-US" sz="1800" b="0" i="0" u="none" strike="noStrike" cap="none" normalizeH="0" baseline="0" dirty="0">
                <a:ln>
                  <a:noFill/>
                </a:ln>
                <a:solidFill>
                  <a:schemeClr val="tx1"/>
                </a:solidFill>
                <a:effectLst/>
                <a:latin typeface="Arial" panose="020B0604020202020204" pitchFamily="34" charset="0"/>
              </a:rPr>
              <a:t>: Classifies obstacles and predicts track failures for proactive maintenance.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GPS (Global Positioning System)</a:t>
            </a:r>
            <a:r>
              <a:rPr kumimoji="0" lang="en-US" altLang="en-US" sz="1800" b="0" i="0" u="none" strike="noStrike" cap="none" normalizeH="0" baseline="0" dirty="0">
                <a:ln>
                  <a:noFill/>
                </a:ln>
                <a:solidFill>
                  <a:schemeClr val="tx1"/>
                </a:solidFill>
                <a:effectLst/>
                <a:latin typeface="Arial" panose="020B0604020202020204" pitchFamily="34" charset="0"/>
              </a:rPr>
              <a:t>: Provides accurate location data for detected cracks and obstacles.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GSM/Wi-Fi/5G Communication</a:t>
            </a:r>
            <a:r>
              <a:rPr kumimoji="0" lang="en-US" altLang="en-US" sz="1800" b="0" i="0" u="none" strike="noStrike" cap="none" normalizeH="0" baseline="0" dirty="0">
                <a:ln>
                  <a:noFill/>
                </a:ln>
                <a:solidFill>
                  <a:schemeClr val="tx1"/>
                </a:solidFill>
                <a:effectLst/>
                <a:latin typeface="Arial" panose="020B0604020202020204" pitchFamily="34" charset="0"/>
              </a:rPr>
              <a:t>: Transmits alerts and updates to railway personnel, drivers, and passengers.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3D Image Processing</a:t>
            </a:r>
            <a:r>
              <a:rPr kumimoji="0" lang="en-US" altLang="en-US" sz="1800" b="0" i="0" u="none" strike="noStrike" cap="none" normalizeH="0" baseline="0" dirty="0">
                <a:ln>
                  <a:noFill/>
                </a:ln>
                <a:solidFill>
                  <a:schemeClr val="tx1"/>
                </a:solidFill>
                <a:effectLst/>
                <a:latin typeface="Arial" panose="020B0604020202020204" pitchFamily="34" charset="0"/>
              </a:rPr>
              <a:t>: Analyzes dimensions of obstacles to decide if trains can proceed or need to stop.</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Centralized Control Systems</a:t>
            </a:r>
            <a:r>
              <a:rPr kumimoji="0" lang="en-US" altLang="en-US" sz="1800" b="0" i="0" u="none" strike="noStrike" cap="none" normalizeH="0" baseline="0" dirty="0">
                <a:ln>
                  <a:noFill/>
                </a:ln>
                <a:solidFill>
                  <a:schemeClr val="tx1"/>
                </a:solidFill>
                <a:effectLst/>
                <a:latin typeface="Arial" panose="020B0604020202020204" pitchFamily="34" charset="0"/>
              </a:rPr>
              <a:t>: Process and manage sensor data to automate decisions and send alerts. </a:t>
            </a:r>
          </a:p>
        </p:txBody>
      </p:sp>
      <p:sp>
        <p:nvSpPr>
          <p:cNvPr id="7" name="TextBox 6">
            <a:extLst>
              <a:ext uri="{FF2B5EF4-FFF2-40B4-BE49-F238E27FC236}">
                <a16:creationId xmlns:a16="http://schemas.microsoft.com/office/drawing/2014/main" id="{A89DB8F6-A509-756E-36BE-4225BD4138EC}"/>
              </a:ext>
            </a:extLst>
          </p:cNvPr>
          <p:cNvSpPr txBox="1"/>
          <p:nvPr/>
        </p:nvSpPr>
        <p:spPr>
          <a:xfrm>
            <a:off x="676563" y="1028719"/>
            <a:ext cx="6100618"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Key Technologies:</a:t>
            </a:r>
            <a:endParaRPr lang="en-US" sz="2800" dirty="0"/>
          </a:p>
        </p:txBody>
      </p:sp>
    </p:spTree>
    <p:extLst>
      <p:ext uri="{BB962C8B-B14F-4D97-AF65-F5344CB8AC3E}">
        <p14:creationId xmlns:p14="http://schemas.microsoft.com/office/powerpoint/2010/main" val="2037796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8A1D5FA-7978-6138-B8D9-A808812845BB}"/>
              </a:ext>
            </a:extLst>
          </p:cNvPr>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a:extLst>
              <a:ext uri="{FF2B5EF4-FFF2-40B4-BE49-F238E27FC236}">
                <a16:creationId xmlns:a16="http://schemas.microsoft.com/office/drawing/2014/main" id="{CAB0284D-0EF9-2831-C415-C01FCF5D9A69}"/>
              </a:ext>
            </a:extLst>
          </p:cNvPr>
          <p:cNvSpPr>
            <a:spLocks noGrp="1"/>
          </p:cNvSpPr>
          <p:nvPr>
            <p:ph type="sldNum" sz="quarter" idx="12"/>
          </p:nvPr>
        </p:nvSpPr>
        <p:spPr/>
        <p:txBody>
          <a:bodyPr/>
          <a:lstStyle/>
          <a:p>
            <a:r>
              <a:rPr lang="en-IN"/>
              <a:t>3</a:t>
            </a:r>
            <a:endParaRPr lang="en-IN" dirty="0"/>
          </a:p>
        </p:txBody>
      </p:sp>
      <p:sp>
        <p:nvSpPr>
          <p:cNvPr id="7" name="Rectangle 1">
            <a:extLst>
              <a:ext uri="{FF2B5EF4-FFF2-40B4-BE49-F238E27FC236}">
                <a16:creationId xmlns:a16="http://schemas.microsoft.com/office/drawing/2014/main" id="{2F067B01-F873-AC1F-B9C4-A98D4BDD1542}"/>
              </a:ext>
            </a:extLst>
          </p:cNvPr>
          <p:cNvSpPr>
            <a:spLocks noChangeArrowheads="1"/>
          </p:cNvSpPr>
          <p:nvPr/>
        </p:nvSpPr>
        <p:spPr bwMode="auto">
          <a:xfrm>
            <a:off x="674256" y="2295295"/>
            <a:ext cx="1033549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Integration of AI and Machine Learning</a:t>
            </a:r>
            <a:r>
              <a:rPr kumimoji="0" lang="en-US" altLang="en-US" b="0" i="0" u="none" strike="noStrike" cap="none" normalizeH="0" baseline="0" dirty="0">
                <a:ln>
                  <a:noFill/>
                </a:ln>
                <a:solidFill>
                  <a:schemeClr val="tx1"/>
                </a:solidFill>
                <a:effectLst/>
                <a:latin typeface="Arial" panose="020B0604020202020204" pitchFamily="34" charset="0"/>
              </a:rPr>
              <a:t>: Enhance crack detection and obstacle classification using advanced AI models for greater accuracy and predictive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Hybrid Sensor Systems</a:t>
            </a:r>
            <a:r>
              <a:rPr kumimoji="0" lang="en-US" altLang="en-US" b="0" i="0" u="none" strike="noStrike" cap="none" normalizeH="0" baseline="0" dirty="0">
                <a:ln>
                  <a:noFill/>
                </a:ln>
                <a:solidFill>
                  <a:schemeClr val="tx1"/>
                </a:solidFill>
                <a:effectLst/>
                <a:latin typeface="Arial" panose="020B0604020202020204" pitchFamily="34" charset="0"/>
              </a:rPr>
              <a:t>: Combine Lidar, ultrasonic, and camera-based technologies to improve detection reliability across diverse environments.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Edge Computing</a:t>
            </a:r>
            <a:r>
              <a:rPr kumimoji="0" lang="en-US" altLang="en-US" b="0" i="0" u="none" strike="noStrike" cap="none" normalizeH="0" baseline="0" dirty="0">
                <a:ln>
                  <a:noFill/>
                </a:ln>
                <a:solidFill>
                  <a:schemeClr val="tx1"/>
                </a:solidFill>
                <a:effectLst/>
                <a:latin typeface="Arial" panose="020B0604020202020204" pitchFamily="34" charset="0"/>
              </a:rPr>
              <a:t>: Process data locally for faster decision-making and reduced latency in real-time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Weather-Resilient Systems</a:t>
            </a:r>
            <a:r>
              <a:rPr kumimoji="0" lang="en-US" altLang="en-US" b="0" i="0" u="none" strike="noStrike" cap="none" normalizeH="0" baseline="0" dirty="0">
                <a:ln>
                  <a:noFill/>
                </a:ln>
                <a:solidFill>
                  <a:schemeClr val="tx1"/>
                </a:solidFill>
                <a:effectLst/>
                <a:latin typeface="Arial" panose="020B0604020202020204" pitchFamily="34" charset="0"/>
              </a:rPr>
              <a:t>: Develop sensors capable of performing consistently in extreme weather conditions like rain, fog, and snow.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Scalable and Energy-Efficient Solutions</a:t>
            </a:r>
            <a:r>
              <a:rPr kumimoji="0" lang="en-US" altLang="en-US" b="0" i="0" u="none" strike="noStrike" cap="none" normalizeH="0" baseline="0" dirty="0">
                <a:ln>
                  <a:noFill/>
                </a:ln>
                <a:solidFill>
                  <a:schemeClr val="tx1"/>
                </a:solidFill>
                <a:effectLst/>
                <a:latin typeface="Arial" panose="020B0604020202020204" pitchFamily="34" charset="0"/>
              </a:rPr>
              <a:t>: Use solar-powered sensors and scalable architectures to ensure sustainability and widespread deployment across large railway networks. </a:t>
            </a:r>
          </a:p>
        </p:txBody>
      </p:sp>
      <p:sp>
        <p:nvSpPr>
          <p:cNvPr id="9" name="TextBox 8">
            <a:extLst>
              <a:ext uri="{FF2B5EF4-FFF2-40B4-BE49-F238E27FC236}">
                <a16:creationId xmlns:a16="http://schemas.microsoft.com/office/drawing/2014/main" id="{A1FDE8E5-7A43-BFF5-6E43-3836036D89D5}"/>
              </a:ext>
            </a:extLst>
          </p:cNvPr>
          <p:cNvSpPr txBox="1"/>
          <p:nvPr/>
        </p:nvSpPr>
        <p:spPr>
          <a:xfrm>
            <a:off x="838200" y="1700383"/>
            <a:ext cx="6100618" cy="523220"/>
          </a:xfrm>
          <a:prstGeom prst="rect">
            <a:avLst/>
          </a:prstGeom>
          <a:noFill/>
        </p:spPr>
        <p:txBody>
          <a:bodyPr wrap="square">
            <a:spAutoFit/>
          </a:bodyPr>
          <a:lstStyle/>
          <a:p>
            <a:r>
              <a:rPr lang="en-US" sz="2800" b="1" dirty="0"/>
              <a:t>Future Directions:</a:t>
            </a:r>
          </a:p>
        </p:txBody>
      </p:sp>
    </p:spTree>
    <p:extLst>
      <p:ext uri="{BB962C8B-B14F-4D97-AF65-F5344CB8AC3E}">
        <p14:creationId xmlns:p14="http://schemas.microsoft.com/office/powerpoint/2010/main" val="3810966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1074"/>
            <a:ext cx="10515600" cy="4876800"/>
          </a:xfrm>
        </p:spPr>
        <p:txBody>
          <a:bodyPr>
            <a:noAutofit/>
          </a:bodyPr>
          <a:lstStyle/>
          <a:p>
            <a:pPr marL="0" indent="0"/>
            <a:br>
              <a:rPr lang="en-US" sz="2000" b="0" i="0" dirty="0">
                <a:effectLst/>
              </a:rPr>
            </a:br>
            <a:br>
              <a:rPr lang="en-US" sz="2000" b="0" i="0" dirty="0">
                <a:effectLst/>
              </a:rPr>
            </a:br>
            <a:br>
              <a:rPr lang="en-US" sz="2000" b="0" i="0" dirty="0">
                <a:effectLst/>
                <a:latin typeface="+mn-lt"/>
              </a:rPr>
            </a:br>
            <a:br>
              <a:rPr lang="en-IN" sz="2000" dirty="0"/>
            </a:br>
            <a:endParaRPr lang="en-IN" sz="2000" dirty="0"/>
          </a:p>
        </p:txBody>
      </p:sp>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p:cNvSpPr>
            <a:spLocks noGrp="1"/>
          </p:cNvSpPr>
          <p:nvPr>
            <p:ph type="sldNum" sz="quarter" idx="12"/>
          </p:nvPr>
        </p:nvSpPr>
        <p:spPr/>
        <p:txBody>
          <a:bodyPr/>
          <a:lstStyle/>
          <a:p>
            <a:r>
              <a:rPr lang="en-IN" dirty="0"/>
              <a:t>2</a:t>
            </a:r>
          </a:p>
        </p:txBody>
      </p:sp>
      <p:graphicFrame>
        <p:nvGraphicFramePr>
          <p:cNvPr id="6" name="Table 5">
            <a:extLst>
              <a:ext uri="{FF2B5EF4-FFF2-40B4-BE49-F238E27FC236}">
                <a16:creationId xmlns:a16="http://schemas.microsoft.com/office/drawing/2014/main" id="{ADFBF201-9E39-102F-842E-2AE825978BE5}"/>
              </a:ext>
            </a:extLst>
          </p:cNvPr>
          <p:cNvGraphicFramePr>
            <a:graphicFrameLocks noGrp="1"/>
          </p:cNvGraphicFramePr>
          <p:nvPr>
            <p:extLst>
              <p:ext uri="{D42A27DB-BD31-4B8C-83A1-F6EECF244321}">
                <p14:modId xmlns:p14="http://schemas.microsoft.com/office/powerpoint/2010/main" val="3825776898"/>
              </p:ext>
            </p:extLst>
          </p:nvPr>
        </p:nvGraphicFramePr>
        <p:xfrm>
          <a:off x="838200" y="1697824"/>
          <a:ext cx="10515600" cy="297180"/>
        </p:xfrm>
        <a:graphic>
          <a:graphicData uri="http://schemas.openxmlformats.org/drawingml/2006/table">
            <a:tbl>
              <a:tblPr/>
              <a:tblGrid>
                <a:gridCol w="3505200">
                  <a:extLst>
                    <a:ext uri="{9D8B030D-6E8A-4147-A177-3AD203B41FA5}">
                      <a16:colId xmlns:a16="http://schemas.microsoft.com/office/drawing/2014/main" val="1314849249"/>
                    </a:ext>
                  </a:extLst>
                </a:gridCol>
                <a:gridCol w="3505200">
                  <a:extLst>
                    <a:ext uri="{9D8B030D-6E8A-4147-A177-3AD203B41FA5}">
                      <a16:colId xmlns:a16="http://schemas.microsoft.com/office/drawing/2014/main" val="4212994093"/>
                    </a:ext>
                  </a:extLst>
                </a:gridCol>
                <a:gridCol w="3505200">
                  <a:extLst>
                    <a:ext uri="{9D8B030D-6E8A-4147-A177-3AD203B41FA5}">
                      <a16:colId xmlns:a16="http://schemas.microsoft.com/office/drawing/2014/main" val="3687339369"/>
                    </a:ext>
                  </a:extLst>
                </a:gridCol>
              </a:tblGrid>
              <a:tr h="0">
                <a:tc>
                  <a:txBody>
                    <a:bodyPr/>
                    <a:lstStyle/>
                    <a:p>
                      <a:r>
                        <a:rPr lang="en-US" b="1"/>
                        <a:t>Research Paper</a:t>
                      </a:r>
                      <a:endParaRPr lang="en-US"/>
                    </a:p>
                  </a:txBody>
                  <a:tcPr anchor="ctr">
                    <a:lnL>
                      <a:noFill/>
                    </a:lnL>
                    <a:lnR>
                      <a:noFill/>
                    </a:lnR>
                    <a:lnT>
                      <a:noFill/>
                    </a:lnT>
                    <a:lnB>
                      <a:noFill/>
                    </a:lnB>
                    <a:noFill/>
                  </a:tcPr>
                </a:tc>
                <a:tc>
                  <a:txBody>
                    <a:bodyPr/>
                    <a:lstStyle/>
                    <a:p>
                      <a:r>
                        <a:rPr lang="en-US" b="1" dirty="0"/>
                        <a:t>Limitation</a:t>
                      </a:r>
                      <a:endParaRPr lang="en-US" dirty="0"/>
                    </a:p>
                  </a:txBody>
                  <a:tcPr anchor="ctr">
                    <a:lnL>
                      <a:noFill/>
                    </a:lnL>
                    <a:lnR>
                      <a:noFill/>
                    </a:lnR>
                    <a:lnT>
                      <a:noFill/>
                    </a:lnT>
                    <a:lnB>
                      <a:noFill/>
                    </a:lnB>
                    <a:noFill/>
                  </a:tcPr>
                </a:tc>
                <a:tc>
                  <a:txBody>
                    <a:bodyPr/>
                    <a:lstStyle/>
                    <a:p>
                      <a:r>
                        <a:rPr lang="en-US" b="1" dirty="0"/>
                        <a:t>Overcome</a:t>
                      </a:r>
                      <a:endParaRPr lang="en-US" dirty="0"/>
                    </a:p>
                  </a:txBody>
                  <a:tcPr anchor="ctr">
                    <a:lnL>
                      <a:noFill/>
                    </a:lnL>
                    <a:lnR>
                      <a:noFill/>
                    </a:lnR>
                    <a:lnT>
                      <a:noFill/>
                    </a:lnT>
                    <a:lnB>
                      <a:noFill/>
                    </a:lnB>
                    <a:noFill/>
                  </a:tcPr>
                </a:tc>
                <a:extLst>
                  <a:ext uri="{0D108BD9-81ED-4DB2-BD59-A6C34878D82A}">
                    <a16:rowId xmlns:a16="http://schemas.microsoft.com/office/drawing/2014/main" val="565164045"/>
                  </a:ext>
                </a:extLst>
              </a:tr>
            </a:tbl>
          </a:graphicData>
        </a:graphic>
      </p:graphicFrame>
      <p:graphicFrame>
        <p:nvGraphicFramePr>
          <p:cNvPr id="7" name="Table 6">
            <a:extLst>
              <a:ext uri="{FF2B5EF4-FFF2-40B4-BE49-F238E27FC236}">
                <a16:creationId xmlns:a16="http://schemas.microsoft.com/office/drawing/2014/main" id="{B4D31198-F479-2098-4AD9-7113A21498C6}"/>
              </a:ext>
            </a:extLst>
          </p:cNvPr>
          <p:cNvGraphicFramePr>
            <a:graphicFrameLocks noGrp="1"/>
          </p:cNvGraphicFramePr>
          <p:nvPr>
            <p:extLst>
              <p:ext uri="{D42A27DB-BD31-4B8C-83A1-F6EECF244321}">
                <p14:modId xmlns:p14="http://schemas.microsoft.com/office/powerpoint/2010/main" val="2609904744"/>
              </p:ext>
            </p:extLst>
          </p:nvPr>
        </p:nvGraphicFramePr>
        <p:xfrm>
          <a:off x="765048" y="3558349"/>
          <a:ext cx="10515600" cy="708660"/>
        </p:xfrm>
        <a:graphic>
          <a:graphicData uri="http://schemas.openxmlformats.org/drawingml/2006/table">
            <a:tbl>
              <a:tblPr/>
              <a:tblGrid>
                <a:gridCol w="3505200">
                  <a:extLst>
                    <a:ext uri="{9D8B030D-6E8A-4147-A177-3AD203B41FA5}">
                      <a16:colId xmlns:a16="http://schemas.microsoft.com/office/drawing/2014/main" val="4000709856"/>
                    </a:ext>
                  </a:extLst>
                </a:gridCol>
                <a:gridCol w="3505200">
                  <a:extLst>
                    <a:ext uri="{9D8B030D-6E8A-4147-A177-3AD203B41FA5}">
                      <a16:colId xmlns:a16="http://schemas.microsoft.com/office/drawing/2014/main" val="1454543278"/>
                    </a:ext>
                  </a:extLst>
                </a:gridCol>
                <a:gridCol w="3505200">
                  <a:extLst>
                    <a:ext uri="{9D8B030D-6E8A-4147-A177-3AD203B41FA5}">
                      <a16:colId xmlns:a16="http://schemas.microsoft.com/office/drawing/2014/main" val="427659617"/>
                    </a:ext>
                  </a:extLst>
                </a:gridCol>
              </a:tblGrid>
              <a:tr h="0">
                <a:tc>
                  <a:txBody>
                    <a:bodyPr/>
                    <a:lstStyle/>
                    <a:p>
                      <a:r>
                        <a:rPr lang="en-US" b="1" dirty="0"/>
                        <a:t>"Intelligent Railway Track Crack and Obstacle Detection Using IoT"</a:t>
                      </a:r>
                      <a:r>
                        <a:rPr lang="en-US" dirty="0"/>
                        <a:t> (IRJMETS, May 2023)</a:t>
                      </a:r>
                    </a:p>
                  </a:txBody>
                  <a:tcPr anchor="ctr">
                    <a:lnL>
                      <a:noFill/>
                    </a:lnL>
                    <a:lnR>
                      <a:noFill/>
                    </a:lnR>
                    <a:lnT>
                      <a:noFill/>
                    </a:lnT>
                    <a:lnB>
                      <a:noFill/>
                    </a:lnB>
                    <a:noFill/>
                  </a:tcPr>
                </a:tc>
                <a:tc>
                  <a:txBody>
                    <a:bodyPr/>
                    <a:lstStyle/>
                    <a:p>
                      <a:r>
                        <a:rPr lang="en-US"/>
                        <a:t>Limited sensor integration with centralized control.</a:t>
                      </a:r>
                    </a:p>
                  </a:txBody>
                  <a:tcPr anchor="ctr">
                    <a:lnL>
                      <a:noFill/>
                    </a:lnL>
                    <a:lnR>
                      <a:noFill/>
                    </a:lnR>
                    <a:lnT>
                      <a:noFill/>
                    </a:lnT>
                    <a:lnB>
                      <a:noFill/>
                    </a:lnB>
                    <a:noFill/>
                  </a:tcPr>
                </a:tc>
                <a:tc>
                  <a:txBody>
                    <a:bodyPr/>
                    <a:lstStyle/>
                    <a:p>
                      <a:r>
                        <a:rPr lang="en-US" dirty="0"/>
                        <a:t>Demonstrated the use of ESP32 and ultrasonic sensors for real-time crack and obstacle detection with Telegram-based notifications.</a:t>
                      </a:r>
                    </a:p>
                  </a:txBody>
                  <a:tcPr anchor="ctr">
                    <a:lnL>
                      <a:noFill/>
                    </a:lnL>
                    <a:lnR>
                      <a:noFill/>
                    </a:lnR>
                    <a:lnT>
                      <a:noFill/>
                    </a:lnT>
                    <a:lnB>
                      <a:noFill/>
                    </a:lnB>
                    <a:noFill/>
                  </a:tcPr>
                </a:tc>
                <a:extLst>
                  <a:ext uri="{0D108BD9-81ED-4DB2-BD59-A6C34878D82A}">
                    <a16:rowId xmlns:a16="http://schemas.microsoft.com/office/drawing/2014/main" val="3878065009"/>
                  </a:ext>
                </a:extLst>
              </a:tr>
            </a:tbl>
          </a:graphicData>
        </a:graphic>
      </p:graphicFrame>
      <p:graphicFrame>
        <p:nvGraphicFramePr>
          <p:cNvPr id="10" name="Table 9">
            <a:extLst>
              <a:ext uri="{FF2B5EF4-FFF2-40B4-BE49-F238E27FC236}">
                <a16:creationId xmlns:a16="http://schemas.microsoft.com/office/drawing/2014/main" id="{468ED0CF-5E63-F2B2-5EB1-FD67170CEABE}"/>
              </a:ext>
            </a:extLst>
          </p:cNvPr>
          <p:cNvGraphicFramePr>
            <a:graphicFrameLocks noGrp="1"/>
          </p:cNvGraphicFramePr>
          <p:nvPr>
            <p:extLst>
              <p:ext uri="{D42A27DB-BD31-4B8C-83A1-F6EECF244321}">
                <p14:modId xmlns:p14="http://schemas.microsoft.com/office/powerpoint/2010/main" val="1790544377"/>
              </p:ext>
            </p:extLst>
          </p:nvPr>
        </p:nvGraphicFramePr>
        <p:xfrm>
          <a:off x="765048" y="2043679"/>
          <a:ext cx="10515600" cy="708660"/>
        </p:xfrm>
        <a:graphic>
          <a:graphicData uri="http://schemas.openxmlformats.org/drawingml/2006/table">
            <a:tbl>
              <a:tblPr/>
              <a:tblGrid>
                <a:gridCol w="3505200">
                  <a:extLst>
                    <a:ext uri="{9D8B030D-6E8A-4147-A177-3AD203B41FA5}">
                      <a16:colId xmlns:a16="http://schemas.microsoft.com/office/drawing/2014/main" val="1907571763"/>
                    </a:ext>
                  </a:extLst>
                </a:gridCol>
                <a:gridCol w="3505200">
                  <a:extLst>
                    <a:ext uri="{9D8B030D-6E8A-4147-A177-3AD203B41FA5}">
                      <a16:colId xmlns:a16="http://schemas.microsoft.com/office/drawing/2014/main" val="2988501035"/>
                    </a:ext>
                  </a:extLst>
                </a:gridCol>
                <a:gridCol w="3505200">
                  <a:extLst>
                    <a:ext uri="{9D8B030D-6E8A-4147-A177-3AD203B41FA5}">
                      <a16:colId xmlns:a16="http://schemas.microsoft.com/office/drawing/2014/main" val="947204930"/>
                    </a:ext>
                  </a:extLst>
                </a:gridCol>
              </a:tblGrid>
              <a:tr h="0">
                <a:tc>
                  <a:txBody>
                    <a:bodyPr/>
                    <a:lstStyle/>
                    <a:p>
                      <a:r>
                        <a:rPr lang="en-US" b="1" dirty="0"/>
                        <a:t>"Railway Track Crack Detection"</a:t>
                      </a:r>
                      <a:r>
                        <a:rPr lang="en-US" dirty="0"/>
                        <a:t> (IJCRT, May 2023)</a:t>
                      </a:r>
                    </a:p>
                  </a:txBody>
                  <a:tcPr anchor="ctr">
                    <a:lnL>
                      <a:noFill/>
                    </a:lnL>
                    <a:lnR>
                      <a:noFill/>
                    </a:lnR>
                    <a:lnT>
                      <a:noFill/>
                    </a:lnT>
                    <a:lnB>
                      <a:noFill/>
                    </a:lnB>
                    <a:noFill/>
                  </a:tcPr>
                </a:tc>
                <a:tc>
                  <a:txBody>
                    <a:bodyPr/>
                    <a:lstStyle/>
                    <a:p>
                      <a:r>
                        <a:rPr lang="en-US" dirty="0"/>
                        <a:t>Limited real-time communication and data processing.</a:t>
                      </a:r>
                    </a:p>
                  </a:txBody>
                  <a:tcPr anchor="ctr">
                    <a:lnL>
                      <a:noFill/>
                    </a:lnL>
                    <a:lnR>
                      <a:noFill/>
                    </a:lnR>
                    <a:lnT>
                      <a:noFill/>
                    </a:lnT>
                    <a:lnB>
                      <a:noFill/>
                    </a:lnB>
                    <a:noFill/>
                  </a:tcPr>
                </a:tc>
                <a:tc>
                  <a:txBody>
                    <a:bodyPr/>
                    <a:lstStyle/>
                    <a:p>
                      <a:r>
                        <a:rPr lang="en-US" dirty="0"/>
                        <a:t>Integrated IR and ultrasonic sensors with ESP32 modules to enable real-time crack detection and alert systems.</a:t>
                      </a:r>
                    </a:p>
                  </a:txBody>
                  <a:tcPr anchor="ctr">
                    <a:lnL>
                      <a:noFill/>
                    </a:lnL>
                    <a:lnR>
                      <a:noFill/>
                    </a:lnR>
                    <a:lnT>
                      <a:noFill/>
                    </a:lnT>
                    <a:lnB>
                      <a:noFill/>
                    </a:lnB>
                    <a:noFill/>
                  </a:tcPr>
                </a:tc>
                <a:extLst>
                  <a:ext uri="{0D108BD9-81ED-4DB2-BD59-A6C34878D82A}">
                    <a16:rowId xmlns:a16="http://schemas.microsoft.com/office/drawing/2014/main" val="2031109882"/>
                  </a:ext>
                </a:extLst>
              </a:tr>
            </a:tbl>
          </a:graphicData>
        </a:graphic>
      </p:graphicFrame>
      <p:graphicFrame>
        <p:nvGraphicFramePr>
          <p:cNvPr id="11" name="Table 10">
            <a:extLst>
              <a:ext uri="{FF2B5EF4-FFF2-40B4-BE49-F238E27FC236}">
                <a16:creationId xmlns:a16="http://schemas.microsoft.com/office/drawing/2014/main" id="{1B29AB29-BB6D-012F-CB4B-01C9CB89775C}"/>
              </a:ext>
            </a:extLst>
          </p:cNvPr>
          <p:cNvGraphicFramePr>
            <a:graphicFrameLocks noGrp="1"/>
          </p:cNvGraphicFramePr>
          <p:nvPr>
            <p:extLst>
              <p:ext uri="{D42A27DB-BD31-4B8C-83A1-F6EECF244321}">
                <p14:modId xmlns:p14="http://schemas.microsoft.com/office/powerpoint/2010/main" val="3223314116"/>
              </p:ext>
            </p:extLst>
          </p:nvPr>
        </p:nvGraphicFramePr>
        <p:xfrm>
          <a:off x="765048" y="4391362"/>
          <a:ext cx="10515600" cy="708660"/>
        </p:xfrm>
        <a:graphic>
          <a:graphicData uri="http://schemas.openxmlformats.org/drawingml/2006/table">
            <a:tbl>
              <a:tblPr/>
              <a:tblGrid>
                <a:gridCol w="3505200">
                  <a:extLst>
                    <a:ext uri="{9D8B030D-6E8A-4147-A177-3AD203B41FA5}">
                      <a16:colId xmlns:a16="http://schemas.microsoft.com/office/drawing/2014/main" val="3509741501"/>
                    </a:ext>
                  </a:extLst>
                </a:gridCol>
                <a:gridCol w="3505200">
                  <a:extLst>
                    <a:ext uri="{9D8B030D-6E8A-4147-A177-3AD203B41FA5}">
                      <a16:colId xmlns:a16="http://schemas.microsoft.com/office/drawing/2014/main" val="1969427531"/>
                    </a:ext>
                  </a:extLst>
                </a:gridCol>
                <a:gridCol w="3505200">
                  <a:extLst>
                    <a:ext uri="{9D8B030D-6E8A-4147-A177-3AD203B41FA5}">
                      <a16:colId xmlns:a16="http://schemas.microsoft.com/office/drawing/2014/main" val="3254615143"/>
                    </a:ext>
                  </a:extLst>
                </a:gridCol>
              </a:tblGrid>
              <a:tr h="0">
                <a:tc>
                  <a:txBody>
                    <a:bodyPr/>
                    <a:lstStyle/>
                    <a:p>
                      <a:r>
                        <a:rPr lang="en-US" b="1"/>
                        <a:t>"Advance Railway Track Crack Detection System Using IoT"</a:t>
                      </a:r>
                      <a:r>
                        <a:rPr lang="en-US"/>
                        <a:t> (IJNRD, May 2023)</a:t>
                      </a:r>
                    </a:p>
                  </a:txBody>
                  <a:tcPr anchor="ctr">
                    <a:lnL>
                      <a:noFill/>
                    </a:lnL>
                    <a:lnR>
                      <a:noFill/>
                    </a:lnR>
                    <a:lnT>
                      <a:noFill/>
                    </a:lnT>
                    <a:lnB>
                      <a:noFill/>
                    </a:lnB>
                    <a:noFill/>
                  </a:tcPr>
                </a:tc>
                <a:tc>
                  <a:txBody>
                    <a:bodyPr/>
                    <a:lstStyle/>
                    <a:p>
                      <a:r>
                        <a:rPr lang="en-US" dirty="0"/>
                        <a:t>Limited scalability for deployment across large railway networks.</a:t>
                      </a:r>
                    </a:p>
                  </a:txBody>
                  <a:tcPr anchor="ctr">
                    <a:lnL>
                      <a:noFill/>
                    </a:lnL>
                    <a:lnR>
                      <a:noFill/>
                    </a:lnR>
                    <a:lnT>
                      <a:noFill/>
                    </a:lnT>
                    <a:lnB>
                      <a:noFill/>
                    </a:lnB>
                    <a:noFill/>
                  </a:tcPr>
                </a:tc>
                <a:tc>
                  <a:txBody>
                    <a:bodyPr/>
                    <a:lstStyle/>
                    <a:p>
                      <a:r>
                        <a:rPr lang="en-US" dirty="0"/>
                        <a:t>Proposed an IoT-based system with IR sensors and GPS/GSM modules for scalable crack detection and data sharing.</a:t>
                      </a:r>
                    </a:p>
                  </a:txBody>
                  <a:tcPr anchor="ctr">
                    <a:lnL>
                      <a:noFill/>
                    </a:lnL>
                    <a:lnR>
                      <a:noFill/>
                    </a:lnR>
                    <a:lnT>
                      <a:noFill/>
                    </a:lnT>
                    <a:lnB>
                      <a:noFill/>
                    </a:lnB>
                    <a:noFill/>
                  </a:tcPr>
                </a:tc>
                <a:extLst>
                  <a:ext uri="{0D108BD9-81ED-4DB2-BD59-A6C34878D82A}">
                    <a16:rowId xmlns:a16="http://schemas.microsoft.com/office/drawing/2014/main" val="972503059"/>
                  </a:ext>
                </a:extLst>
              </a:tr>
            </a:tbl>
          </a:graphicData>
        </a:graphic>
      </p:graphicFrame>
      <p:graphicFrame>
        <p:nvGraphicFramePr>
          <p:cNvPr id="13" name="Table 12">
            <a:extLst>
              <a:ext uri="{FF2B5EF4-FFF2-40B4-BE49-F238E27FC236}">
                <a16:creationId xmlns:a16="http://schemas.microsoft.com/office/drawing/2014/main" id="{67AAF030-7985-BF5A-7DD0-F70B8A9B67AE}"/>
              </a:ext>
            </a:extLst>
          </p:cNvPr>
          <p:cNvGraphicFramePr>
            <a:graphicFrameLocks noGrp="1"/>
          </p:cNvGraphicFramePr>
          <p:nvPr>
            <p:extLst>
              <p:ext uri="{D42A27DB-BD31-4B8C-83A1-F6EECF244321}">
                <p14:modId xmlns:p14="http://schemas.microsoft.com/office/powerpoint/2010/main" val="1825570543"/>
              </p:ext>
            </p:extLst>
          </p:nvPr>
        </p:nvGraphicFramePr>
        <p:xfrm>
          <a:off x="765048" y="2849689"/>
          <a:ext cx="10515600" cy="708660"/>
        </p:xfrm>
        <a:graphic>
          <a:graphicData uri="http://schemas.openxmlformats.org/drawingml/2006/table">
            <a:tbl>
              <a:tblPr/>
              <a:tblGrid>
                <a:gridCol w="3505200">
                  <a:extLst>
                    <a:ext uri="{9D8B030D-6E8A-4147-A177-3AD203B41FA5}">
                      <a16:colId xmlns:a16="http://schemas.microsoft.com/office/drawing/2014/main" val="5715640"/>
                    </a:ext>
                  </a:extLst>
                </a:gridCol>
                <a:gridCol w="3505200">
                  <a:extLst>
                    <a:ext uri="{9D8B030D-6E8A-4147-A177-3AD203B41FA5}">
                      <a16:colId xmlns:a16="http://schemas.microsoft.com/office/drawing/2014/main" val="392808791"/>
                    </a:ext>
                  </a:extLst>
                </a:gridCol>
                <a:gridCol w="3505200">
                  <a:extLst>
                    <a:ext uri="{9D8B030D-6E8A-4147-A177-3AD203B41FA5}">
                      <a16:colId xmlns:a16="http://schemas.microsoft.com/office/drawing/2014/main" val="1400544029"/>
                    </a:ext>
                  </a:extLst>
                </a:gridCol>
              </a:tblGrid>
              <a:tr h="0">
                <a:tc>
                  <a:txBody>
                    <a:bodyPr/>
                    <a:lstStyle/>
                    <a:p>
                      <a:r>
                        <a:rPr lang="en-US" b="1" dirty="0"/>
                        <a:t>"Efficient Railway Track Crack Detection System"</a:t>
                      </a:r>
                      <a:r>
                        <a:rPr lang="en-US" dirty="0"/>
                        <a:t> (IJIRT, 2023)</a:t>
                      </a:r>
                    </a:p>
                  </a:txBody>
                  <a:tcPr anchor="ctr">
                    <a:lnL>
                      <a:noFill/>
                    </a:lnL>
                    <a:lnR>
                      <a:noFill/>
                    </a:lnR>
                    <a:lnT>
                      <a:noFill/>
                    </a:lnT>
                    <a:lnB>
                      <a:noFill/>
                    </a:lnB>
                    <a:noFill/>
                  </a:tcPr>
                </a:tc>
                <a:tc>
                  <a:txBody>
                    <a:bodyPr/>
                    <a:lstStyle/>
                    <a:p>
                      <a:r>
                        <a:rPr lang="en-US" dirty="0"/>
                        <a:t>Lack of a robust alert mechanism for immediate action.</a:t>
                      </a:r>
                    </a:p>
                  </a:txBody>
                  <a:tcPr anchor="ctr">
                    <a:lnL>
                      <a:noFill/>
                    </a:lnL>
                    <a:lnR>
                      <a:noFill/>
                    </a:lnR>
                    <a:lnT>
                      <a:noFill/>
                    </a:lnT>
                    <a:lnB>
                      <a:noFill/>
                    </a:lnB>
                    <a:noFill/>
                  </a:tcPr>
                </a:tc>
                <a:tc>
                  <a:txBody>
                    <a:bodyPr/>
                    <a:lstStyle/>
                    <a:p>
                      <a:r>
                        <a:rPr lang="en-US" dirty="0"/>
                        <a:t>Suggested a system with GSM and GPS modules for sending instant alerts to relevant authorities.</a:t>
                      </a:r>
                    </a:p>
                  </a:txBody>
                  <a:tcPr anchor="ctr">
                    <a:lnL>
                      <a:noFill/>
                    </a:lnL>
                    <a:lnR>
                      <a:noFill/>
                    </a:lnR>
                    <a:lnT>
                      <a:noFill/>
                    </a:lnT>
                    <a:lnB>
                      <a:noFill/>
                    </a:lnB>
                    <a:noFill/>
                  </a:tcPr>
                </a:tc>
                <a:extLst>
                  <a:ext uri="{0D108BD9-81ED-4DB2-BD59-A6C34878D82A}">
                    <a16:rowId xmlns:a16="http://schemas.microsoft.com/office/drawing/2014/main" val="3491807337"/>
                  </a:ext>
                </a:extLst>
              </a:tr>
            </a:tbl>
          </a:graphicData>
        </a:graphic>
      </p:graphicFrame>
      <p:graphicFrame>
        <p:nvGraphicFramePr>
          <p:cNvPr id="14" name="Table 13">
            <a:extLst>
              <a:ext uri="{FF2B5EF4-FFF2-40B4-BE49-F238E27FC236}">
                <a16:creationId xmlns:a16="http://schemas.microsoft.com/office/drawing/2014/main" id="{65A0F453-8704-3433-0F81-B203994E2C41}"/>
              </a:ext>
            </a:extLst>
          </p:cNvPr>
          <p:cNvGraphicFramePr>
            <a:graphicFrameLocks noGrp="1"/>
          </p:cNvGraphicFramePr>
          <p:nvPr>
            <p:extLst>
              <p:ext uri="{D42A27DB-BD31-4B8C-83A1-F6EECF244321}">
                <p14:modId xmlns:p14="http://schemas.microsoft.com/office/powerpoint/2010/main" val="2921092706"/>
              </p:ext>
            </p:extLst>
          </p:nvPr>
        </p:nvGraphicFramePr>
        <p:xfrm>
          <a:off x="765048" y="4140446"/>
          <a:ext cx="10515600" cy="2880360"/>
        </p:xfrm>
        <a:graphic>
          <a:graphicData uri="http://schemas.openxmlformats.org/drawingml/2006/table">
            <a:tbl>
              <a:tblPr/>
              <a:tblGrid>
                <a:gridCol w="3505200">
                  <a:extLst>
                    <a:ext uri="{9D8B030D-6E8A-4147-A177-3AD203B41FA5}">
                      <a16:colId xmlns:a16="http://schemas.microsoft.com/office/drawing/2014/main" val="754046595"/>
                    </a:ext>
                  </a:extLst>
                </a:gridCol>
                <a:gridCol w="3505200">
                  <a:extLst>
                    <a:ext uri="{9D8B030D-6E8A-4147-A177-3AD203B41FA5}">
                      <a16:colId xmlns:a16="http://schemas.microsoft.com/office/drawing/2014/main" val="2598897003"/>
                    </a:ext>
                  </a:extLst>
                </a:gridCol>
                <a:gridCol w="3505200">
                  <a:extLst>
                    <a:ext uri="{9D8B030D-6E8A-4147-A177-3AD203B41FA5}">
                      <a16:colId xmlns:a16="http://schemas.microsoft.com/office/drawing/2014/main" val="2267218483"/>
                    </a:ext>
                  </a:extLst>
                </a:gridCol>
              </a:tblGrid>
              <a:tr h="2880360">
                <a:tc>
                  <a:txBody>
                    <a:bodyPr/>
                    <a:lstStyle/>
                    <a:p>
                      <a:r>
                        <a:rPr lang="en-US" b="1" dirty="0"/>
                        <a:t>"Railway Track Crack &amp; Object Detection Using GSM &amp; GPS"</a:t>
                      </a:r>
                      <a:r>
                        <a:rPr lang="en-US" dirty="0"/>
                        <a:t> (IJRES, 2022)</a:t>
                      </a:r>
                    </a:p>
                  </a:txBody>
                  <a:tcPr anchor="ctr">
                    <a:lnL>
                      <a:noFill/>
                    </a:lnL>
                    <a:lnR>
                      <a:noFill/>
                    </a:lnR>
                    <a:lnT>
                      <a:noFill/>
                    </a:lnT>
                    <a:lnB>
                      <a:noFill/>
                    </a:lnB>
                    <a:noFill/>
                  </a:tcPr>
                </a:tc>
                <a:tc>
                  <a:txBody>
                    <a:bodyPr/>
                    <a:lstStyle/>
                    <a:p>
                      <a:r>
                        <a:rPr lang="en-US" dirty="0"/>
                        <a:t>Ineffective obstacle detection due to sensor limitations.</a:t>
                      </a:r>
                    </a:p>
                  </a:txBody>
                  <a:tcPr anchor="ctr">
                    <a:lnL>
                      <a:noFill/>
                    </a:lnL>
                    <a:lnR>
                      <a:noFill/>
                    </a:lnR>
                    <a:lnT>
                      <a:noFill/>
                    </a:lnT>
                    <a:lnB>
                      <a:noFill/>
                    </a:lnB>
                    <a:noFill/>
                  </a:tcPr>
                </a:tc>
                <a:tc>
                  <a:txBody>
                    <a:bodyPr/>
                    <a:lstStyle/>
                    <a:p>
                      <a:r>
                        <a:rPr lang="en-US" dirty="0"/>
                        <a:t>Developed a robot integrating IR sensors and GSM/GPS modules for simultaneous crack and obstacle detection.</a:t>
                      </a:r>
                    </a:p>
                  </a:txBody>
                  <a:tcPr anchor="ctr">
                    <a:lnL>
                      <a:noFill/>
                    </a:lnL>
                    <a:lnR>
                      <a:noFill/>
                    </a:lnR>
                    <a:lnT>
                      <a:noFill/>
                    </a:lnT>
                    <a:lnB>
                      <a:noFill/>
                    </a:lnB>
                    <a:noFill/>
                  </a:tcPr>
                </a:tc>
                <a:extLst>
                  <a:ext uri="{0D108BD9-81ED-4DB2-BD59-A6C34878D82A}">
                    <a16:rowId xmlns:a16="http://schemas.microsoft.com/office/drawing/2014/main" val="355907749"/>
                  </a:ext>
                </a:extLst>
              </a:tr>
            </a:tbl>
          </a:graphicData>
        </a:graphic>
      </p:graphicFrame>
    </p:spTree>
    <p:extLst>
      <p:ext uri="{BB962C8B-B14F-4D97-AF65-F5344CB8AC3E}">
        <p14:creationId xmlns:p14="http://schemas.microsoft.com/office/powerpoint/2010/main" val="1546795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p:cNvSpPr>
            <a:spLocks noGrp="1"/>
          </p:cNvSpPr>
          <p:nvPr>
            <p:ph type="sldNum" sz="quarter" idx="12"/>
          </p:nvPr>
        </p:nvSpPr>
        <p:spPr/>
        <p:txBody>
          <a:bodyPr/>
          <a:lstStyle/>
          <a:p>
            <a:r>
              <a:rPr lang="en-IN" dirty="0"/>
              <a:t>2</a:t>
            </a:r>
          </a:p>
        </p:txBody>
      </p:sp>
      <p:graphicFrame>
        <p:nvGraphicFramePr>
          <p:cNvPr id="9" name="Table 8">
            <a:extLst>
              <a:ext uri="{FF2B5EF4-FFF2-40B4-BE49-F238E27FC236}">
                <a16:creationId xmlns:a16="http://schemas.microsoft.com/office/drawing/2014/main" id="{2D64635C-8E06-7AD9-3987-AD0BF68D25FC}"/>
              </a:ext>
            </a:extLst>
          </p:cNvPr>
          <p:cNvGraphicFramePr>
            <a:graphicFrameLocks noGrp="1"/>
          </p:cNvGraphicFramePr>
          <p:nvPr>
            <p:extLst>
              <p:ext uri="{D42A27DB-BD31-4B8C-83A1-F6EECF244321}">
                <p14:modId xmlns:p14="http://schemas.microsoft.com/office/powerpoint/2010/main" val="3661334928"/>
              </p:ext>
            </p:extLst>
          </p:nvPr>
        </p:nvGraphicFramePr>
        <p:xfrm>
          <a:off x="874776" y="1562279"/>
          <a:ext cx="10515600" cy="708660"/>
        </p:xfrm>
        <a:graphic>
          <a:graphicData uri="http://schemas.openxmlformats.org/drawingml/2006/table">
            <a:tbl>
              <a:tblPr/>
              <a:tblGrid>
                <a:gridCol w="3505200">
                  <a:extLst>
                    <a:ext uri="{9D8B030D-6E8A-4147-A177-3AD203B41FA5}">
                      <a16:colId xmlns:a16="http://schemas.microsoft.com/office/drawing/2014/main" val="2414409322"/>
                    </a:ext>
                  </a:extLst>
                </a:gridCol>
                <a:gridCol w="3505200">
                  <a:extLst>
                    <a:ext uri="{9D8B030D-6E8A-4147-A177-3AD203B41FA5}">
                      <a16:colId xmlns:a16="http://schemas.microsoft.com/office/drawing/2014/main" val="4129230652"/>
                    </a:ext>
                  </a:extLst>
                </a:gridCol>
                <a:gridCol w="3505200">
                  <a:extLst>
                    <a:ext uri="{9D8B030D-6E8A-4147-A177-3AD203B41FA5}">
                      <a16:colId xmlns:a16="http://schemas.microsoft.com/office/drawing/2014/main" val="2565205055"/>
                    </a:ext>
                  </a:extLst>
                </a:gridCol>
              </a:tblGrid>
              <a:tr h="0">
                <a:tc>
                  <a:txBody>
                    <a:bodyPr/>
                    <a:lstStyle/>
                    <a:p>
                      <a:r>
                        <a:rPr lang="en-US" b="1" dirty="0"/>
                        <a:t>"Automatic Railway Track Crack Detection System Using Ultrasonic Sensors"</a:t>
                      </a:r>
                      <a:r>
                        <a:rPr lang="en-US" dirty="0"/>
                        <a:t> (IRJET, March 2023)</a:t>
                      </a:r>
                    </a:p>
                  </a:txBody>
                  <a:tcPr anchor="ctr">
                    <a:lnL>
                      <a:noFill/>
                    </a:lnL>
                    <a:lnR>
                      <a:noFill/>
                    </a:lnR>
                    <a:lnT>
                      <a:noFill/>
                    </a:lnT>
                    <a:lnB>
                      <a:noFill/>
                    </a:lnB>
                    <a:noFill/>
                  </a:tcPr>
                </a:tc>
                <a:tc>
                  <a:txBody>
                    <a:bodyPr/>
                    <a:lstStyle/>
                    <a:p>
                      <a:r>
                        <a:rPr lang="en-US" dirty="0"/>
                        <a:t>Lack of real-time location tracking for detected cracks.</a:t>
                      </a:r>
                    </a:p>
                  </a:txBody>
                  <a:tcPr anchor="ctr">
                    <a:lnL>
                      <a:noFill/>
                    </a:lnL>
                    <a:lnR>
                      <a:noFill/>
                    </a:lnR>
                    <a:lnT>
                      <a:noFill/>
                    </a:lnT>
                    <a:lnB>
                      <a:noFill/>
                    </a:lnB>
                    <a:noFill/>
                  </a:tcPr>
                </a:tc>
                <a:tc>
                  <a:txBody>
                    <a:bodyPr/>
                    <a:lstStyle/>
                    <a:p>
                      <a:r>
                        <a:rPr lang="en-US" dirty="0"/>
                        <a:t>Utilized GSM modules for transmitting real-time crack detection data along with ultrasonic sensors.</a:t>
                      </a:r>
                    </a:p>
                  </a:txBody>
                  <a:tcPr anchor="ctr">
                    <a:lnL>
                      <a:noFill/>
                    </a:lnL>
                    <a:lnR>
                      <a:noFill/>
                    </a:lnR>
                    <a:lnT>
                      <a:noFill/>
                    </a:lnT>
                    <a:lnB>
                      <a:noFill/>
                    </a:lnB>
                    <a:noFill/>
                  </a:tcPr>
                </a:tc>
                <a:extLst>
                  <a:ext uri="{0D108BD9-81ED-4DB2-BD59-A6C34878D82A}">
                    <a16:rowId xmlns:a16="http://schemas.microsoft.com/office/drawing/2014/main" val="2157272499"/>
                  </a:ext>
                </a:extLst>
              </a:tr>
            </a:tbl>
          </a:graphicData>
        </a:graphic>
      </p:graphicFrame>
      <p:graphicFrame>
        <p:nvGraphicFramePr>
          <p:cNvPr id="8" name="Table 7">
            <a:extLst>
              <a:ext uri="{FF2B5EF4-FFF2-40B4-BE49-F238E27FC236}">
                <a16:creationId xmlns:a16="http://schemas.microsoft.com/office/drawing/2014/main" id="{E2502098-BC72-6E72-C870-A9C26A47C42D}"/>
              </a:ext>
            </a:extLst>
          </p:cNvPr>
          <p:cNvGraphicFramePr>
            <a:graphicFrameLocks noGrp="1"/>
          </p:cNvGraphicFramePr>
          <p:nvPr>
            <p:extLst>
              <p:ext uri="{D42A27DB-BD31-4B8C-83A1-F6EECF244321}">
                <p14:modId xmlns:p14="http://schemas.microsoft.com/office/powerpoint/2010/main" val="3770208981"/>
              </p:ext>
            </p:extLst>
          </p:nvPr>
        </p:nvGraphicFramePr>
        <p:xfrm>
          <a:off x="874776" y="3777000"/>
          <a:ext cx="10515600" cy="708660"/>
        </p:xfrm>
        <a:graphic>
          <a:graphicData uri="http://schemas.openxmlformats.org/drawingml/2006/table">
            <a:tbl>
              <a:tblPr/>
              <a:tblGrid>
                <a:gridCol w="3505200">
                  <a:extLst>
                    <a:ext uri="{9D8B030D-6E8A-4147-A177-3AD203B41FA5}">
                      <a16:colId xmlns:a16="http://schemas.microsoft.com/office/drawing/2014/main" val="3411344851"/>
                    </a:ext>
                  </a:extLst>
                </a:gridCol>
                <a:gridCol w="3505200">
                  <a:extLst>
                    <a:ext uri="{9D8B030D-6E8A-4147-A177-3AD203B41FA5}">
                      <a16:colId xmlns:a16="http://schemas.microsoft.com/office/drawing/2014/main" val="758563556"/>
                    </a:ext>
                  </a:extLst>
                </a:gridCol>
                <a:gridCol w="3505200">
                  <a:extLst>
                    <a:ext uri="{9D8B030D-6E8A-4147-A177-3AD203B41FA5}">
                      <a16:colId xmlns:a16="http://schemas.microsoft.com/office/drawing/2014/main" val="1985423112"/>
                    </a:ext>
                  </a:extLst>
                </a:gridCol>
              </a:tblGrid>
              <a:tr h="0">
                <a:tc>
                  <a:txBody>
                    <a:bodyPr/>
                    <a:lstStyle/>
                    <a:p>
                      <a:r>
                        <a:rPr lang="en-US" b="1" dirty="0"/>
                        <a:t>"Railway Track Crack Detection &amp; Obstacle Detection System"</a:t>
                      </a:r>
                      <a:r>
                        <a:rPr lang="en-US" dirty="0"/>
                        <a:t> (IRJMETS, March 2022)</a:t>
                      </a:r>
                    </a:p>
                  </a:txBody>
                  <a:tcPr anchor="ctr">
                    <a:lnL>
                      <a:noFill/>
                    </a:lnL>
                    <a:lnR>
                      <a:noFill/>
                    </a:lnR>
                    <a:lnT>
                      <a:noFill/>
                    </a:lnT>
                    <a:lnB>
                      <a:noFill/>
                    </a:lnB>
                    <a:noFill/>
                  </a:tcPr>
                </a:tc>
                <a:tc>
                  <a:txBody>
                    <a:bodyPr/>
                    <a:lstStyle/>
                    <a:p>
                      <a:r>
                        <a:rPr lang="en-US" dirty="0"/>
                        <a:t>Limited obstacle identification and reporting efficiency.</a:t>
                      </a:r>
                    </a:p>
                  </a:txBody>
                  <a:tcPr anchor="ctr">
                    <a:lnL>
                      <a:noFill/>
                    </a:lnL>
                    <a:lnR>
                      <a:noFill/>
                    </a:lnR>
                    <a:lnT>
                      <a:noFill/>
                    </a:lnT>
                    <a:lnB>
                      <a:noFill/>
                    </a:lnB>
                    <a:noFill/>
                  </a:tcPr>
                </a:tc>
                <a:tc>
                  <a:txBody>
                    <a:bodyPr/>
                    <a:lstStyle/>
                    <a:p>
                      <a:r>
                        <a:rPr lang="en-US" dirty="0"/>
                        <a:t>Used IR sensors and Arduino Uno with GPS to detect track cracks and pinpoint exact locations for communication to authorities.</a:t>
                      </a:r>
                    </a:p>
                  </a:txBody>
                  <a:tcPr anchor="ctr">
                    <a:lnL>
                      <a:noFill/>
                    </a:lnL>
                    <a:lnR>
                      <a:noFill/>
                    </a:lnR>
                    <a:lnT>
                      <a:noFill/>
                    </a:lnT>
                    <a:lnB>
                      <a:noFill/>
                    </a:lnB>
                    <a:noFill/>
                  </a:tcPr>
                </a:tc>
                <a:extLst>
                  <a:ext uri="{0D108BD9-81ED-4DB2-BD59-A6C34878D82A}">
                    <a16:rowId xmlns:a16="http://schemas.microsoft.com/office/drawing/2014/main" val="2604876239"/>
                  </a:ext>
                </a:extLst>
              </a:tr>
            </a:tbl>
          </a:graphicData>
        </a:graphic>
      </p:graphicFrame>
      <p:graphicFrame>
        <p:nvGraphicFramePr>
          <p:cNvPr id="12" name="Table 11">
            <a:extLst>
              <a:ext uri="{FF2B5EF4-FFF2-40B4-BE49-F238E27FC236}">
                <a16:creationId xmlns:a16="http://schemas.microsoft.com/office/drawing/2014/main" id="{B76166F8-D6EC-3BC4-BA37-19680C89CA0B}"/>
              </a:ext>
            </a:extLst>
          </p:cNvPr>
          <p:cNvGraphicFramePr>
            <a:graphicFrameLocks noGrp="1"/>
          </p:cNvGraphicFramePr>
          <p:nvPr>
            <p:extLst>
              <p:ext uri="{D42A27DB-BD31-4B8C-83A1-F6EECF244321}">
                <p14:modId xmlns:p14="http://schemas.microsoft.com/office/powerpoint/2010/main" val="1301050299"/>
              </p:ext>
            </p:extLst>
          </p:nvPr>
        </p:nvGraphicFramePr>
        <p:xfrm>
          <a:off x="838200" y="5346764"/>
          <a:ext cx="10515600" cy="708660"/>
        </p:xfrm>
        <a:graphic>
          <a:graphicData uri="http://schemas.openxmlformats.org/drawingml/2006/table">
            <a:tbl>
              <a:tblPr/>
              <a:tblGrid>
                <a:gridCol w="3505200">
                  <a:extLst>
                    <a:ext uri="{9D8B030D-6E8A-4147-A177-3AD203B41FA5}">
                      <a16:colId xmlns:a16="http://schemas.microsoft.com/office/drawing/2014/main" val="2515465761"/>
                    </a:ext>
                  </a:extLst>
                </a:gridCol>
                <a:gridCol w="3505200">
                  <a:extLst>
                    <a:ext uri="{9D8B030D-6E8A-4147-A177-3AD203B41FA5}">
                      <a16:colId xmlns:a16="http://schemas.microsoft.com/office/drawing/2014/main" val="2743625548"/>
                    </a:ext>
                  </a:extLst>
                </a:gridCol>
                <a:gridCol w="3505200">
                  <a:extLst>
                    <a:ext uri="{9D8B030D-6E8A-4147-A177-3AD203B41FA5}">
                      <a16:colId xmlns:a16="http://schemas.microsoft.com/office/drawing/2014/main" val="972149625"/>
                    </a:ext>
                  </a:extLst>
                </a:gridCol>
              </a:tblGrid>
              <a:tr h="0">
                <a:tc>
                  <a:txBody>
                    <a:bodyPr/>
                    <a:lstStyle/>
                    <a:p>
                      <a:r>
                        <a:rPr lang="en-US" b="1" dirty="0"/>
                        <a:t>"Automated Crack Detection of Railway Track"</a:t>
                      </a:r>
                      <a:r>
                        <a:rPr lang="en-US" dirty="0"/>
                        <a:t> (IOSR-JEEE, 2020)</a:t>
                      </a:r>
                    </a:p>
                  </a:txBody>
                  <a:tcPr anchor="ctr">
                    <a:lnL>
                      <a:noFill/>
                    </a:lnL>
                    <a:lnR>
                      <a:noFill/>
                    </a:lnR>
                    <a:lnT>
                      <a:noFill/>
                    </a:lnT>
                    <a:lnB>
                      <a:noFill/>
                    </a:lnB>
                    <a:noFill/>
                  </a:tcPr>
                </a:tc>
                <a:tc>
                  <a:txBody>
                    <a:bodyPr/>
                    <a:lstStyle/>
                    <a:p>
                      <a:r>
                        <a:rPr lang="en-US" dirty="0"/>
                        <a:t>Difficulty in filtering false positives in crack detection.</a:t>
                      </a:r>
                    </a:p>
                  </a:txBody>
                  <a:tcPr anchor="ctr">
                    <a:lnL>
                      <a:noFill/>
                    </a:lnL>
                    <a:lnR>
                      <a:noFill/>
                    </a:lnR>
                    <a:lnT>
                      <a:noFill/>
                    </a:lnT>
                    <a:lnB>
                      <a:noFill/>
                    </a:lnB>
                    <a:noFill/>
                  </a:tcPr>
                </a:tc>
                <a:tc>
                  <a:txBody>
                    <a:bodyPr/>
                    <a:lstStyle/>
                    <a:p>
                      <a:r>
                        <a:rPr lang="en-US" dirty="0"/>
                        <a:t>Incorporated Bayesian analysis to improve signal filtering for crack detection using ultrasonic and PIR sensors.</a:t>
                      </a:r>
                    </a:p>
                  </a:txBody>
                  <a:tcPr anchor="ctr">
                    <a:lnL>
                      <a:noFill/>
                    </a:lnL>
                    <a:lnR>
                      <a:noFill/>
                    </a:lnR>
                    <a:lnT>
                      <a:noFill/>
                    </a:lnT>
                    <a:lnB>
                      <a:noFill/>
                    </a:lnB>
                    <a:noFill/>
                  </a:tcPr>
                </a:tc>
                <a:extLst>
                  <a:ext uri="{0D108BD9-81ED-4DB2-BD59-A6C34878D82A}">
                    <a16:rowId xmlns:a16="http://schemas.microsoft.com/office/drawing/2014/main" val="765716434"/>
                  </a:ext>
                </a:extLst>
              </a:tr>
            </a:tbl>
          </a:graphicData>
        </a:graphic>
      </p:graphicFrame>
      <p:graphicFrame>
        <p:nvGraphicFramePr>
          <p:cNvPr id="10" name="Table 9">
            <a:extLst>
              <a:ext uri="{FF2B5EF4-FFF2-40B4-BE49-F238E27FC236}">
                <a16:creationId xmlns:a16="http://schemas.microsoft.com/office/drawing/2014/main" id="{049152C7-5E25-1E17-8C2E-AE541BE9DF15}"/>
              </a:ext>
            </a:extLst>
          </p:cNvPr>
          <p:cNvGraphicFramePr>
            <a:graphicFrameLocks noGrp="1"/>
          </p:cNvGraphicFramePr>
          <p:nvPr>
            <p:extLst>
              <p:ext uri="{D42A27DB-BD31-4B8C-83A1-F6EECF244321}">
                <p14:modId xmlns:p14="http://schemas.microsoft.com/office/powerpoint/2010/main" val="427270891"/>
              </p:ext>
            </p:extLst>
          </p:nvPr>
        </p:nvGraphicFramePr>
        <p:xfrm>
          <a:off x="911352" y="2357808"/>
          <a:ext cx="10515600" cy="708660"/>
        </p:xfrm>
        <a:graphic>
          <a:graphicData uri="http://schemas.openxmlformats.org/drawingml/2006/table">
            <a:tbl>
              <a:tblPr/>
              <a:tblGrid>
                <a:gridCol w="3505200">
                  <a:extLst>
                    <a:ext uri="{9D8B030D-6E8A-4147-A177-3AD203B41FA5}">
                      <a16:colId xmlns:a16="http://schemas.microsoft.com/office/drawing/2014/main" val="4061244562"/>
                    </a:ext>
                  </a:extLst>
                </a:gridCol>
                <a:gridCol w="3505200">
                  <a:extLst>
                    <a:ext uri="{9D8B030D-6E8A-4147-A177-3AD203B41FA5}">
                      <a16:colId xmlns:a16="http://schemas.microsoft.com/office/drawing/2014/main" val="1061909827"/>
                    </a:ext>
                  </a:extLst>
                </a:gridCol>
                <a:gridCol w="3505200">
                  <a:extLst>
                    <a:ext uri="{9D8B030D-6E8A-4147-A177-3AD203B41FA5}">
                      <a16:colId xmlns:a16="http://schemas.microsoft.com/office/drawing/2014/main" val="1887136653"/>
                    </a:ext>
                  </a:extLst>
                </a:gridCol>
              </a:tblGrid>
              <a:tr h="0">
                <a:tc>
                  <a:txBody>
                    <a:bodyPr/>
                    <a:lstStyle/>
                    <a:p>
                      <a:r>
                        <a:rPr lang="en-US" b="1" dirty="0"/>
                        <a:t>"Railway Track Crack and Obstacle Detector"</a:t>
                      </a:r>
                      <a:r>
                        <a:rPr lang="en-US" dirty="0"/>
                        <a:t> (ResearchGate, 2019)</a:t>
                      </a:r>
                    </a:p>
                  </a:txBody>
                  <a:tcPr anchor="ctr">
                    <a:lnL>
                      <a:noFill/>
                    </a:lnL>
                    <a:lnR>
                      <a:noFill/>
                    </a:lnR>
                    <a:lnT>
                      <a:noFill/>
                    </a:lnT>
                    <a:lnB>
                      <a:noFill/>
                    </a:lnB>
                    <a:noFill/>
                  </a:tcPr>
                </a:tc>
                <a:tc>
                  <a:txBody>
                    <a:bodyPr/>
                    <a:lstStyle/>
                    <a:p>
                      <a:r>
                        <a:rPr lang="en-US" dirty="0"/>
                        <a:t>Limited reporting and monitoring capabilities for track continuity.</a:t>
                      </a:r>
                    </a:p>
                  </a:txBody>
                  <a:tcPr anchor="ctr">
                    <a:lnL>
                      <a:noFill/>
                    </a:lnL>
                    <a:lnR>
                      <a:noFill/>
                    </a:lnR>
                    <a:lnT>
                      <a:noFill/>
                    </a:lnT>
                    <a:lnB>
                      <a:noFill/>
                    </a:lnB>
                    <a:noFill/>
                  </a:tcPr>
                </a:tc>
                <a:tc>
                  <a:txBody>
                    <a:bodyPr/>
                    <a:lstStyle/>
                    <a:p>
                      <a:r>
                        <a:rPr lang="en-US" dirty="0"/>
                        <a:t>Employed ultrasonic ranging techniques to enhance obstacle detection and track continuity reporting.</a:t>
                      </a:r>
                    </a:p>
                  </a:txBody>
                  <a:tcPr anchor="ctr">
                    <a:lnL>
                      <a:noFill/>
                    </a:lnL>
                    <a:lnR>
                      <a:noFill/>
                    </a:lnR>
                    <a:lnT>
                      <a:noFill/>
                    </a:lnT>
                    <a:lnB>
                      <a:noFill/>
                    </a:lnB>
                    <a:noFill/>
                  </a:tcPr>
                </a:tc>
                <a:extLst>
                  <a:ext uri="{0D108BD9-81ED-4DB2-BD59-A6C34878D82A}">
                    <a16:rowId xmlns:a16="http://schemas.microsoft.com/office/drawing/2014/main" val="1391799916"/>
                  </a:ext>
                </a:extLst>
              </a:tr>
            </a:tbl>
          </a:graphicData>
        </a:graphic>
      </p:graphicFrame>
      <p:graphicFrame>
        <p:nvGraphicFramePr>
          <p:cNvPr id="11" name="Table 10">
            <a:extLst>
              <a:ext uri="{FF2B5EF4-FFF2-40B4-BE49-F238E27FC236}">
                <a16:creationId xmlns:a16="http://schemas.microsoft.com/office/drawing/2014/main" id="{42974875-4DBB-4B48-85DD-794C0ED1ACA7}"/>
              </a:ext>
            </a:extLst>
          </p:cNvPr>
          <p:cNvGraphicFramePr>
            <a:graphicFrameLocks noGrp="1"/>
          </p:cNvGraphicFramePr>
          <p:nvPr>
            <p:extLst>
              <p:ext uri="{D42A27DB-BD31-4B8C-83A1-F6EECF244321}">
                <p14:modId xmlns:p14="http://schemas.microsoft.com/office/powerpoint/2010/main" val="1650496265"/>
              </p:ext>
            </p:extLst>
          </p:nvPr>
        </p:nvGraphicFramePr>
        <p:xfrm>
          <a:off x="874776" y="4543518"/>
          <a:ext cx="10515600" cy="708660"/>
        </p:xfrm>
        <a:graphic>
          <a:graphicData uri="http://schemas.openxmlformats.org/drawingml/2006/table">
            <a:tbl>
              <a:tblPr/>
              <a:tblGrid>
                <a:gridCol w="3505200">
                  <a:extLst>
                    <a:ext uri="{9D8B030D-6E8A-4147-A177-3AD203B41FA5}">
                      <a16:colId xmlns:a16="http://schemas.microsoft.com/office/drawing/2014/main" val="1523962943"/>
                    </a:ext>
                  </a:extLst>
                </a:gridCol>
                <a:gridCol w="3505200">
                  <a:extLst>
                    <a:ext uri="{9D8B030D-6E8A-4147-A177-3AD203B41FA5}">
                      <a16:colId xmlns:a16="http://schemas.microsoft.com/office/drawing/2014/main" val="3230675418"/>
                    </a:ext>
                  </a:extLst>
                </a:gridCol>
                <a:gridCol w="3505200">
                  <a:extLst>
                    <a:ext uri="{9D8B030D-6E8A-4147-A177-3AD203B41FA5}">
                      <a16:colId xmlns:a16="http://schemas.microsoft.com/office/drawing/2014/main" val="2024915178"/>
                    </a:ext>
                  </a:extLst>
                </a:gridCol>
              </a:tblGrid>
              <a:tr h="0">
                <a:tc>
                  <a:txBody>
                    <a:bodyPr/>
                    <a:lstStyle/>
                    <a:p>
                      <a:r>
                        <a:rPr lang="en-US" b="1" dirty="0"/>
                        <a:t>"Development of Railway Track Crack Detection System Using Arduino"</a:t>
                      </a:r>
                      <a:r>
                        <a:rPr lang="en-US" dirty="0"/>
                        <a:t> (ResearchGate, 2023)</a:t>
                      </a:r>
                    </a:p>
                  </a:txBody>
                  <a:tcPr anchor="ctr">
                    <a:lnL>
                      <a:noFill/>
                    </a:lnL>
                    <a:lnR>
                      <a:noFill/>
                    </a:lnR>
                    <a:lnT>
                      <a:noFill/>
                    </a:lnT>
                    <a:lnB>
                      <a:noFill/>
                    </a:lnB>
                    <a:noFill/>
                  </a:tcPr>
                </a:tc>
                <a:tc>
                  <a:txBody>
                    <a:bodyPr/>
                    <a:lstStyle/>
                    <a:p>
                      <a:r>
                        <a:rPr lang="en-US" dirty="0"/>
                        <a:t>Limited sensor control and integration efficiency.</a:t>
                      </a:r>
                    </a:p>
                  </a:txBody>
                  <a:tcPr anchor="ctr">
                    <a:lnL>
                      <a:noFill/>
                    </a:lnL>
                    <a:lnR>
                      <a:noFill/>
                    </a:lnR>
                    <a:lnT>
                      <a:noFill/>
                    </a:lnT>
                    <a:lnB>
                      <a:noFill/>
                    </a:lnB>
                    <a:noFill/>
                  </a:tcPr>
                </a:tc>
                <a:tc>
                  <a:txBody>
                    <a:bodyPr/>
                    <a:lstStyle/>
                    <a:p>
                      <a:r>
                        <a:rPr lang="en-US" dirty="0"/>
                        <a:t>Leveraged Arduino, ultrasonic sensors, and GPS modules for efficient crack detection and location tracking.</a:t>
                      </a:r>
                    </a:p>
                  </a:txBody>
                  <a:tcPr anchor="ctr">
                    <a:lnL>
                      <a:noFill/>
                    </a:lnL>
                    <a:lnR>
                      <a:noFill/>
                    </a:lnR>
                    <a:lnT>
                      <a:noFill/>
                    </a:lnT>
                    <a:lnB>
                      <a:noFill/>
                    </a:lnB>
                    <a:noFill/>
                  </a:tcPr>
                </a:tc>
                <a:extLst>
                  <a:ext uri="{0D108BD9-81ED-4DB2-BD59-A6C34878D82A}">
                    <a16:rowId xmlns:a16="http://schemas.microsoft.com/office/drawing/2014/main" val="1378182735"/>
                  </a:ext>
                </a:extLst>
              </a:tr>
            </a:tbl>
          </a:graphicData>
        </a:graphic>
      </p:graphicFrame>
      <p:graphicFrame>
        <p:nvGraphicFramePr>
          <p:cNvPr id="13" name="Table 12">
            <a:extLst>
              <a:ext uri="{FF2B5EF4-FFF2-40B4-BE49-F238E27FC236}">
                <a16:creationId xmlns:a16="http://schemas.microsoft.com/office/drawing/2014/main" id="{6A443E27-A58E-2D07-EDA1-DE2FA7F4EE05}"/>
              </a:ext>
            </a:extLst>
          </p:cNvPr>
          <p:cNvGraphicFramePr>
            <a:graphicFrameLocks noGrp="1"/>
          </p:cNvGraphicFramePr>
          <p:nvPr>
            <p:extLst>
              <p:ext uri="{D42A27DB-BD31-4B8C-83A1-F6EECF244321}">
                <p14:modId xmlns:p14="http://schemas.microsoft.com/office/powerpoint/2010/main" val="3214143855"/>
              </p:ext>
            </p:extLst>
          </p:nvPr>
        </p:nvGraphicFramePr>
        <p:xfrm>
          <a:off x="838200" y="3121742"/>
          <a:ext cx="10515600" cy="708660"/>
        </p:xfrm>
        <a:graphic>
          <a:graphicData uri="http://schemas.openxmlformats.org/drawingml/2006/table">
            <a:tbl>
              <a:tblPr/>
              <a:tblGrid>
                <a:gridCol w="3505200">
                  <a:extLst>
                    <a:ext uri="{9D8B030D-6E8A-4147-A177-3AD203B41FA5}">
                      <a16:colId xmlns:a16="http://schemas.microsoft.com/office/drawing/2014/main" val="344392046"/>
                    </a:ext>
                  </a:extLst>
                </a:gridCol>
                <a:gridCol w="3505200">
                  <a:extLst>
                    <a:ext uri="{9D8B030D-6E8A-4147-A177-3AD203B41FA5}">
                      <a16:colId xmlns:a16="http://schemas.microsoft.com/office/drawing/2014/main" val="251215904"/>
                    </a:ext>
                  </a:extLst>
                </a:gridCol>
                <a:gridCol w="3505200">
                  <a:extLst>
                    <a:ext uri="{9D8B030D-6E8A-4147-A177-3AD203B41FA5}">
                      <a16:colId xmlns:a16="http://schemas.microsoft.com/office/drawing/2014/main" val="3846157234"/>
                    </a:ext>
                  </a:extLst>
                </a:gridCol>
              </a:tblGrid>
              <a:tr h="0">
                <a:tc>
                  <a:txBody>
                    <a:bodyPr/>
                    <a:lstStyle/>
                    <a:p>
                      <a:r>
                        <a:rPr lang="en-US" b="1"/>
                        <a:t>"Broken Rail Detection With Texture Image Processing Using GLCM"</a:t>
                      </a:r>
                      <a:r>
                        <a:rPr lang="en-US"/>
                        <a:t> (arXiv, April 2023)</a:t>
                      </a:r>
                    </a:p>
                  </a:txBody>
                  <a:tcPr anchor="ctr">
                    <a:lnL>
                      <a:noFill/>
                    </a:lnL>
                    <a:lnR>
                      <a:noFill/>
                    </a:lnR>
                    <a:lnT>
                      <a:noFill/>
                    </a:lnT>
                    <a:lnB>
                      <a:noFill/>
                    </a:lnB>
                    <a:noFill/>
                  </a:tcPr>
                </a:tc>
                <a:tc>
                  <a:txBody>
                    <a:bodyPr/>
                    <a:lstStyle/>
                    <a:p>
                      <a:r>
                        <a:rPr lang="en-US" dirty="0"/>
                        <a:t>High dependency on image texture quality for crack detection.</a:t>
                      </a:r>
                    </a:p>
                  </a:txBody>
                  <a:tcPr anchor="ctr">
                    <a:lnL>
                      <a:noFill/>
                    </a:lnL>
                    <a:lnR>
                      <a:noFill/>
                    </a:lnR>
                    <a:lnT>
                      <a:noFill/>
                    </a:lnT>
                    <a:lnB>
                      <a:noFill/>
                    </a:lnB>
                    <a:noFill/>
                  </a:tcPr>
                </a:tc>
                <a:tc>
                  <a:txBody>
                    <a:bodyPr/>
                    <a:lstStyle/>
                    <a:p>
                      <a:r>
                        <a:rPr lang="en-US" dirty="0"/>
                        <a:t>Proposed the use of Gray Level Co-occurrence Matrix (GLCM) for detecting rail defects, including cracks and breakages.</a:t>
                      </a:r>
                    </a:p>
                  </a:txBody>
                  <a:tcPr anchor="ctr">
                    <a:lnL>
                      <a:noFill/>
                    </a:lnL>
                    <a:lnR>
                      <a:noFill/>
                    </a:lnR>
                    <a:lnT>
                      <a:noFill/>
                    </a:lnT>
                    <a:lnB>
                      <a:noFill/>
                    </a:lnB>
                    <a:noFill/>
                  </a:tcPr>
                </a:tc>
                <a:extLst>
                  <a:ext uri="{0D108BD9-81ED-4DB2-BD59-A6C34878D82A}">
                    <a16:rowId xmlns:a16="http://schemas.microsoft.com/office/drawing/2014/main" val="873077989"/>
                  </a:ext>
                </a:extLst>
              </a:tr>
            </a:tbl>
          </a:graphicData>
        </a:graphic>
      </p:graphicFrame>
    </p:spTree>
    <p:extLst>
      <p:ext uri="{BB962C8B-B14F-4D97-AF65-F5344CB8AC3E}">
        <p14:creationId xmlns:p14="http://schemas.microsoft.com/office/powerpoint/2010/main" val="2661072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9554" y="1213264"/>
            <a:ext cx="10515600" cy="4786483"/>
          </a:xfrm>
        </p:spPr>
        <p:txBody>
          <a:bodyPr>
            <a:normAutofit/>
          </a:bodyPr>
          <a:lstStyle/>
          <a:p>
            <a:endParaRPr lang="en-IN" sz="2000" dirty="0">
              <a:latin typeface="+mn-lt"/>
            </a:endParaRPr>
          </a:p>
        </p:txBody>
      </p:sp>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p:cNvSpPr>
            <a:spLocks noGrp="1"/>
          </p:cNvSpPr>
          <p:nvPr>
            <p:ph type="sldNum" sz="quarter" idx="12"/>
          </p:nvPr>
        </p:nvSpPr>
        <p:spPr/>
        <p:txBody>
          <a:bodyPr/>
          <a:lstStyle/>
          <a:p>
            <a:r>
              <a:rPr lang="en-IN" dirty="0"/>
              <a:t>2</a:t>
            </a:r>
          </a:p>
        </p:txBody>
      </p:sp>
      <p:graphicFrame>
        <p:nvGraphicFramePr>
          <p:cNvPr id="5" name="Table 4">
            <a:extLst>
              <a:ext uri="{FF2B5EF4-FFF2-40B4-BE49-F238E27FC236}">
                <a16:creationId xmlns:a16="http://schemas.microsoft.com/office/drawing/2014/main" id="{B579D113-02CC-C0CD-0C85-F79D4A3C21EB}"/>
              </a:ext>
            </a:extLst>
          </p:cNvPr>
          <p:cNvGraphicFramePr>
            <a:graphicFrameLocks noGrp="1"/>
          </p:cNvGraphicFramePr>
          <p:nvPr>
            <p:extLst>
              <p:ext uri="{D42A27DB-BD31-4B8C-83A1-F6EECF244321}">
                <p14:modId xmlns:p14="http://schemas.microsoft.com/office/powerpoint/2010/main" val="1219656427"/>
              </p:ext>
            </p:extLst>
          </p:nvPr>
        </p:nvGraphicFramePr>
        <p:xfrm>
          <a:off x="1119554" y="2775225"/>
          <a:ext cx="10515600" cy="708660"/>
        </p:xfrm>
        <a:graphic>
          <a:graphicData uri="http://schemas.openxmlformats.org/drawingml/2006/table">
            <a:tbl>
              <a:tblPr/>
              <a:tblGrid>
                <a:gridCol w="3505200">
                  <a:extLst>
                    <a:ext uri="{9D8B030D-6E8A-4147-A177-3AD203B41FA5}">
                      <a16:colId xmlns:a16="http://schemas.microsoft.com/office/drawing/2014/main" val="2152337240"/>
                    </a:ext>
                  </a:extLst>
                </a:gridCol>
                <a:gridCol w="3505200">
                  <a:extLst>
                    <a:ext uri="{9D8B030D-6E8A-4147-A177-3AD203B41FA5}">
                      <a16:colId xmlns:a16="http://schemas.microsoft.com/office/drawing/2014/main" val="2189380906"/>
                    </a:ext>
                  </a:extLst>
                </a:gridCol>
                <a:gridCol w="3505200">
                  <a:extLst>
                    <a:ext uri="{9D8B030D-6E8A-4147-A177-3AD203B41FA5}">
                      <a16:colId xmlns:a16="http://schemas.microsoft.com/office/drawing/2014/main" val="955583559"/>
                    </a:ext>
                  </a:extLst>
                </a:gridCol>
              </a:tblGrid>
              <a:tr h="0">
                <a:tc>
                  <a:txBody>
                    <a:bodyPr/>
                    <a:lstStyle/>
                    <a:p>
                      <a:r>
                        <a:rPr lang="en-US" b="1" dirty="0"/>
                        <a:t>"Local and Global Information in Obstacle Detection on Railway Tracks"</a:t>
                      </a:r>
                      <a:r>
                        <a:rPr lang="en-US" dirty="0"/>
                        <a:t> (</a:t>
                      </a:r>
                      <a:r>
                        <a:rPr lang="en-US" dirty="0" err="1"/>
                        <a:t>arXiv</a:t>
                      </a:r>
                      <a:r>
                        <a:rPr lang="en-US" dirty="0"/>
                        <a:t>, July 2023)</a:t>
                      </a:r>
                    </a:p>
                  </a:txBody>
                  <a:tcPr anchor="ctr">
                    <a:lnL>
                      <a:noFill/>
                    </a:lnL>
                    <a:lnR>
                      <a:noFill/>
                    </a:lnR>
                    <a:lnT>
                      <a:noFill/>
                    </a:lnT>
                    <a:lnB>
                      <a:noFill/>
                    </a:lnB>
                    <a:noFill/>
                  </a:tcPr>
                </a:tc>
                <a:tc>
                  <a:txBody>
                    <a:bodyPr/>
                    <a:lstStyle/>
                    <a:p>
                      <a:r>
                        <a:rPr lang="en-US" dirty="0"/>
                        <a:t>Inconsistent segmentation accuracy in normal images for obstacle detection.</a:t>
                      </a:r>
                    </a:p>
                  </a:txBody>
                  <a:tcPr anchor="ctr">
                    <a:lnL>
                      <a:noFill/>
                    </a:lnL>
                    <a:lnR>
                      <a:noFill/>
                    </a:lnR>
                    <a:lnT>
                      <a:noFill/>
                    </a:lnT>
                    <a:lnB>
                      <a:noFill/>
                    </a:lnB>
                    <a:noFill/>
                  </a:tcPr>
                </a:tc>
                <a:tc>
                  <a:txBody>
                    <a:bodyPr/>
                    <a:lstStyle/>
                    <a:p>
                      <a:r>
                        <a:rPr lang="en-US" dirty="0"/>
                        <a:t>Introduced a shallow neural network for railway segmentation, improving obstacle detection accuracy.</a:t>
                      </a:r>
                    </a:p>
                  </a:txBody>
                  <a:tcPr anchor="ctr">
                    <a:lnL>
                      <a:noFill/>
                    </a:lnL>
                    <a:lnR>
                      <a:noFill/>
                    </a:lnR>
                    <a:lnT>
                      <a:noFill/>
                    </a:lnT>
                    <a:lnB>
                      <a:noFill/>
                    </a:lnB>
                    <a:noFill/>
                  </a:tcPr>
                </a:tc>
                <a:extLst>
                  <a:ext uri="{0D108BD9-81ED-4DB2-BD59-A6C34878D82A}">
                    <a16:rowId xmlns:a16="http://schemas.microsoft.com/office/drawing/2014/main" val="3601810282"/>
                  </a:ext>
                </a:extLst>
              </a:tr>
            </a:tbl>
          </a:graphicData>
        </a:graphic>
      </p:graphicFrame>
      <p:graphicFrame>
        <p:nvGraphicFramePr>
          <p:cNvPr id="6" name="Table 5">
            <a:extLst>
              <a:ext uri="{FF2B5EF4-FFF2-40B4-BE49-F238E27FC236}">
                <a16:creationId xmlns:a16="http://schemas.microsoft.com/office/drawing/2014/main" id="{7F68E437-4A88-3DB5-37DA-BBED313A568C}"/>
              </a:ext>
            </a:extLst>
          </p:cNvPr>
          <p:cNvGraphicFramePr>
            <a:graphicFrameLocks noGrp="1"/>
          </p:cNvGraphicFramePr>
          <p:nvPr>
            <p:extLst>
              <p:ext uri="{D42A27DB-BD31-4B8C-83A1-F6EECF244321}">
                <p14:modId xmlns:p14="http://schemas.microsoft.com/office/powerpoint/2010/main" val="2116616630"/>
              </p:ext>
            </p:extLst>
          </p:nvPr>
        </p:nvGraphicFramePr>
        <p:xfrm>
          <a:off x="1119554" y="3840490"/>
          <a:ext cx="10515600" cy="708660"/>
        </p:xfrm>
        <a:graphic>
          <a:graphicData uri="http://schemas.openxmlformats.org/drawingml/2006/table">
            <a:tbl>
              <a:tblPr/>
              <a:tblGrid>
                <a:gridCol w="3505200">
                  <a:extLst>
                    <a:ext uri="{9D8B030D-6E8A-4147-A177-3AD203B41FA5}">
                      <a16:colId xmlns:a16="http://schemas.microsoft.com/office/drawing/2014/main" val="2947276639"/>
                    </a:ext>
                  </a:extLst>
                </a:gridCol>
                <a:gridCol w="3505200">
                  <a:extLst>
                    <a:ext uri="{9D8B030D-6E8A-4147-A177-3AD203B41FA5}">
                      <a16:colId xmlns:a16="http://schemas.microsoft.com/office/drawing/2014/main" val="1885578137"/>
                    </a:ext>
                  </a:extLst>
                </a:gridCol>
                <a:gridCol w="3505200">
                  <a:extLst>
                    <a:ext uri="{9D8B030D-6E8A-4147-A177-3AD203B41FA5}">
                      <a16:colId xmlns:a16="http://schemas.microsoft.com/office/drawing/2014/main" val="1651563584"/>
                    </a:ext>
                  </a:extLst>
                </a:gridCol>
              </a:tblGrid>
              <a:tr h="0">
                <a:tc>
                  <a:txBody>
                    <a:bodyPr/>
                    <a:lstStyle/>
                    <a:p>
                      <a:r>
                        <a:rPr lang="en-US" b="1"/>
                        <a:t>"Vision-Based Railway Track Monitoring Using Deep Learning"</a:t>
                      </a:r>
                      <a:r>
                        <a:rPr lang="en-US"/>
                        <a:t> (arXiv, November 2017)</a:t>
                      </a:r>
                    </a:p>
                  </a:txBody>
                  <a:tcPr anchor="ctr">
                    <a:lnL>
                      <a:noFill/>
                    </a:lnL>
                    <a:lnR>
                      <a:noFill/>
                    </a:lnR>
                    <a:lnT>
                      <a:noFill/>
                    </a:lnT>
                    <a:lnB>
                      <a:noFill/>
                    </a:lnB>
                    <a:noFill/>
                  </a:tcPr>
                </a:tc>
                <a:tc>
                  <a:txBody>
                    <a:bodyPr/>
                    <a:lstStyle/>
                    <a:p>
                      <a:r>
                        <a:rPr lang="en-US" dirty="0"/>
                        <a:t>Limited generalization in detecting varied defects and assets.</a:t>
                      </a:r>
                    </a:p>
                  </a:txBody>
                  <a:tcPr anchor="ctr">
                    <a:lnL>
                      <a:noFill/>
                    </a:lnL>
                    <a:lnR>
                      <a:noFill/>
                    </a:lnR>
                    <a:lnT>
                      <a:noFill/>
                    </a:lnT>
                    <a:lnB>
                      <a:noFill/>
                    </a:lnB>
                    <a:noFill/>
                  </a:tcPr>
                </a:tc>
                <a:tc>
                  <a:txBody>
                    <a:bodyPr/>
                    <a:lstStyle/>
                    <a:p>
                      <a:r>
                        <a:rPr lang="en-US" dirty="0"/>
                        <a:t>Utilized transfer learning for deep learning models to enhance defect and asset detection accuracy.</a:t>
                      </a:r>
                    </a:p>
                  </a:txBody>
                  <a:tcPr anchor="ctr">
                    <a:lnL>
                      <a:noFill/>
                    </a:lnL>
                    <a:lnR>
                      <a:noFill/>
                    </a:lnR>
                    <a:lnT>
                      <a:noFill/>
                    </a:lnT>
                    <a:lnB>
                      <a:noFill/>
                    </a:lnB>
                    <a:noFill/>
                  </a:tcPr>
                </a:tc>
                <a:extLst>
                  <a:ext uri="{0D108BD9-81ED-4DB2-BD59-A6C34878D82A}">
                    <a16:rowId xmlns:a16="http://schemas.microsoft.com/office/drawing/2014/main" val="824338733"/>
                  </a:ext>
                </a:extLst>
              </a:tr>
            </a:tbl>
          </a:graphicData>
        </a:graphic>
      </p:graphicFrame>
      <p:graphicFrame>
        <p:nvGraphicFramePr>
          <p:cNvPr id="7" name="Table 6">
            <a:extLst>
              <a:ext uri="{FF2B5EF4-FFF2-40B4-BE49-F238E27FC236}">
                <a16:creationId xmlns:a16="http://schemas.microsoft.com/office/drawing/2014/main" id="{858E175C-6D27-4FF3-14EB-52502DF7AAFA}"/>
              </a:ext>
            </a:extLst>
          </p:cNvPr>
          <p:cNvGraphicFramePr>
            <a:graphicFrameLocks noGrp="1"/>
          </p:cNvGraphicFramePr>
          <p:nvPr>
            <p:extLst>
              <p:ext uri="{D42A27DB-BD31-4B8C-83A1-F6EECF244321}">
                <p14:modId xmlns:p14="http://schemas.microsoft.com/office/powerpoint/2010/main" val="2841623812"/>
              </p:ext>
            </p:extLst>
          </p:nvPr>
        </p:nvGraphicFramePr>
        <p:xfrm>
          <a:off x="1119554" y="1707966"/>
          <a:ext cx="10515600" cy="708660"/>
        </p:xfrm>
        <a:graphic>
          <a:graphicData uri="http://schemas.openxmlformats.org/drawingml/2006/table">
            <a:tbl>
              <a:tblPr/>
              <a:tblGrid>
                <a:gridCol w="3505200">
                  <a:extLst>
                    <a:ext uri="{9D8B030D-6E8A-4147-A177-3AD203B41FA5}">
                      <a16:colId xmlns:a16="http://schemas.microsoft.com/office/drawing/2014/main" val="527372530"/>
                    </a:ext>
                  </a:extLst>
                </a:gridCol>
                <a:gridCol w="3505200">
                  <a:extLst>
                    <a:ext uri="{9D8B030D-6E8A-4147-A177-3AD203B41FA5}">
                      <a16:colId xmlns:a16="http://schemas.microsoft.com/office/drawing/2014/main" val="1085114812"/>
                    </a:ext>
                  </a:extLst>
                </a:gridCol>
                <a:gridCol w="3505200">
                  <a:extLst>
                    <a:ext uri="{9D8B030D-6E8A-4147-A177-3AD203B41FA5}">
                      <a16:colId xmlns:a16="http://schemas.microsoft.com/office/drawing/2014/main" val="396308140"/>
                    </a:ext>
                  </a:extLst>
                </a:gridCol>
              </a:tblGrid>
              <a:tr h="0">
                <a:tc>
                  <a:txBody>
                    <a:bodyPr/>
                    <a:lstStyle/>
                    <a:p>
                      <a:r>
                        <a:rPr lang="en-US" b="1" dirty="0"/>
                        <a:t>"Electrochemical Fatigue Crack Sensor"</a:t>
                      </a:r>
                      <a:r>
                        <a:rPr lang="en-US" dirty="0"/>
                        <a:t> (Wikipedia, 2022)</a:t>
                      </a:r>
                    </a:p>
                  </a:txBody>
                  <a:tcPr anchor="ctr">
                    <a:lnL>
                      <a:noFill/>
                    </a:lnL>
                    <a:lnR>
                      <a:noFill/>
                    </a:lnR>
                    <a:lnT>
                      <a:noFill/>
                    </a:lnT>
                    <a:lnB>
                      <a:noFill/>
                    </a:lnB>
                    <a:noFill/>
                  </a:tcPr>
                </a:tc>
                <a:tc>
                  <a:txBody>
                    <a:bodyPr/>
                    <a:lstStyle/>
                    <a:p>
                      <a:r>
                        <a:rPr lang="en-US" dirty="0"/>
                        <a:t>Limited to detecting specific crack types in metallic materials.</a:t>
                      </a:r>
                    </a:p>
                  </a:txBody>
                  <a:tcPr anchor="ctr">
                    <a:lnL>
                      <a:noFill/>
                    </a:lnL>
                    <a:lnR>
                      <a:noFill/>
                    </a:lnR>
                    <a:lnT>
                      <a:noFill/>
                    </a:lnT>
                    <a:lnB>
                      <a:noFill/>
                    </a:lnB>
                    <a:noFill/>
                  </a:tcPr>
                </a:tc>
                <a:tc>
                  <a:txBody>
                    <a:bodyPr/>
                    <a:lstStyle/>
                    <a:p>
                      <a:r>
                        <a:rPr lang="en-US" dirty="0"/>
                        <a:t>Provided an overview of electrochemical fatigue crack sensors for surface-breaking and subsurface defect detection.</a:t>
                      </a:r>
                    </a:p>
                  </a:txBody>
                  <a:tcPr anchor="ctr">
                    <a:lnL>
                      <a:noFill/>
                    </a:lnL>
                    <a:lnR>
                      <a:noFill/>
                    </a:lnR>
                    <a:lnT>
                      <a:noFill/>
                    </a:lnT>
                    <a:lnB>
                      <a:noFill/>
                    </a:lnB>
                    <a:noFill/>
                  </a:tcPr>
                </a:tc>
                <a:extLst>
                  <a:ext uri="{0D108BD9-81ED-4DB2-BD59-A6C34878D82A}">
                    <a16:rowId xmlns:a16="http://schemas.microsoft.com/office/drawing/2014/main" val="859841852"/>
                  </a:ext>
                </a:extLst>
              </a:tr>
            </a:tbl>
          </a:graphicData>
        </a:graphic>
      </p:graphicFrame>
      <p:graphicFrame>
        <p:nvGraphicFramePr>
          <p:cNvPr id="8" name="Table 7">
            <a:extLst>
              <a:ext uri="{FF2B5EF4-FFF2-40B4-BE49-F238E27FC236}">
                <a16:creationId xmlns:a16="http://schemas.microsoft.com/office/drawing/2014/main" id="{98AA6E13-3990-2B86-B670-53F1F6061A58}"/>
              </a:ext>
            </a:extLst>
          </p:cNvPr>
          <p:cNvGraphicFramePr>
            <a:graphicFrameLocks noGrp="1"/>
          </p:cNvGraphicFramePr>
          <p:nvPr>
            <p:extLst>
              <p:ext uri="{D42A27DB-BD31-4B8C-83A1-F6EECF244321}">
                <p14:modId xmlns:p14="http://schemas.microsoft.com/office/powerpoint/2010/main" val="3308697731"/>
              </p:ext>
            </p:extLst>
          </p:nvPr>
        </p:nvGraphicFramePr>
        <p:xfrm>
          <a:off x="1119554" y="4905755"/>
          <a:ext cx="10515600" cy="914400"/>
        </p:xfrm>
        <a:graphic>
          <a:graphicData uri="http://schemas.openxmlformats.org/drawingml/2006/table">
            <a:tbl>
              <a:tblPr/>
              <a:tblGrid>
                <a:gridCol w="3505200">
                  <a:extLst>
                    <a:ext uri="{9D8B030D-6E8A-4147-A177-3AD203B41FA5}">
                      <a16:colId xmlns:a16="http://schemas.microsoft.com/office/drawing/2014/main" val="216738422"/>
                    </a:ext>
                  </a:extLst>
                </a:gridCol>
                <a:gridCol w="3505200">
                  <a:extLst>
                    <a:ext uri="{9D8B030D-6E8A-4147-A177-3AD203B41FA5}">
                      <a16:colId xmlns:a16="http://schemas.microsoft.com/office/drawing/2014/main" val="3196021110"/>
                    </a:ext>
                  </a:extLst>
                </a:gridCol>
                <a:gridCol w="3505200">
                  <a:extLst>
                    <a:ext uri="{9D8B030D-6E8A-4147-A177-3AD203B41FA5}">
                      <a16:colId xmlns:a16="http://schemas.microsoft.com/office/drawing/2014/main" val="2660098647"/>
                    </a:ext>
                  </a:extLst>
                </a:gridCol>
              </a:tblGrid>
              <a:tr h="0">
                <a:tc>
                  <a:txBody>
                    <a:bodyPr/>
                    <a:lstStyle/>
                    <a:p>
                      <a:r>
                        <a:rPr lang="en-US" b="1"/>
                        <a:t>"Defect Detector"</a:t>
                      </a:r>
                      <a:r>
                        <a:rPr lang="en-US"/>
                        <a:t> (Wikipedia, 2023)</a:t>
                      </a:r>
                    </a:p>
                  </a:txBody>
                  <a:tcPr anchor="ctr">
                    <a:lnL>
                      <a:noFill/>
                    </a:lnL>
                    <a:lnR>
                      <a:noFill/>
                    </a:lnR>
                    <a:lnT>
                      <a:noFill/>
                    </a:lnT>
                    <a:lnB>
                      <a:noFill/>
                    </a:lnB>
                    <a:noFill/>
                  </a:tcPr>
                </a:tc>
                <a:tc>
                  <a:txBody>
                    <a:bodyPr/>
                    <a:lstStyle/>
                    <a:p>
                      <a:r>
                        <a:rPr lang="en-US" dirty="0"/>
                        <a:t>Limited coverage of various sensor types for comprehensive defect detection.</a:t>
                      </a:r>
                    </a:p>
                  </a:txBody>
                  <a:tcPr anchor="ctr">
                    <a:lnL>
                      <a:noFill/>
                    </a:lnL>
                    <a:lnR>
                      <a:noFill/>
                    </a:lnR>
                    <a:lnT>
                      <a:noFill/>
                    </a:lnT>
                    <a:lnB>
                      <a:noFill/>
                    </a:lnB>
                    <a:noFill/>
                  </a:tcPr>
                </a:tc>
                <a:tc>
                  <a:txBody>
                    <a:bodyPr/>
                    <a:lstStyle/>
                    <a:p>
                      <a:r>
                        <a:rPr lang="en-US" dirty="0"/>
                        <a:t>Detailed the usage of hotbox detectors, acoustic bearing detectors, and wheel impact detectors for comprehensive railway defect monitoring.</a:t>
                      </a:r>
                    </a:p>
                  </a:txBody>
                  <a:tcPr anchor="ctr">
                    <a:lnL>
                      <a:noFill/>
                    </a:lnL>
                    <a:lnR>
                      <a:noFill/>
                    </a:lnR>
                    <a:lnT>
                      <a:noFill/>
                    </a:lnT>
                    <a:lnB>
                      <a:noFill/>
                    </a:lnB>
                    <a:noFill/>
                  </a:tcPr>
                </a:tc>
                <a:extLst>
                  <a:ext uri="{0D108BD9-81ED-4DB2-BD59-A6C34878D82A}">
                    <a16:rowId xmlns:a16="http://schemas.microsoft.com/office/drawing/2014/main" val="3221679375"/>
                  </a:ext>
                </a:extLst>
              </a:tr>
            </a:tbl>
          </a:graphicData>
        </a:graphic>
      </p:graphicFrame>
    </p:spTree>
    <p:extLst>
      <p:ext uri="{BB962C8B-B14F-4D97-AF65-F5344CB8AC3E}">
        <p14:creationId xmlns:p14="http://schemas.microsoft.com/office/powerpoint/2010/main" val="319284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3264"/>
            <a:ext cx="10515600" cy="4866694"/>
          </a:xfrm>
        </p:spPr>
        <p:txBody>
          <a:bodyPr>
            <a:noAutofit/>
          </a:bodyPr>
          <a:lstStyle/>
          <a:p>
            <a:pPr marL="0" indent="0"/>
            <a:r>
              <a:rPr lang="en-IN" sz="2500" b="1" dirty="0">
                <a:latin typeface="Arial" panose="020B0604020202020204" pitchFamily="34" charset="0"/>
                <a:cs typeface="Arial" panose="020B0604020202020204" pitchFamily="34" charset="0"/>
              </a:rPr>
              <a:t>LITERATURE SUMMARY</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increasing demand for safer and more efficient railway systems has spurred the development of advanced technologies. The integration of ultrasonic and Lidar sensors, coupled with GPS and IoT, enables precise detection of track defects and obstacles .</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RailTel's innovative approach, combining Lidar technology with data analytics and AI, represents a significant step forward in predictive maintenance and proactive safety management. By analyzing real-time data, potential issues can be identified and addressed before they escalate, reducing the risk of accidents and disruptions .The convergence of AI, IoT, and machine learning holds immense potential for further advancements in railway safety. </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These technologies can optimize operations, improve decision-making, and ultimately enhance the overall reliability of railway infrastructure.</a:t>
            </a:r>
            <a:br>
              <a:rPr lang="en-US" sz="2000" dirty="0">
                <a:latin typeface="Arial" panose="020B0604020202020204" pitchFamily="34" charset="0"/>
                <a:cs typeface="Arial" panose="020B0604020202020204" pitchFamily="34" charset="0"/>
              </a:rPr>
            </a:b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p:cNvSpPr>
            <a:spLocks noGrp="1"/>
          </p:cNvSpPr>
          <p:nvPr>
            <p:ph type="sldNum" sz="quarter" idx="12"/>
          </p:nvPr>
        </p:nvSpPr>
        <p:spPr/>
        <p:txBody>
          <a:bodyPr/>
          <a:lstStyle/>
          <a:p>
            <a:r>
              <a:rPr lang="en-IN" dirty="0"/>
              <a:t>2</a:t>
            </a:r>
          </a:p>
        </p:txBody>
      </p:sp>
    </p:spTree>
    <p:extLst>
      <p:ext uri="{BB962C8B-B14F-4D97-AF65-F5344CB8AC3E}">
        <p14:creationId xmlns:p14="http://schemas.microsoft.com/office/powerpoint/2010/main" val="272881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3264"/>
            <a:ext cx="10515600" cy="4866694"/>
          </a:xfrm>
        </p:spPr>
        <p:txBody>
          <a:bodyPr>
            <a:noAutofit/>
          </a:bodyPr>
          <a:lstStyle/>
          <a:p>
            <a:pPr algn="just"/>
            <a:r>
              <a:rPr lang="en-US" sz="2500" b="1" dirty="0">
                <a:latin typeface="Arial" panose="020B0604020202020204" pitchFamily="34" charset="0"/>
                <a:cs typeface="Arial" panose="020B0604020202020204" pitchFamily="34" charset="0"/>
              </a:rPr>
              <a:t>PROBLEM STATEMENT	</a:t>
            </a:r>
            <a:br>
              <a:rPr lang="en-US" sz="4000" b="1" dirty="0">
                <a:latin typeface="Arial" panose="020B0604020202020204" pitchFamily="34" charset="0"/>
                <a:cs typeface="Arial" panose="020B0604020202020204" pitchFamily="34" charset="0"/>
              </a:rPr>
            </a:br>
            <a:br>
              <a:rPr lang="en-US" sz="2000" b="1" dirty="0">
                <a:latin typeface="Arial" panose="020B0604020202020204" pitchFamily="34" charset="0"/>
                <a:cs typeface="Arial" panose="020B0604020202020204" pitchFamily="34" charset="0"/>
              </a:rPr>
            </a:br>
            <a:br>
              <a:rPr lang="en-US" sz="1400" b="1"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Railway safety is often compromised by undetected obstacles on tracks, cracks in infrastructure, and delays in communication. Traditional methods of manual inspections are inefficient and prone to errors, resulting in increased risks and operational costs. This project aims to develop an intelligent system using 3D imaging, ultrasonic sensors, and IoT technologies to detect obstacles and cracks in real time. The system will send alerts to railway personnel, update passenger portals, and enable timely preventive actions, ensuring safer and more efficient railway operations.</a:t>
            </a:r>
            <a:br>
              <a:rPr lang="en-US" sz="1400" dirty="0">
                <a:latin typeface="Arial" panose="020B0604020202020204" pitchFamily="34" charset="0"/>
                <a:cs typeface="Arial" panose="020B0604020202020204" pitchFamily="34" charset="0"/>
              </a:rPr>
            </a:br>
            <a:endParaRPr lang="en-IN" sz="1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E890A751-91A0-4E1C-89F5-BFF21E9B4F7C}" type="datetime1">
              <a:rPr lang="en-IN" smtClean="0"/>
              <a:t>05-12-2024</a:t>
            </a:fld>
            <a:endParaRPr lang="en-IN" dirty="0"/>
          </a:p>
        </p:txBody>
      </p:sp>
      <p:sp>
        <p:nvSpPr>
          <p:cNvPr id="4" name="Slide Number Placeholder 3"/>
          <p:cNvSpPr>
            <a:spLocks noGrp="1"/>
          </p:cNvSpPr>
          <p:nvPr>
            <p:ph type="sldNum" sz="quarter" idx="12"/>
          </p:nvPr>
        </p:nvSpPr>
        <p:spPr/>
        <p:txBody>
          <a:bodyPr/>
          <a:lstStyle/>
          <a:p>
            <a:r>
              <a:rPr lang="en-IN" dirty="0"/>
              <a:t>2</a:t>
            </a:r>
          </a:p>
        </p:txBody>
      </p:sp>
    </p:spTree>
    <p:extLst>
      <p:ext uri="{BB962C8B-B14F-4D97-AF65-F5344CB8AC3E}">
        <p14:creationId xmlns:p14="http://schemas.microsoft.com/office/powerpoint/2010/main" val="73633479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75639</TotalTime>
  <Words>1394</Words>
  <Application>Microsoft Office PowerPoint</Application>
  <PresentationFormat>Widescreen</PresentationFormat>
  <Paragraphs>96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StarSymbol</vt:lpstr>
      <vt:lpstr>Times New Roman</vt:lpstr>
      <vt:lpstr>Custom Design</vt:lpstr>
      <vt:lpstr>PowerPoint Presentation</vt:lpstr>
      <vt:lpstr>INTRODUCTION:  Railway Safety: A Technological Revolution Railway safety is critical due to risks from obstacles on tracks, structural cracks, and delays in maintenance. Traditional methods, like manual inspections, are inefficient and prone to errors, leading to unsafe conditions and disruptions. This project proposes an Intelligent Railway Safety System that uses advanced technologies such as ultrasonic sensors, Lidar, IoT, and 3D image processing to address these challenges. The system will detect obstacles and cracks in real-time, analyze their dimensions, and decide whether a train can proceed or stop. IoT modules will transmit this data to a centralized control system, enabling automated alerts to train drivers, workshops, and railway authorities. Passengers will be notified via railway portals about delays or disruptions. By integrating real-time monitoring, data-driven decision-making, and predictive maintenance, this system aims to enhance safety, minimize accidents, reduce downtime, and improve operational efficiency.    </vt:lpstr>
      <vt:lpstr>Ultrasonic Sensors: Detect cracks and structural anomalies on tracks using sound wave reflections. Lidar (Light Detection and Ranging): Creates 3D maps and measures obstacle dimensions for precise analysis. Cameras: Capture real-time visual data for obstacle detection and crack analysis. Internet of Things (IoT): Enables real-time data collection and communication between sensors, trains, and control systems. Artificial Intelligence (AI): Analyzes sensor data for pattern recognition and decision-making. Machine Learning (ML): Classifies obstacles and predicts track failures for proactive maintenance. GPS (Global Positioning System): Provides accurate location data for detected cracks and obstacles. GSM/Wi-Fi/5G Communication: Transmits alerts and updates to railway personnel, drivers, and passengers. 3D Image Processing: Analyzes dimensions of obstacles to decide if trains can proceed or need to stop. Centralized Control Systems: Process and manage sensor data to automate decisions and send alerts. </vt:lpstr>
      <vt:lpstr>PowerPoint Presentation</vt:lpstr>
      <vt:lpstr>    </vt:lpstr>
      <vt:lpstr>PowerPoint Presentation</vt:lpstr>
      <vt:lpstr>PowerPoint Presentation</vt:lpstr>
      <vt:lpstr>LITERATURE SUMMARY  The increasing demand for safer and more efficient railway systems has spurred the development of advanced technologies. The integration of ultrasonic and Lidar sensors, coupled with GPS and IoT, enables precise detection of track defects and obstacles .   RailTel's innovative approach, combining Lidar technology with data analytics and AI, represents a significant step forward in predictive maintenance and proactive safety management. By analyzing real-time data, potential issues can be identified and addressed before they escalate, reducing the risk of accidents and disruptions .The convergence of AI, IoT, and machine learning holds immense potential for further advancements in railway safety.   These technologies can optimize operations, improve decision-making, and ultimately enhance the overall reliability of railway infrastructure.  </vt:lpstr>
      <vt:lpstr>PROBLEM STATEMENT    Railway safety is often compromised by undetected obstacles on tracks, cracks in infrastructure, and delays in communication. Traditional methods of manual inspections are inefficient and prone to errors, resulting in increased risks and operational costs. This project aims to develop an intelligent system using 3D imaging, ultrasonic sensors, and IoT technologies to detect obstacles and cracks in real time. The system will send alerts to railway personnel, update passenger portals, and enable timely preventive actions, ensuring safer and more efficient railway operations.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Vamsheedhar Reddy pillareddy</dc:creator>
  <cp:lastModifiedBy>DESIREDDY MAHISWAR REDDY</cp:lastModifiedBy>
  <cp:revision>169</cp:revision>
  <dcterms:created xsi:type="dcterms:W3CDTF">2021-12-29T12:40:34Z</dcterms:created>
  <dcterms:modified xsi:type="dcterms:W3CDTF">2024-12-05T11:40:08Z</dcterms:modified>
</cp:coreProperties>
</file>